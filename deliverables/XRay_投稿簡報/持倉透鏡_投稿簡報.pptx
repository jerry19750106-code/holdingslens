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1" Type="http://schemas.openxmlformats.org/officeDocument/2006/relationships/presProps" Target="presProps.xml" /><Relationship Id="rId10" Type="http://schemas.openxmlformats.org/officeDocument/2006/relationships/notesMaster" Target="notesMasters/notesMaster1.xml" /><Relationship Id="rId12" Type="http://schemas.openxmlformats.org/officeDocument/2006/relationships/tableStyles" Target="tableStyles.xml" /><Relationship Id="rId3" Type="http://schemas.openxmlformats.org/officeDocument/2006/relationships/slide" Target="slides/slide3.xml" /><Relationship Id="rId13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: '#0A1628', position: 'relative', overflow: 'hidden' }}&gt;&#10;  &lt;Box style={{ position: 'absolute', top: -140, right: -100, width: 560, height: 560, background: 'radial-gradient(circle, rgba(0,153,255,0.20) 0%, transparent 70%)' }} /&gt;&#10;  &lt;Box style={{ position: 'absolute', right: 120, top: 90, width: 340, height: 340 }}&gt;&#10;    &lt;svg width={340} height={340} viewBox='0 0 370 370'&gt;&#10;      &lt;circle cx='185' cy='185' r='175' fill='rgba(0,153,255,0.05)' /&gt;&#10;      &lt;circle cx='185' cy='185' r='175' fill='none' stroke='#0099FF' strokeWidth='1' opacity='0.22' /&gt;&#10;      &lt;circle cx='185' cy='185' r='135' fill='none' stroke='#00E2C6' strokeWidth='1' opacity='0.28' /&gt;&#10;      &lt;circle cx='185' cy='185' r='95' fill='none' stroke='#0099FF' strokeWidth='2' opacity='0.5' /&gt;&#10;      &lt;circle cx='185' cy='185' r='54' fill='rgba(0,153,255,0.14)' /&gt;&#10;      &lt;circle cx='185' cy='185' r='7' fill='#00E2C6' /&gt;&#10;      &lt;line x1='185' y1='10' x2='185' y2='360' stroke='#0099FF' strokeWidth='1' opacity='0.12' /&gt;&#10;      &lt;line x1='10' y1='185' x2='360' y2='185' stroke='#0099FF' strokeWidth='1' opacity='0.12' /&gt;&#10;    &lt;/svg&gt;&#10;  &lt;/Box&gt;&#10;  &lt;Box style={{ position: 'absolute', right: 64, bottom: 96, width: 236, background: 'rgba(10,22,40,0.72)', border: '1px solid rgba(0,153,255,0.35)', borderRadius: 16, paddingTop: 18, paddingBottom: 18, paddingLeft: 18, paddingRight: 18, flexDirection: 'row', alignItems: 'center', gap: 16 }}&gt;&#10;    &lt;svg width={76} height={76} viewBox='0 0 76 76'&gt;&#10;      &lt;circle cx='38' cy='38' r='32' fill='none' stroke='rgba(0,153,255,0.18)' strokeWidth='7' /&gt;&#10;      &lt;circle cx='38' cy='38' r='32' fill='none' stroke='#00E2C6' strokeWidth='7' strokeLinecap='round' strokeDasharray='110.6 90.5' transform='rotate(-90 38 38)' /&gt;&#10;      &lt;text x='38' y='44' fill='#E6F0FA' fontSize='19' fontWeight='bold' textAnchor='middle'&gt;62&lt;/text&gt;&#10;    &lt;/svg&gt;&#10;    &lt;Box&gt;&#10;      &lt;Text style={{ fontSize: 15, color: '#E6F0FA', fontWeight: 'bold' }}&gt;結構健康評分&lt;/Text&gt;&#10;      &lt;Text style={{ fontSize: 13, color: '#7FC4FF', marginTop: 4 }}&gt;基本穩健·有偏科&lt;/Text&gt;&#10;      &lt;Text style={{ fontSize: 12, color: '#E6F0FA', opacity: 0.5, marginTop: 4 }}&gt;示例：4 檔持倉實測&lt;/Text&gt;&#10;    &lt;/Box&gt;&#10;  &lt;/Box&gt;&#10;  &lt;Box style={{ position: 'absolute', left: 90, top: 150, width: 700 }}&gt;&#10;    &lt;Text style={{ fontSize: 18, color: '#00E2C6', letterSpacing: 3 }}&gt;1024 造物挑戰 · 投稿作品&lt;/Text&gt;&#10;    &lt;Text style={{ fontSize: 70, fontWeight: 'bold', color: '#E6F0FA', marginTop: 16, lineHeight: 1.12 }}&gt;持倉透鏡&lt;br /&gt;HoldingsLens&lt;/Text&gt;&#10;    &lt;Text style={{ fontSize: 23, color: '#E6F0FA', opacity: 0.72, marginTop: 26, lineHeight: 1.6 }}&gt;不只看賺多少，&lt;span style={{ color: '#0099FF', fontWeight: 'bold' }}&gt;更看風險從哪來&lt;/span&gt;。&lt;br /&gt;一套把組合風險來源拆開給你看的工具。&lt;/Text&gt;&#10;  &lt;/Box&gt;&#10;  &lt;Box style={{ position: 'absolute', left: 90, top: 470, width: 730, flexDirection: 'row', gap: 12 }}&gt;&#10;    &lt;Box style={{ background: 'rgba(0,153,255,0.14)', border: '1px solid rgba(0,153,255,0.45)', borderRadius: 999, paddingTop: 7, paddingBottom: 7, paddingLeft: 16, paddingRight: 16 }}&gt;&#10;      &lt;Text style={{ fontSize: 15, color: '#7FC4FF' }}&gt;風險貢獻歸因&lt;/Text&gt;&#10;    &lt;/Box&gt;&#10;    &lt;Box style={{ background: 'rgba(0,226,198,0.12)', border: '1px solid rgba(0,226,198,0.45)', borderRadius: 999, paddingTop: 7, paddingBottom: 7, paddingLeft: 16, paddingRight: 16 }}&gt;&#10;      &lt;Text style={{ fontSize: 15, color: '#6FE3D2' }}&gt;危機壓力測試&lt;/Text&gt;&#10;    &lt;/Box&gt;&#10;    &lt;Box style={{ background: 'rgba(255,214,102,0.12)', border: '1px solid rgba(255,214,102,0.4)', borderRadius: 999, paddingTop: 7, paddingBottom: 7, paddingLeft: 16, paddingRight: 16 }}&gt;&#10;      &lt;Text style={{ fontSize: 15, color: '#FFD666' }}&gt;持倉重疊偵測&lt;/Text&gt;&#10;    &lt;/Box&gt;&#10;    &lt;Box style={{ background: 'rgba(0,153,255,0.14)', border: '1px solid rgba(0,153,255,0.45)', borderRadius: 999, paddingTop: 7, paddingBottom: 7, paddingLeft: 16, paddingRight: 16 }}&gt;&#10;      &lt;Text style={{ fontSize: 15, color: '#7FC4FF' }}&gt;結構健康評分&lt;/Text&gt;&#10;    &lt;/Box&gt;&#10;  &lt;/Box&gt;&#10;  &lt;Box style={{ position: 'absolute', left: 90, top: 540, width: 730, flexDirection: 'row', gap: 44 }}&gt;&#10;    &lt;Box&gt;&#10;      &lt;Text style={{ fontSize: 27, fontWeight: 'bold', color: '#0099FF' }}&gt;17 類&lt;/Text&gt;&#10;      &lt;Text style={{ fontSize: 13, color: '#E6F0FA', opacity: 0.55, marginTop: 2 }}&gt;資產類別&lt;/Text&gt;&#10;    &lt;/Box&gt;&#10;    &lt;Box&gt;&#10;      &lt;Text style={{ fontSize: 27, fontWeight: 'bold', color: '#00E2C6' }}&gt;136 組&lt;/Text&gt;&#10;      &lt;Text style={{ fontSize: 13, color: '#E6F0FA', opacity: 0.55, marginTop: 2 }}&gt;相關係數&lt;/Text&gt;&#10;    &lt;/Box&gt;&#10;    &lt;Box&gt;&#10;      &lt;Text style={{ fontSize: 27, fontWeight: 'bold', color: '#FFD666' }}&gt;126 項&lt;/Text&gt;&#10;      &lt;Text style={{ fontSize: 13, color: '#E6F0FA', opacity: 0.55, marginTop: 2 }}&gt;不變量測試&lt;/Text&gt;&#10;    &lt;/Box&gt;&#10;    &lt;Box&gt;&#10;      &lt;Text style={{ fontSize: 27, fontWeight: 'bold', color: '#7FC4FF' }}&gt;3 端&lt;/Text&gt;&#10;      &lt;Text style={{ fontSize: 13, color: '#E6F0FA', opacity: 0.55, marginTop: 2 }}&gt;網頁 / 小程序 / 腳本&lt;/Text&gt;&#10;    &lt;/Box&gt;&#10;  &lt;/Box&gt;&#10;  &lt;Box style={{ position: 'absolute', left: 90, bottom: 60, width: 700, flexDirection: 'row', alignItems: 'center', gap: 14 }}&gt;&#10;    &lt;Box style={{ width: 40, height: 2, background: '#0099FF' }} /&gt;&#10;    &lt;Text style={{ fontSize: 17, color: '#E6F0FA', opacity: 0.6 }}&gt;H5 網頁 · 微信小程序 · 全本地計算，不上傳你的持倉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810500" y="-1333500"/>
            <a:ext cx="5334000" cy="5334000"/>
          </a:xfrm>
          <a:custGeom>
            <a:pathLst>
              <a:path w="560" h="560">
                <a:moveTo>
                  <a:pt x="460" y="560"/>
                </a:moveTo>
                <a:lnTo>
                  <a:pt x="0" y="560"/>
                </a:lnTo>
                <a:lnTo>
                  <a:pt x="0" y="140"/>
                </a:lnTo>
                <a:lnTo>
                  <a:pt x="460" y="140"/>
                </a:lnTo>
                <a:close/>
              </a:path>
            </a:pathLst>
          </a:custGeom>
          <a:gradFill>
            <a:gsLst>
              <a:gs pos="0">
                <a:srgbClr val="0099FF">
                  <a:alpha val="2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0" y="857250"/>
            <a:ext cx="3238500" cy="3238500"/>
          </a:xfrm>
          <a:prstGeom prst="rect">
            <a:avLst/>
          </a:prstGeom>
          <a:ln/>
        </p:spPr>
      </p:pic>
      <p:sp>
        <p:nvSpPr>
          <p:cNvPr id="5" name=""/>
          <p:cNvSpPr/>
          <p:nvPr/>
        </p:nvSpPr>
        <p:spPr>
          <a:xfrm rot="0" flipH="0" flipV="0">
            <a:off x="9334500" y="4876800"/>
            <a:ext cx="2247900" cy="1066800"/>
          </a:xfrm>
          <a:prstGeom prst="roundRect">
            <a:avLst>
              <a:gd name="adj" fmla="val 14286"/>
            </a:avLst>
          </a:prstGeom>
          <a:solidFill>
            <a:srgbClr val="0A1628">
              <a:alpha val="72000"/>
            </a:srgbClr>
          </a:solidFill>
          <a:ln w="12700">
            <a:solidFill>
              <a:srgbClr val="0099FF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505950" y="5048250"/>
            <a:ext cx="723900" cy="72390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382250" y="5143500"/>
            <a:ext cx="1019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6F0FA"/>
                </a:solidFill>
                <a:latin typeface="Microsoft YaHei"/>
                <a:ea typeface="Microsoft YaHei"/>
              </a:rPr>
              <a:t>結構健康評分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382250" y="53530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基本穩健·有偏科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382250" y="5543550"/>
            <a:ext cx="1019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示例：</a:t>
            </a:r>
            <a:r>
              <a:rPr lang="en-US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檔持倉實測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57250" y="142875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00E2C6"/>
                </a:solidFill>
                <a:latin typeface="Microsoft YaHei"/>
                <a:ea typeface="Microsoft YaHei"/>
              </a:rPr>
              <a:t xml:space="preserve">1024 </a:t>
            </a:r>
            <a:r>
              <a:rPr lang="zh-CN" sz="1350" spc="225">
                <a:solidFill>
                  <a:srgbClr val="00E2C6"/>
                </a:solidFill>
                <a:latin typeface="Microsoft YaHei"/>
                <a:ea typeface="Microsoft YaHei"/>
              </a:rPr>
              <a:t>造物挑戰</a:t>
            </a:r>
            <a:r>
              <a:rPr lang="en-US" sz="1350" spc="225">
                <a:solidFill>
                  <a:srgbClr val="00E2C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225">
                <a:solidFill>
                  <a:srgbClr val="00E2C6"/>
                </a:solidFill>
                <a:latin typeface="Microsoft YaHei"/>
                <a:ea typeface="Microsoft YaHei"/>
              </a:rPr>
              <a:t>投稿作品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57250" y="1790700"/>
            <a:ext cx="6667500" cy="18002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5250" b="1">
                <a:solidFill>
                  <a:srgbClr val="E6F0FA"/>
                </a:solidFill>
                <a:latin typeface="Microsoft YaHei"/>
                <a:ea typeface="Microsoft YaHei"/>
              </a:rPr>
              <a:t>持倉透鏡</a:t>
            </a:r>
            <a:endParaRPr/>
          </a:p>
          <a:p>
            <a:pPr>
              <a:lnSpc>
                <a:spcPct val="112000"/>
              </a:lnSpc>
            </a:pPr>
            <a:r>
              <a:rPr lang="en-US" sz="5250" b="1">
                <a:solidFill>
                  <a:srgbClr val="E6F0FA"/>
                </a:solidFill>
                <a:latin typeface="Microsoft YaHei"/>
                <a:ea typeface="Microsoft YaHei"/>
              </a:rPr>
              <a:t>HoldingsLens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57250" y="3838575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不只看賺多少，</a:t>
            </a:r>
            <a:r>
              <a:rPr lang="zh-CN" sz="1725" b="1">
                <a:solidFill>
                  <a:srgbClr val="0099FF">
                    <a:alpha val="72000"/>
                  </a:srgbClr>
                </a:solidFill>
                <a:latin typeface="Microsoft YaHei"/>
                <a:ea typeface="Microsoft YaHei"/>
              </a:rPr>
              <a:t>更看風險從哪來</a:t>
            </a:r>
            <a:r>
              <a:rPr lang="zh-CN" sz="1725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60000"/>
              </a:lnSpc>
            </a:pPr>
            <a:r>
              <a:rPr lang="zh-CN" sz="1725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一套把組合風險來源拆開給你看的工具。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857250" y="44767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0099FF">
              <a:alpha val="14000"/>
            </a:srgbClr>
          </a:solidFill>
          <a:ln w="12700">
            <a:solidFill>
              <a:srgbClr val="0099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09650" y="4543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FC4FF"/>
                </a:solidFill>
                <a:latin typeface="Microsoft YaHei"/>
                <a:ea typeface="Microsoft YaHei"/>
              </a:rPr>
              <a:t>風險貢獻歸因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2133600" y="44767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00E2C6">
              <a:alpha val="12000"/>
            </a:srgbClr>
          </a:solidFill>
          <a:ln w="12700">
            <a:solidFill>
              <a:srgbClr val="00E2C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2286000" y="4543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FE3D2"/>
                </a:solidFill>
                <a:latin typeface="Microsoft YaHei"/>
                <a:ea typeface="Microsoft YaHei"/>
              </a:rPr>
              <a:t>危機壓力測試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409950" y="44767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FFD666">
              <a:alpha val="12000"/>
            </a:srgbClr>
          </a:solidFill>
          <a:ln w="12700">
            <a:solidFill>
              <a:srgbClr val="FFD66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562350" y="4543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D666"/>
                </a:solidFill>
                <a:latin typeface="Microsoft YaHei"/>
                <a:ea typeface="Microsoft YaHei"/>
              </a:rPr>
              <a:t>持倉重疊偵測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686300" y="44767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0099FF">
              <a:alpha val="14000"/>
            </a:srgbClr>
          </a:solidFill>
          <a:ln w="12700">
            <a:solidFill>
              <a:srgbClr val="0099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838700" y="4543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FC4FF"/>
                </a:solidFill>
                <a:latin typeface="Microsoft YaHei"/>
                <a:ea typeface="Microsoft YaHei"/>
              </a:rPr>
              <a:t>結構健康評分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7250" y="5143500"/>
            <a:ext cx="6572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099FF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2025" b="1">
                <a:solidFill>
                  <a:srgbClr val="0099FF"/>
                </a:solidFill>
                <a:latin typeface="Microsoft YaHei"/>
                <a:ea typeface="Microsoft YaHei"/>
              </a:rPr>
              <a:t>類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933575" y="5143500"/>
            <a:ext cx="809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136 </a:t>
            </a:r>
            <a:r>
              <a:rPr lang="zh-CN" sz="2025" b="1">
                <a:solidFill>
                  <a:srgbClr val="00E2C6"/>
                </a:solidFill>
                <a:latin typeface="Microsoft YaHei"/>
                <a:ea typeface="Microsoft YaHei"/>
              </a:rPr>
              <a:t>組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162300" y="5143500"/>
            <a:ext cx="809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FFD666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2025" b="1">
                <a:solidFill>
                  <a:srgbClr val="FFD666"/>
                </a:solidFill>
                <a:latin typeface="Microsoft YaHei"/>
                <a:ea typeface="Microsoft YaHei"/>
              </a:rPr>
              <a:t>項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391025" y="5143500"/>
            <a:ext cx="1123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7FC4FF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2025" b="1">
                <a:solidFill>
                  <a:srgbClr val="7FC4FF"/>
                </a:solidFill>
                <a:latin typeface="Microsoft YaHei"/>
                <a:ea typeface="Microsoft YaHei"/>
              </a:rPr>
              <a:t>端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57250" y="5476875"/>
            <a:ext cx="65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資產類別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933575" y="5476875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相關係數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162300" y="5476875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不變量測試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391025" y="54768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網頁</a:t>
            </a:r>
            <a:r>
              <a:rPr lang="en-US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小程序</a:t>
            </a:r>
            <a:r>
              <a:rPr lang="en-US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腳本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857250" y="6181725"/>
            <a:ext cx="381000" cy="19050"/>
          </a:xfrm>
          <a:prstGeom prst="rect">
            <a:avLst/>
          </a:prstGeom>
          <a:solidFill>
            <a:srgbClr val="0099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371600" y="6086475"/>
            <a:ext cx="3781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 xml:space="preserve">H5 </a:t>
            </a:r>
            <a:r>
              <a:rPr lang="zh-CN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>網頁</a:t>
            </a:r>
            <a:r>
              <a:rPr lang="en-US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>微信小程序</a:t>
            </a:r>
            <a:r>
              <a:rPr lang="en-US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>全本地計算，不上傳你的持倉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" name="" descr="&lt;Slide style={{ width: '1280px', height: '720px', background: '#0A1628', padding: '20px 64px', position: 'relative', display: 'flex', flexDirection: 'column' }}&gt;&#10;  &lt;Box style={{ height: 76, justifyContent: 'center' }}&gt;&#10;    &lt;Text style={{ fontSize: 34, fontWeight: 'bold', color: '#E6F0FA' }}&gt;大家都在算收益，沒人算「風險從哪來」&lt;/Text&gt;&#10;  &lt;/Box&gt;&#10;  &lt;Box style={{ flexDirection: 'row', gap: 40, flex: 1, alignItems: 'stretch' }}&gt;&#10;    &lt;Box style={{ flex: 6, flexDirection: 'column' }}&gt;&#10;      &lt;Text style={{ fontSize: 21, color: '#E6F0FA', lineHeight: 1.7, opacity: 0.92 }}&gt;打開任何一個投資 App，首屏永遠是淨值、漲跌幅、收益曲線。&lt;/Text&gt;&#10;      &lt;Text style={{ fontSize: 21, color: '#E6F0FA', lineHeight: 1.7, opacity: 0.92, marginTop: 20 }}&gt;但你手上的基金、ETF、黃金、債券&lt;span style={{ color: '#0099FF', fontWeight: 'bold' }}&gt;合在一起&lt;/span&gt;，風險到底由誰主導？幾乎沒有工具回答。&lt;/Text&gt;&#10;      &lt;Text style={{ fontSize: 21, color: '#E6F0FA', lineHeight: 1.7, opacity: 0.92, marginTop: 20 }}&gt;結果是：名義買了 10 檔，實際把風險全押在同一類資產上，自己還不知道。&lt;/Text&gt;&#10;      &lt;Box style={{ marginTop: 'auto', background: 'rgba(0,153,255,0.08)', border: '1px solid rgba(0,153,255,0.3)', borderRadius: 14, paddingTop: 20, paddingBottom: 20, paddingLeft: 22, paddingRight: 22, flexDirection: 'row', alignItems: 'center', gap: 20 }}&gt;&#10;        &lt;Box style={{ width: 56, height: 56, borderRadius: 28, background: 'linear-gradient(135deg,#0099FF,#00E2C6)', alignItems: 'center', justifyContent: 'center' }}&gt;&#10;          &lt;Text style={{ fontSize: 22, fontWeight: 'bold', color: '#0A1628' }}&gt;!&lt;/Text&gt;&#10;        &lt;/Box&gt;&#10;        &lt;Box style={{ flex: 1 }}&gt;&#10;          &lt;Text style={{ fontSize: 20, fontWeight: 'bold', color: '#E6F0FA' }}&gt;持倉檔數 ≠ 分散程度&lt;/Text&gt;&#10;          &lt;Text style={{ fontSize: 16, color: '#E6F0FA', opacity: 0.72, marginTop: 5, lineHeight: 1.5 }}&gt;10 檔全押科技，等同 1 檔科技——檔數會騙人，風險貢獻不會。&lt;/Text&gt;&#10;        &lt;/Box&gt;&#10;      &lt;/Box&gt;&#10;    &lt;/Box&gt;&#10;    &lt;Box style={{ flex: 4, background: 'linear-gradient(135deg,#0099FF 0%,#00E2C6 100%)', borderRadius: 16, padding: 32, justifyContent: 'space-between' }}&gt;&#10;      &lt;Box&gt;&#10;        &lt;Text style={{ fontSize: 22, color: '#0A1628', fontWeight: 'bold' }}&gt;你天天看的是&lt;/Text&gt;&#10;        &lt;Text style={{ fontSize: 42, fontWeight: 'bold', color: '#0A1628', marginTop: 8 }}&gt;漲跌 · 淨值&lt;/Text&gt;&#10;      &lt;/Box&gt;&#10;      &lt;Box style={{ borderTop: '1px solid rgba(10,22,40,0.35)', borderBottom: '1px solid rgba(10,22,40,0.35)', paddingTop: 18, paddingBottom: 18, alignItems: 'center' }}&gt;&#10;        &lt;Box style={{ width: 46, height: 46, borderRadius: 23, background: 'rgba(10,22,40,0.88)', alignItems: 'center', justifyContent: 'center' }}&gt;&#10;          &lt;svg width={24} height={24} viewBox='0 0 28 28'&gt;&#10;            &lt;path d='M14 3 L14 19 M7 13 L14 21 L21 13' stroke='#00E2C6' strokeWidth='2.5' fill='none' strokeLinecap='round' strokeLinejoin='round' /&gt;&#10;          &lt;/svg&gt;&#10;        &lt;/Box&gt;&#10;        &lt;Text style={{ fontSize: 17, color: '#0A1628', opacity: 0.8, marginTop: 10, fontWeight: 'bold' }}&gt;持倉透鏡 補上這一塊&lt;/Text&gt;&#10;      &lt;/Box&gt;&#10;      &lt;Box&gt;&#10;        &lt;Text style={{ fontSize: 22, color: '#0A1628', fontWeight: 'bold' }}&gt;你很少看到的是&lt;/Text&gt;&#10;        &lt;Text style={{ fontSize: 42, fontWeight: 'bold', color: '#0A1628', marginTop: 8 }}&gt;風險從哪來&lt;/Text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2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大家都在算收益，沒人算「風險從哪來」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5734050"/>
            <a:ext cx="6353175" cy="933450"/>
          </a:xfrm>
          <a:prstGeom prst="roundRect">
            <a:avLst>
              <a:gd name="adj" fmla="val 14286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99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819150" y="5934075"/>
            <a:ext cx="533400" cy="533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47750" y="607695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A1628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543050" y="5924550"/>
            <a:ext cx="5210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持倉檔數</a:t>
            </a:r>
            <a:r>
              <a:rPr lang="en-US" sz="1500" b="1">
                <a:solidFill>
                  <a:srgbClr val="E6F0FA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分散程度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7343775" y="914400"/>
            <a:ext cx="4238625" cy="5753100"/>
          </a:xfrm>
          <a:prstGeom prst="roundRect">
            <a:avLst>
              <a:gd name="adj" fmla="val 3596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648575" y="1219200"/>
            <a:ext cx="3629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A1628"/>
                </a:solidFill>
                <a:latin typeface="Microsoft YaHei"/>
                <a:ea typeface="Microsoft YaHei"/>
              </a:rPr>
              <a:t>你天天看的是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648575" y="1552575"/>
            <a:ext cx="36290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漲跌</a:t>
            </a:r>
            <a:r>
              <a:rPr lang="en-US" sz="3150" b="1">
                <a:solidFill>
                  <a:srgbClr val="0A16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淨值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648575" y="3248025"/>
            <a:ext cx="3629025" cy="1114425"/>
          </a:xfrm>
          <a:custGeom>
            <a:pathLst>
              <a:path w="381" h="117">
                <a:moveTo>
                  <a:pt x="0" y="0"/>
                </a:moveTo>
                <a:lnTo>
                  <a:pt x="381" y="0"/>
                </a:lnTo>
                <a:lnTo>
                  <a:pt x="381" y="1"/>
                </a:lnTo>
                <a:lnTo>
                  <a:pt x="0" y="1"/>
                </a:lnTo>
                <a:close/>
              </a:path>
            </a:pathLst>
          </a:custGeom>
          <a:solidFill>
            <a:srgbClr val="0A1628">
              <a:alpha val="35000"/>
            </a:srgbClr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7648575" y="3248025"/>
            <a:ext cx="3629025" cy="1114425"/>
          </a:xfrm>
          <a:custGeom>
            <a:pathLst>
              <a:path w="381" h="117">
                <a:moveTo>
                  <a:pt x="0" y="116"/>
                </a:moveTo>
                <a:lnTo>
                  <a:pt x="381" y="116"/>
                </a:lnTo>
                <a:lnTo>
                  <a:pt x="381" y="117"/>
                </a:lnTo>
                <a:lnTo>
                  <a:pt x="0" y="117"/>
                </a:lnTo>
                <a:close/>
              </a:path>
            </a:pathLst>
          </a:custGeom>
          <a:solidFill>
            <a:srgbClr val="0A1628">
              <a:alpha val="35000"/>
            </a:srgbClr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9248775" y="34290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A1628">
              <a:alpha val="88000"/>
            </a:srgbClr>
          </a:solidFill>
          <a:ln/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53550" y="3533775"/>
            <a:ext cx="228600" cy="2286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648575" y="5543550"/>
            <a:ext cx="3629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A1628"/>
                </a:solidFill>
                <a:latin typeface="Microsoft YaHei"/>
                <a:ea typeface="Microsoft YaHei"/>
              </a:rPr>
              <a:t>你很少看到的是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48575" y="5876925"/>
            <a:ext cx="36290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風險從哪來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6353175" cy="409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打開任何一個投資</a:t>
            </a:r>
            <a:r>
              <a:rPr lang="en-US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 xml:space="preserve"> App</a:t>
            </a: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，首屏永遠是淨值、漲跌幅、收益曲線。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1514475"/>
            <a:ext cx="6353175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但你手上的基金、</a:t>
            </a:r>
            <a:r>
              <a:rPr lang="en-US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ETF</a:t>
            </a: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、黃金、債券</a:t>
            </a:r>
            <a:r>
              <a:rPr lang="zh-CN" sz="1575" b="1">
                <a:solidFill>
                  <a:srgbClr val="0099FF">
                    <a:alpha val="92000"/>
                  </a:srgbClr>
                </a:solidFill>
                <a:latin typeface="Microsoft YaHei"/>
                <a:ea typeface="Microsoft YaHei"/>
              </a:rPr>
              <a:t>合在一起</a:t>
            </a: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，風險到底由誰主導？幾乎沒有工具回答。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6353175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結果是：名義買了</a:t>
            </a:r>
            <a:r>
              <a:rPr lang="en-US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檔，實際把風險全押在同一類資產上，自己還不知道。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543050" y="6200775"/>
            <a:ext cx="52101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檔全押科技，等同</a:t>
            </a:r>
            <a:r>
              <a:rPr lang="en-US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檔科技——檔數會騙人，風險貢獻不會。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705850" y="3962400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628">
                    <a:alpha val="80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275" b="1">
                <a:solidFill>
                  <a:srgbClr val="0A1628">
                    <a:alpha val="8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0A1628">
                    <a:alpha val="80000"/>
                  </a:srgbClr>
                </a:solidFill>
                <a:latin typeface="Microsoft YaHei"/>
                <a:ea typeface="Microsoft YaHei"/>
              </a:rPr>
              <a:t>補上這一塊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02 / 09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4" name="" descr="&lt;Slide style={{ width: '1280px', height: '720px', background: '#0A1628', padding: '20px 64px', position: 'relative', display: 'flex', flexDirection: 'column' }}&gt;&#10;  &lt;Box style={{ flexDirection: 'row', gap: 36, flex: 1, alignItems: 'stretch' }}&gt;&#10;    &lt;Box style={{ flex: 35, background: 'linear-gradient(135deg,#0099FF 0%,#00E2C6 100%)', borderRadius: 16, padding: 40, justifyContent: 'space-between' }}&gt;&#10;      &lt;Text style={{ fontSize: 40, fontWeight: 'bold', color: '#0A1628', lineHeight: 1.25 }}&gt;不是預測工具&lt;br /&gt;是風險解剖刀&lt;/Text&gt;&#10;      &lt;Text style={{ fontSize: 19, color: '#0A1628', opacity: 0.82, lineHeight: 1.6 }}&gt;不猜明天的漲跌，&lt;br /&gt;只把今天的風險結構攤開。&lt;/Text&gt;&#10;    &lt;/Box&gt;&#10;    &lt;Box style={{ flex: 65, flexDirection: 'column', justifyContent: 'center', gap: 22 }}&gt;&#10;      &lt;Box style={{ background: 'rgba(230,240,250,0.06)', borderLeft: '4px solid rgba(230,240,250,0.25)', borderRadius: 10, padding: 22 }}&gt;&#10;        &lt;Text style={{ fontSize: 22, fontWeight: 'bold', color: '#E6F0FA', opacity: 0.7 }}&gt;預測型（市面多數）&lt;/Text&gt;&#10;        &lt;Text style={{ fontSize: 19, color: '#E6F0FA', opacity: 0.85, marginTop: 10, lineHeight: 1.6 }}&gt;猜明天漲跌 · 給買賣點 · 回答「該不該買」。&lt;/Text&gt;&#10;      &lt;/Box&gt;&#10;      &lt;Box style={{ background: 'rgba(0,153,255,0.12)', borderLeft: '4px solid #0099FF', borderRadius: 10, padding: 22 }}&gt;&#10;        &lt;Text style={{ fontSize: 22, fontWeight: 'bold', color: '#0099FF' }}&gt;歸因型（持倉透鏡）&lt;/Text&gt;&#10;        &lt;Text style={{ fontSize: 19, color: '#E6F0FA', marginTop: 10, lineHeight: 1.6 }}&gt;拆今天結構 · 量化每類資產的風險貢獻 · 回答「我的風險押在哪」。&lt;/Text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3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9600" y="190500"/>
            <a:ext cx="3724275" cy="6477000"/>
          </a:xfrm>
          <a:prstGeom prst="roundRect">
            <a:avLst>
              <a:gd name="adj" fmla="val 4092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90600" y="571500"/>
            <a:ext cx="2962275" cy="11430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0A1628"/>
                </a:solidFill>
                <a:latin typeface="Microsoft YaHei"/>
                <a:ea typeface="Microsoft YaHei"/>
              </a:rPr>
              <a:t>不是預測工具</a:t>
            </a:r>
            <a:endParaRPr/>
          </a:p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0A1628"/>
                </a:solidFill>
                <a:latin typeface="Microsoft YaHei"/>
                <a:ea typeface="Microsoft YaHei"/>
              </a:rPr>
              <a:t>是風險解剖刀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714875" y="2200275"/>
            <a:ext cx="6905625" cy="1123950"/>
          </a:xfrm>
          <a:prstGeom prst="roundRect">
            <a:avLst>
              <a:gd name="adj" fmla="val 8475"/>
            </a:avLst>
          </a:prstGeom>
          <a:solidFill>
            <a:srgbClr val="E6F0FA">
              <a:alpha val="6000"/>
            </a:srgbClr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4714875" y="2200275"/>
            <a:ext cx="6905625" cy="1123950"/>
          </a:xfrm>
          <a:custGeom>
            <a:pathLst>
              <a:path w="725" h="11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2"/>
                </a:lnTo>
                <a:cubicBezTo>
                  <a:pt x="4" y="115"/>
                  <a:pt x="6" y="117"/>
                  <a:pt x="9" y="118"/>
                </a:cubicBezTo>
                <a:cubicBezTo>
                  <a:pt x="4" y="117"/>
                  <a:pt x="0" y="113"/>
                  <a:pt x="0" y="1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6F0FA">
              <a:alpha val="25000"/>
            </a:srgbClr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4714875" y="3533775"/>
            <a:ext cx="6905625" cy="1123950"/>
          </a:xfrm>
          <a:prstGeom prst="roundRect">
            <a:avLst>
              <a:gd name="adj" fmla="val 8475"/>
            </a:avLst>
          </a:prstGeom>
          <a:solidFill>
            <a:srgbClr val="0099FF">
              <a:alpha val="12000"/>
            </a:srgbClr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4714875" y="3533775"/>
            <a:ext cx="6905625" cy="1123950"/>
          </a:xfrm>
          <a:custGeom>
            <a:pathLst>
              <a:path w="725" h="11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2"/>
                </a:lnTo>
                <a:cubicBezTo>
                  <a:pt x="4" y="115"/>
                  <a:pt x="6" y="117"/>
                  <a:pt x="9" y="118"/>
                </a:cubicBezTo>
                <a:cubicBezTo>
                  <a:pt x="4" y="117"/>
                  <a:pt x="0" y="113"/>
                  <a:pt x="0" y="1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99F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924425" y="3743325"/>
            <a:ext cx="6448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099FF"/>
                </a:solidFill>
                <a:latin typeface="Microsoft YaHei"/>
                <a:ea typeface="Microsoft YaHei"/>
              </a:rPr>
              <a:t>歸因型（持倉透鏡）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924425" y="4095750"/>
            <a:ext cx="6448425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E6F0FA"/>
                </a:solidFill>
                <a:latin typeface="Microsoft YaHei"/>
                <a:ea typeface="Microsoft YaHei"/>
              </a:rPr>
              <a:t>拆今天結構</a:t>
            </a:r>
            <a:r>
              <a:rPr lang="en-US" sz="1425">
                <a:solidFill>
                  <a:srgbClr val="E6F0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E6F0FA"/>
                </a:solidFill>
                <a:latin typeface="Microsoft YaHei"/>
                <a:ea typeface="Microsoft YaHei"/>
              </a:rPr>
              <a:t>量化每類資產的風險貢獻</a:t>
            </a:r>
            <a:r>
              <a:rPr lang="en-US" sz="1425">
                <a:solidFill>
                  <a:srgbClr val="E6F0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E6F0FA"/>
                </a:solidFill>
                <a:latin typeface="Microsoft YaHei"/>
                <a:ea typeface="Microsoft YaHei"/>
              </a:rPr>
              <a:t>回答「我的風險押在哪」。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90600" y="5591175"/>
            <a:ext cx="2962275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0A1628">
                    <a:alpha val="82000"/>
                  </a:srgbClr>
                </a:solidFill>
                <a:latin typeface="Microsoft YaHei"/>
                <a:ea typeface="Microsoft YaHei"/>
              </a:rPr>
              <a:t>不猜明天的漲跌，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0A1628">
                    <a:alpha val="82000"/>
                  </a:srgbClr>
                </a:solidFill>
                <a:latin typeface="Microsoft YaHei"/>
                <a:ea typeface="Microsoft YaHei"/>
              </a:rPr>
              <a:t>只把今天的風險結構攤開。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924425" y="2409825"/>
            <a:ext cx="6448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預測型（市面多數）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924425" y="2762250"/>
            <a:ext cx="6448425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猜明天漲跌</a:t>
            </a:r>
            <a:r>
              <a:rPr lang="en-US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給買賣點</a:t>
            </a:r>
            <a:r>
              <a:rPr lang="en-US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回答「該不該買」。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 style={{ width: '1280px', height: '720px', background: '#0A1628', padding: '20px 64px', position: 'relative', display: 'flex', flexDirection: 'column' }}&gt;&#10;  &lt;Box style={{ height: 76, justifyContent: 'center' }}&gt;&#10;    &lt;Text style={{ fontSize: 34, fontWeight: 'bold', color: '#E6F0FA' }}&gt;三個公式，把風險拆開&lt;/Text&gt;&#10;  &lt;/Box&gt;&#10;  &lt;Box style={{ flexDirection: 'row', alignItems: 'center', gap: 22, marginBottom: 14 }}&gt;&#10;    &lt;Text style={{ fontSize: 100, fontWeight: 'bold', color: '#0099FF' }}&gt;3&lt;/Text&gt;&#10;    &lt;Text style={{ fontSize: 25, color: '#E6F0FA', opacity: 0.8, lineHeight: 1.4 }}&gt;個核心公式&lt;br /&gt;構成整套歸因引擎&lt;/Text&gt;&#10;  &lt;/Box&gt;&#10;  &lt;Box style={{ flexDirection: 'row', flex: 1, alignItems: 'stretch' }}&gt;&#10;    &lt;Box style={{ flex: 1, paddingHorizontal: 26, borderRight: '1px solid rgba(230,240,250,0.12)', justifyContent: 'space-between' }}&gt;&#10;      &lt;Text style={{ fontSize: 20, color: '#00E2C6', fontWeight: 'bold' }}&gt;① 協方差矩陣&lt;/Text&gt;&#10;      &lt;Text style={{ fontSize: 26, color: '#E6F0FA', fontWeight: 'bold' }}&gt;Σij = ρij × σi × σj&lt;/Text&gt;&#10;      &lt;Text style={{ fontSize: 18, color: '#E6F0FA', opacity: 0.8, lineHeight: 1.6 }}&gt;把所有資產兩兩的相關性與波動，壓成一張風險地圖。&lt;/Text&gt;&#10;    &lt;/Box&gt;&#10;    &lt;Box style={{ flex: 1, paddingHorizontal: 26, borderRight: '1px solid rgba(230,240,250,0.12)', justifyContent: 'space-between' }}&gt;&#10;      &lt;Text style={{ fontSize: 20, color: '#00E2C6', fontWeight: 'bold' }}&gt;② 風險貢獻&lt;/Text&gt;&#10;      &lt;Text style={{ fontSize: 26, color: '#E6F0FA', fontWeight: 'bold' }}&gt;RCi = wi × (Σw)i / σp&lt;/Text&gt;&#10;      &lt;Text style={{ fontSize: 18, color: '#E6F0FA', opacity: 0.8, lineHeight: 1.6 }}&gt;每類資產吃掉多少波動，一目了然；且 ΣRCi = σp。&lt;/Text&gt;&#10;    &lt;/Box&gt;&#10;    &lt;Box style={{ flex: 1, paddingHorizontal: 26, justifyContent: 'space-between' }}&gt;&#10;      &lt;Text style={{ fontSize: 20, color: '#00E2C6', fontWeight: 'bold' }}&gt;③ 危機壓力測試&lt;/Text&gt;&#10;      &lt;Text style={{ fontSize: 26, color: '#E6F0FA', fontWeight: 'bold' }}&gt;ρ 只升不降&lt;/Text&gt;&#10;      &lt;Text style={{ fontSize: 18, color: '#E6F0FA', opacity: 0.8, lineHeight: 1.6 }}&gt;危機下相關性只允許上升，保證 σ_crisis ≥ σ_normal。&lt;/Text&gt;&#10;    &lt;/Box&gt;&#10;  &lt;/Box&gt;&#10;  &lt;Box style={{ marginTop: 14, paddingTop: 14, borderTop: '1px solid rgba(230,240,250,0.12)' }}&gt;&#10;    &lt;Text style={{ fontSize: 19, color: '#E6F0FA', opacity: 0.85 }}&gt;把這三個數學對齊，就能回答一個問題：&lt;span style={{ color: '#0099FF', fontWeight: 'bold' }}&gt;我的風險，到底押在誰身上？&lt;/span&gt;&lt;/Text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4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三個公式，把風險拆開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59055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0099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2190750"/>
            <a:ext cx="3667125" cy="3981450"/>
          </a:xfrm>
          <a:custGeom>
            <a:pathLst>
              <a:path w="385" h="418">
                <a:moveTo>
                  <a:pt x="384" y="0"/>
                </a:moveTo>
                <a:lnTo>
                  <a:pt x="385" y="0"/>
                </a:lnTo>
                <a:lnTo>
                  <a:pt x="385" y="418"/>
                </a:lnTo>
                <a:lnTo>
                  <a:pt x="384" y="418"/>
                </a:lnTo>
                <a:close/>
              </a:path>
            </a:pathLst>
          </a:custGeom>
          <a:solidFill>
            <a:srgbClr val="E6F0FA">
              <a:alpha val="12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3648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00" b="1">
                <a:solidFill>
                  <a:srgbClr val="00E2C6"/>
                </a:solidFill>
                <a:latin typeface="Microsoft YaHei"/>
                <a:ea typeface="Microsoft YaHei"/>
              </a:rPr>
              <a:t>協方差矩陣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3810000"/>
            <a:ext cx="36480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6F0FA"/>
                </a:solidFill>
                <a:latin typeface="Microsoft YaHei"/>
                <a:ea typeface="Microsoft YaHei"/>
              </a:rPr>
              <a:t>Σij = ρij × σi × σj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267200" y="2190750"/>
            <a:ext cx="3667125" cy="3981450"/>
          </a:xfrm>
          <a:custGeom>
            <a:pathLst>
              <a:path w="385" h="418">
                <a:moveTo>
                  <a:pt x="384" y="0"/>
                </a:moveTo>
                <a:lnTo>
                  <a:pt x="385" y="0"/>
                </a:lnTo>
                <a:lnTo>
                  <a:pt x="385" y="418"/>
                </a:lnTo>
                <a:lnTo>
                  <a:pt x="384" y="418"/>
                </a:lnTo>
                <a:close/>
              </a:path>
            </a:pathLst>
          </a:custGeom>
          <a:solidFill>
            <a:srgbClr val="E6F0FA">
              <a:alpha val="12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267200" y="2190750"/>
            <a:ext cx="3648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00" b="1">
                <a:solidFill>
                  <a:srgbClr val="00E2C6"/>
                </a:solidFill>
                <a:latin typeface="Microsoft YaHei"/>
                <a:ea typeface="Microsoft YaHei"/>
              </a:rPr>
              <a:t>風險貢獻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267200" y="3810000"/>
            <a:ext cx="36480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6F0FA"/>
                </a:solidFill>
                <a:latin typeface="Microsoft YaHei"/>
                <a:ea typeface="Microsoft YaHei"/>
              </a:rPr>
              <a:t>RCi = wi × (Σw)i / σp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924800" y="2190750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00" b="1">
                <a:solidFill>
                  <a:srgbClr val="00E2C6"/>
                </a:solidFill>
                <a:latin typeface="Microsoft YaHei"/>
                <a:ea typeface="Microsoft YaHei"/>
              </a:rPr>
              <a:t>危機壓力測試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924800" y="3810000"/>
            <a:ext cx="3657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6F0FA"/>
                </a:solidFill>
                <a:latin typeface="Microsoft YaHei"/>
                <a:ea typeface="Microsoft YaHei"/>
              </a:rPr>
              <a:t xml:space="preserve">ρ </a:t>
            </a:r>
            <a:r>
              <a:rPr lang="zh-CN" sz="1950" b="1">
                <a:solidFill>
                  <a:srgbClr val="E6F0FA"/>
                </a:solidFill>
                <a:latin typeface="Microsoft YaHei"/>
                <a:ea typeface="Microsoft YaHei"/>
              </a:rPr>
              <a:t>只升不降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6305550"/>
            <a:ext cx="10972800" cy="371475"/>
          </a:xfrm>
          <a:custGeom>
            <a:pathLst>
              <a:path w="1152" h="3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6F0FA">
              <a:alpha val="12000"/>
            </a:srgbClr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409700" y="1085850"/>
            <a:ext cx="1905000" cy="800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75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個核心公式</a:t>
            </a:r>
            <a:endParaRPr/>
          </a:p>
          <a:p>
            <a:pPr>
              <a:lnSpc>
                <a:spcPct val="140000"/>
              </a:lnSpc>
            </a:pPr>
            <a:r>
              <a:rPr lang="zh-CN" sz="1875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構成整套歸因引擎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5505450"/>
            <a:ext cx="3648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把所有資產兩兩的相關性與波動，壓成一張風險地圖。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267200" y="5505450"/>
            <a:ext cx="3648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每類資產吃掉多少波動，一目了然；且</a:t>
            </a:r>
            <a:r>
              <a:rPr lang="en-US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 xml:space="preserve"> ΣRCi = σp</a:t>
            </a: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924800" y="5505450"/>
            <a:ext cx="3657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危機下相關性只允許上升，保證</a:t>
            </a:r>
            <a:r>
              <a:rPr lang="en-US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 xml:space="preserve"> σ_crisis ≥ σ_normal</a:t>
            </a: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把這三個數學對齊，就能回答一個問題：</a:t>
            </a:r>
            <a:r>
              <a:rPr lang="zh-CN" sz="1425" b="1">
                <a:solidFill>
                  <a:srgbClr val="0099FF">
                    <a:alpha val="85000"/>
                  </a:srgbClr>
                </a:solidFill>
                <a:latin typeface="Microsoft YaHei"/>
                <a:ea typeface="Microsoft YaHei"/>
              </a:rPr>
              <a:t>我的風險，到底押在誰身上？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9" name="" descr="&lt;Slide style={{ width: '1280px', height: '720px', background: '#0A1628', padding: '20px 64px', position: 'relative', display: 'flex', flexDirection: 'column' }}&gt;&#10;  &lt;Box style={{ height: 76, justifyContent: 'center' }}&gt;&#10;    &lt;Text style={{ fontSize: 34, fontWeight: 'bold', color: '#E6F0FA' }}&gt;四個實用功能&lt;/Text&gt;&#10;  &lt;/Box&gt;&#10;  &lt;Box style={{ flexDirection: 'row', gap: 20, height: 394, alignItems: 'stretch' }}&gt;&#10;    &lt;Box style={{ flex: 1, background: 'rgba(0,153,255,0.08)', border: '1px solid rgba(0,226,198,0.25)', borderRadius: 14, padding: 22, flexDirection: 'column' }}&gt;&#10;      &lt;Box style={{ width: 50, height: 50, borderRadius: 25, background: 'linear-gradient(135deg,#0099FF,#00E2C6)', alignItems: 'center', justifyContent: 'center' }}&gt;&#10;        &lt;Text style={{ fontSize: 23, fontWeight: 'bold', color: '#0A1628' }}&gt;1&lt;/Text&gt;&#10;      &lt;/Box&gt;&#10;      &lt;Text style={{ fontSize: 23, fontWeight: 'bold', color: '#E6F0FA', marginTop: 12 }}&gt;雙語切換&lt;/Text&gt;&#10;      &lt;Text style={{ fontSize: 17, color: '#E6F0FA', opacity: 0.85, marginTop: 10, lineHeight: 1.6 }}&gt;簡體 / 繁體一鍵切換，報告用語符合本地習慣，不是機器翻譯。&lt;/Text&gt;&#10;      &lt;Box style={{ background: 'rgba(10,22,40,0.4)', borderRadius: 10, paddingTop: 10, paddingBottom: 10, paddingLeft: 12, paddingRight: 12, marginTop: 10, flex: 1, justifyContent: 'center' }}&gt;&#10;        &lt;Text style={{ fontSize: 12, color: '#00E2C6', opacity: 0.8 }}&gt;輸出預覽&lt;/Text&gt;&#10;        &lt;Text style={{ fontSize: 15, color: '#E6F0FA', marginTop: 6, lineHeight: 1.5 }}&gt;组合波动率 σp = 17.2%&lt;br /&gt;↕ 組合波動率 σp = 17.2%&lt;/Text&gt;&#10;      &lt;/Box&gt;&#10;      &lt;Box style={{ background: 'rgba(0,226,198,0.1)', border: '1px solid rgba(0,226,198,0.35)', borderRadius: 999, paddingTop: 6, paddingBottom: 6, alignItems: 'center', marginTop: 10 }}&gt;&#10;        &lt;Text style={{ fontSize: 14, color: '#6FE3D2' }}&gt;適合兩岸與海外用戶&lt;/Text&gt;&#10;      &lt;/Box&gt;&#10;    &lt;/Box&gt;&#10;    &lt;Box style={{ flex: 1, background: 'rgba(0,153,255,0.08)', border: '1px solid rgba(0,226,198,0.25)', borderRadius: 14, padding: 22, flexDirection: 'column' }}&gt;&#10;      &lt;Box style={{ width: 50, height: 50, borderRadius: 25, background: 'linear-gradient(135deg,#0099FF,#00E2C6)', alignItems: 'center', justifyContent: 'center' }}&gt;&#10;        &lt;Text style={{ fontSize: 23, fontWeight: 'bold', color: '#0A1628' }}&gt;2&lt;/Text&gt;&#10;      &lt;/Box&gt;&#10;      &lt;Text style={{ fontSize: 23, fontWeight: 'bold', color: '#E6F0FA', marginTop: 12 }}&gt;危機壓力測試&lt;/Text&gt;&#10;      &lt;Text style={{ fontSize: 17, color: '#E6F0FA', opacity: 0.85, marginTop: 10, lineHeight: 1.6 }}&gt;把相關性抬到極端值，預演股債齊跌時組合波動會飆多少。&lt;/Text&gt;&#10;      &lt;Box style={{ background: 'rgba(10,22,40,0.4)', borderRadius: 10, paddingTop: 10, paddingBottom: 10, paddingLeft: 12, paddingRight: 12, marginTop: 10, flex: 1, justifyContent: 'center' }}&gt;&#10;        &lt;Text style={{ fontSize: 12, color: '#00E2C6', opacity: 0.8 }}&gt;輸出預覽&lt;/Text&gt;&#10;        &lt;Text style={{ fontSize: 15, color: '#E6F0FA', marginTop: 6, lineHeight: 1.5 }}&gt;波動 17.2% → 19.5%&lt;br /&gt;分散力衰退 41.5%&lt;/Text&gt;&#10;      &lt;/Box&gt;&#10;      &lt;Box style={{ background: 'rgba(0,226,198,0.1)', border: '1px solid rgba(0,226,198,0.35)', borderRadius: 999, paddingTop: 6, paddingBottom: 6, alignItems: 'center', marginTop: 10 }}&gt;&#10;        &lt;Text style={{ fontSize: 14, color: '#6FE3D2' }}&gt;看穿「假分散」&lt;/Text&gt;&#10;      &lt;/Box&gt;&#10;    &lt;/Box&gt;&#10;    &lt;Box style={{ flex: 1, background: 'rgba(0,153,255,0.08)', border: '1px solid rgba(0,226,198,0.25)', borderRadius: 14, padding: 22, flexDirection: 'column' }}&gt;&#10;      &lt;Box style={{ width: 50, height: 50, borderRadius: 25, background: 'linear-gradient(135deg,#0099FF,#00E2C6)', alignItems: 'center', justifyContent: 'center' }}&gt;&#10;        &lt;Text style={{ fontSize: 23, fontWeight: 'bold', color: '#0A1628' }}&gt;3&lt;/Text&gt;&#10;      &lt;/Box&gt;&#10;      &lt;Text style={{ fontSize: 23, fontWeight: 'bold', color: '#E6F0FA', marginTop: 12 }}&gt;優化模擬&lt;/Text&gt;&#10;      &lt;Text style={{ fontSize: 17, color: '#E6F0FA', opacity: 0.85, marginTop: 10, lineHeight: 1.6 }}&gt;指出哪筆倉位過度集中，模擬調倉後的風險結構變化。&lt;/Text&gt;&#10;      &lt;Box style={{ background: 'rgba(10,22,40,0.4)', borderRadius: 10, paddingTop: 10, paddingBottom: 10, paddingLeft: 12, paddingRight: 12, marginTop: 10, flex: 1, justifyContent: 'center' }}&gt;&#10;        &lt;Text style={{ fontSize: 12, color: '#00E2C6', opacity: 0.8 }}&gt;輸出預覽&lt;/Text&gt;&#10;        &lt;Text style={{ fontSize: 15, color: '#E6F0FA', marginTop: 6, lineHeight: 1.5 }}&gt;資金 41.9% → 風險 60.2%&lt;br /&gt;超配 18.3 個百分點&lt;/Text&gt;&#10;      &lt;/Box&gt;&#10;      &lt;Box style={{ background: 'rgba(0,226,198,0.1)', border: '1px solid rgba(0,226,198,0.35)', borderRadius: 999, paddingTop: 6, paddingBottom: 6, alignItems: 'center', marginTop: 10 }}&gt;&#10;        &lt;Text style={{ fontSize: 14, color: '#6FE3D2' }}&gt;給出可執行建議&lt;/Text&gt;&#10;      &lt;/Box&gt;&#10;    &lt;/Box&gt;&#10;    &lt;Box style={{ flex: 1, background: 'rgba(0,153,255,0.08)', border: '1px solid rgba(0,226,198,0.25)', borderRadius: 14, padding: 22, flexDirection: 'column' }}&gt;&#10;      &lt;Box style={{ width: 50, height: 50, borderRadius: 25, background: 'linear-gradient(135deg,#0099FF,#00E2C6)', alignItems: 'center', justifyContent: 'center' }}&gt;&#10;        &lt;Text style={{ fontSize: 23, fontWeight: 'bold', color: '#0A1628' }}&gt;4&lt;/Text&gt;&#10;      &lt;/Box&gt;&#10;      &lt;Text style={{ fontSize: 23, fontWeight: 'bold', color: '#E6F0FA', marginTop: 12 }}&gt;分享卡片&lt;/Text&gt;&#10;      &lt;Text style={{ fontSize: 17, color: '#E6F0FA', opacity: 0.85, marginTop: 10, lineHeight: 1.6 }}&gt;一鍵生成風險體檢卡長圖，存圖分享給自己或朋友。&lt;/Text&gt;&#10;      &lt;Box style={{ background: 'rgba(10,22,40,0.4)', borderRadius: 10, paddingTop: 10, paddingBottom: 10, paddingLeft: 12, paddingRight: 12, marginTop: 10, flex: 1, justifyContent: 'center' }}&gt;&#10;        &lt;Text style={{ fontSize: 12, color: '#00E2C6', opacity: 0.8 }}&gt;輸出預覽&lt;/Text&gt;&#10;        &lt;Text style={{ fontSize: 15, color: '#E6F0FA', marginTop: 6, lineHeight: 1.5 }}&gt;1080 × 1440 長圖&lt;br /&gt;健康評分 62 / 100&lt;/Text&gt;&#10;      &lt;/Box&gt;&#10;      &lt;Box style={{ background: 'rgba(0,226,198,0.1)', border: '1px solid rgba(0,226,198,0.35)', borderRadius: 999, paddingTop: 6, paddingBottom: 6, alignItems: 'center', marginTop: 10 }}&gt;&#10;        &lt;Text style={{ fontSize: 14, color: '#6FE3D2' }}&gt;體檢結果可視化&lt;/Text&gt;&#10;      &lt;/Box&gt;&#10;    &lt;/Box&gt;&#10;  &lt;/Box&gt;&#10;  &lt;Box style={{ flex: 1, background: 'rgba(0,153,255,0.06)', border: '1px solid rgba(0,153,255,0.22)', borderRadius: 14, marginTop: 20, flexDirection: 'row', alignItems: 'center', paddingLeft: 28, paddingRight: 28, gap: 28 }}&gt;&#10;    &lt;Box&gt;&#10;      &lt;Text style={{ fontSize: 20, fontWeight: 'bold', color: '#E6F0FA' }}&gt;四功能共用同一份引擎與資產庫&lt;/Text&gt;&#10;      &lt;Text style={{ fontSize: 15, color: '#E6F0FA', opacity: 0.65, marginTop: 6 }}&gt;輸入一次持倉，歸因、壓力測試、優化、卡片全部基於同一組數字，不會互相矛盾。&lt;/Text&gt;&#10;    &lt;/Box&gt;&#10;    &lt;Box style={{ flex: 1 }} /&gt;&#10;    &lt;Box style={{ flexDirection: 'row', gap: 12 }}&gt;&#10;      &lt;Box style={{ background: 'rgba(0,153,255,0.16)', borderRadius: 999, paddingTop: 8, paddingBottom: 8, paddingLeft: 16, paddingRight: 16 }}&gt;&#10;        &lt;Text style={{ fontSize: 14, color: '#7FC4FF' }}&gt;協方差矩陣&lt;/Text&gt;&#10;      &lt;/Box&gt;&#10;      &lt;Box style={{ background: 'rgba(0,226,198,0.14)', borderRadius: 999, paddingTop: 8, paddingBottom: 8, paddingLeft: 16, paddingRight: 16 }}&gt;&#10;        &lt;Text style={{ fontSize: 14, color: '#6FE3D2' }}&gt;風險貢獻分解&lt;/Text&gt;&#10;      &lt;/Box&gt;&#10;      &lt;Box style={{ background: 'rgba(255,214,102,0.12)', borderRadius: 999, paddingTop: 8, paddingBottom: 8, paddingLeft: 16, paddingRight: 16 }}&gt;&#10;        &lt;Text style={{ fontSize: 14, color: '#FFD666' }}&gt;126 項測試把關&lt;/Text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5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四個實用功能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914400"/>
            <a:ext cx="2600325" cy="3752850"/>
          </a:xfrm>
          <a:prstGeom prst="roundRect">
            <a:avLst>
              <a:gd name="adj" fmla="val 5128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819150" y="1123950"/>
            <a:ext cx="476250" cy="476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90600" y="1228725"/>
            <a:ext cx="142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A162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19150" y="17145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6F0FA"/>
                </a:solidFill>
                <a:latin typeface="Microsoft YaHei"/>
                <a:ea typeface="Microsoft YaHei"/>
              </a:rPr>
              <a:t>雙語切換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19150" y="3105150"/>
            <a:ext cx="2181225" cy="981075"/>
          </a:xfrm>
          <a:prstGeom prst="roundRect">
            <a:avLst>
              <a:gd name="adj" fmla="val 9709"/>
            </a:avLst>
          </a:prstGeom>
          <a:solidFill>
            <a:srgbClr val="0A1628">
              <a:alpha val="40000"/>
            </a:srgbClr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33450" y="3438525"/>
            <a:ext cx="19526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组合波动率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σp = 17.2%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↕ </a:t>
            </a: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組合波動率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σp = 17.2%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19150" y="4181475"/>
            <a:ext cx="2181225" cy="276225"/>
          </a:xfrm>
          <a:prstGeom prst="roundRect">
            <a:avLst>
              <a:gd name="adj" fmla="val 3444828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314450" y="42386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適合兩岸與海外用戶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400425" y="914400"/>
            <a:ext cx="2600325" cy="3752850"/>
          </a:xfrm>
          <a:prstGeom prst="roundRect">
            <a:avLst>
              <a:gd name="adj" fmla="val 5128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3609975" y="1123950"/>
            <a:ext cx="476250" cy="476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781425" y="1228725"/>
            <a:ext cx="142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A162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609975" y="17145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6F0FA"/>
                </a:solidFill>
                <a:latin typeface="Microsoft YaHei"/>
                <a:ea typeface="Microsoft YaHei"/>
              </a:rPr>
              <a:t>危機壓力測試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609975" y="2800350"/>
            <a:ext cx="2181225" cy="1285875"/>
          </a:xfrm>
          <a:prstGeom prst="roundRect">
            <a:avLst>
              <a:gd name="adj" fmla="val 7407"/>
            </a:avLst>
          </a:prstGeom>
          <a:solidFill>
            <a:srgbClr val="0A1628">
              <a:alpha val="40000"/>
            </a:srgbClr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724275" y="3286125"/>
            <a:ext cx="19526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波動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17.2% → 19.5%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分散力衰退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41.5%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609975" y="4181475"/>
            <a:ext cx="2181225" cy="276225"/>
          </a:xfrm>
          <a:prstGeom prst="roundRect">
            <a:avLst>
              <a:gd name="adj" fmla="val 3444828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238625" y="42386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看穿「假分散」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191250" y="914400"/>
            <a:ext cx="2600325" cy="3752850"/>
          </a:xfrm>
          <a:prstGeom prst="roundRect">
            <a:avLst>
              <a:gd name="adj" fmla="val 5128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400800" y="1123950"/>
            <a:ext cx="476250" cy="476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572250" y="1228725"/>
            <a:ext cx="142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A162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00800" y="17145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6F0FA"/>
                </a:solidFill>
                <a:latin typeface="Microsoft YaHei"/>
                <a:ea typeface="Microsoft YaHei"/>
              </a:rPr>
              <a:t>優化模擬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400800" y="2800350"/>
            <a:ext cx="2181225" cy="1285875"/>
          </a:xfrm>
          <a:prstGeom prst="roundRect">
            <a:avLst>
              <a:gd name="adj" fmla="val 7407"/>
            </a:avLst>
          </a:prstGeom>
          <a:solidFill>
            <a:srgbClr val="0A1628">
              <a:alpha val="40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515100" y="3286125"/>
            <a:ext cx="19526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資金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41.9% → </a:t>
            </a: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風險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60.2%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超配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18.3 </a:t>
            </a: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個百分點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400800" y="4181475"/>
            <a:ext cx="2181225" cy="276225"/>
          </a:xfrm>
          <a:prstGeom prst="roundRect">
            <a:avLst>
              <a:gd name="adj" fmla="val 3444828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029450" y="42386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給出可執行建議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982075" y="914400"/>
            <a:ext cx="2600325" cy="3752850"/>
          </a:xfrm>
          <a:prstGeom prst="roundRect">
            <a:avLst>
              <a:gd name="adj" fmla="val 5128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9191625" y="1123950"/>
            <a:ext cx="476250" cy="476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363075" y="1228725"/>
            <a:ext cx="142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A162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191625" y="17145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6F0FA"/>
                </a:solidFill>
                <a:latin typeface="Microsoft YaHei"/>
                <a:ea typeface="Microsoft YaHei"/>
              </a:rPr>
              <a:t>分享卡片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9191625" y="2800350"/>
            <a:ext cx="2181225" cy="1285875"/>
          </a:xfrm>
          <a:prstGeom prst="roundRect">
            <a:avLst>
              <a:gd name="adj" fmla="val 7407"/>
            </a:avLst>
          </a:prstGeom>
          <a:solidFill>
            <a:srgbClr val="0A1628">
              <a:alpha val="40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305925" y="3286125"/>
            <a:ext cx="19526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1080 × 1440 </a:t>
            </a: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長圖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健康評分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62 / 100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9191625" y="4181475"/>
            <a:ext cx="2181225" cy="276225"/>
          </a:xfrm>
          <a:prstGeom prst="roundRect">
            <a:avLst>
              <a:gd name="adj" fmla="val 3444828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820275" y="42386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體檢結果可視化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4857750"/>
            <a:ext cx="10972800" cy="1809750"/>
          </a:xfrm>
          <a:prstGeom prst="roundRect">
            <a:avLst>
              <a:gd name="adj" fmla="val 7368"/>
            </a:avLst>
          </a:prstGeom>
          <a:solidFill>
            <a:srgbClr val="0099FF">
              <a:alpha val="6000"/>
            </a:srgbClr>
          </a:solidFill>
          <a:ln w="12700">
            <a:solidFill>
              <a:srgbClr val="0099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76300" y="5534025"/>
            <a:ext cx="5286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四功能共用同一份引擎與資產庫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7762875" y="5610225"/>
            <a:ext cx="971550" cy="314325"/>
          </a:xfrm>
          <a:prstGeom prst="roundRect">
            <a:avLst>
              <a:gd name="adj" fmla="val 3027273"/>
            </a:avLst>
          </a:prstGeom>
          <a:solidFill>
            <a:srgbClr val="0099FF">
              <a:alpha val="16000"/>
            </a:srgbClr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915275" y="5686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C4FF"/>
                </a:solidFill>
                <a:latin typeface="Microsoft YaHei"/>
                <a:ea typeface="Microsoft YaHei"/>
              </a:rPr>
              <a:t>協方差矩陣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848725" y="5610225"/>
            <a:ext cx="1104900" cy="314325"/>
          </a:xfrm>
          <a:prstGeom prst="roundRect">
            <a:avLst>
              <a:gd name="adj" fmla="val 3027273"/>
            </a:avLst>
          </a:prstGeom>
          <a:solidFill>
            <a:srgbClr val="00E2C6">
              <a:alpha val="14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001125" y="56864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風險貢獻分解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10067925" y="5610225"/>
            <a:ext cx="1247775" cy="314325"/>
          </a:xfrm>
          <a:prstGeom prst="roundRect">
            <a:avLst>
              <a:gd name="adj" fmla="val 3027273"/>
            </a:avLst>
          </a:prstGeom>
          <a:solidFill>
            <a:srgbClr val="FFD666">
              <a:alpha val="12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0220325" y="568642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D666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1050">
                <a:solidFill>
                  <a:srgbClr val="FFD666"/>
                </a:solidFill>
                <a:latin typeface="Microsoft YaHei"/>
                <a:ea typeface="Microsoft YaHei"/>
              </a:rPr>
              <a:t>項測試把關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19150" y="2076450"/>
            <a:ext cx="2181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簡體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繁體一鍵切換，報告用語符合本地習慣，不是機器翻譯。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33450" y="3238500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E2C6">
                    <a:alpha val="80000"/>
                  </a:srgbClr>
                </a:solidFill>
                <a:latin typeface="Microsoft YaHei"/>
                <a:ea typeface="Microsoft YaHei"/>
              </a:rPr>
              <a:t>輸出預覽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609975" y="2076450"/>
            <a:ext cx="2181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把相關性抬到極端值，預演股債齊跌時組合波動會飆多少。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724275" y="3086100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E2C6">
                    <a:alpha val="80000"/>
                  </a:srgbClr>
                </a:solidFill>
                <a:latin typeface="Microsoft YaHei"/>
                <a:ea typeface="Microsoft YaHei"/>
              </a:rPr>
              <a:t>輸出預覽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400800" y="2076450"/>
            <a:ext cx="2181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指出哪筆倉位過度集中，模擬調倉後的風險結構變化。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515100" y="3086100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E2C6">
                    <a:alpha val="80000"/>
                  </a:srgbClr>
                </a:solidFill>
                <a:latin typeface="Microsoft YaHei"/>
                <a:ea typeface="Microsoft YaHei"/>
              </a:rPr>
              <a:t>輸出預覽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191625" y="2076450"/>
            <a:ext cx="2181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一鍵生成風險體檢卡長圖，存圖分享給自己或朋友。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305925" y="3086100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E2C6">
                    <a:alpha val="80000"/>
                  </a:srgbClr>
                </a:solidFill>
                <a:latin typeface="Microsoft YaHei"/>
                <a:ea typeface="Microsoft YaHei"/>
              </a:rPr>
              <a:t>輸出預覽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76300" y="5819775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6F0FA">
                    <a:alpha val="65000"/>
                  </a:srgbClr>
                </a:solidFill>
                <a:latin typeface="Microsoft YaHei"/>
                <a:ea typeface="Microsoft YaHei"/>
              </a:rPr>
              <a:t>輸入一次持倉，歸因、壓力測試、優化、卡片全部基於同一組數字，不會互相矛盾。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3" name="" descr="&lt;Slide style={{ width: '1280px', height: '720px', background: '#0A1628', padding: '18px 64px', position: 'relative', display: 'flex', flexDirection: 'column' }}&gt;&#10;  &lt;Box style={{ height: 64, justifyContent: 'center' }}&gt;&#10;    &lt;Text style={{ fontSize: 34, fontWeight: 'bold', color: '#E6F0FA' }}&gt;一份引擎，三端可用&lt;/Text&gt;&#10;  &lt;/Box&gt;&#10;  &lt;Box style={{ flexDirection: 'row', gap: 32, flex: 1, alignItems: 'stretch' }}&gt;&#10;    &lt;Box style={{ flex: 56, background: 'rgba(0,153,255,0.06)', border: '1px solid rgba(0,226,198,0.2)', borderRadius: 16, paddingTop: 14, paddingBottom: 12, paddingLeft: 12, paddingRight: 12, flexDirection: 'column', alignItems: 'center' }}&gt;&#10;      &lt;svg width={532} height={460} viewBox='0 0 620 536'&gt;&#10;        &lt;rect x='235' y='240' width='150' height='90' rx='14' fill='#0099FF' /&gt;&#10;        &lt;text x='310' y='278' fill='#0A1628' fontSize='20' fontWeight='bold' textAnchor='middle'&gt;歸因引擎&lt;/text&gt;&#10;        &lt;text x='310' y='304' fill='#0A1628' fontSize='14' textAnchor='middle'&gt;UMD · 一份程式碼&lt;/text&gt;&#10;        &lt;line x1='245' y1='278' x2='100' y2='90' stroke='#00E2C6' strokeWidth='2' /&gt;&#10;        &lt;line x1='310' y1='240' x2='310' y2='88' stroke='#00E2C6' strokeWidth='2' /&gt;&#10;        &lt;line x1='375' y1='278' x2='520' y2='90' stroke='#00E2C6' strokeWidth='2' /&gt;&#10;        &lt;line x1='310' y1='330' x2='310' y2='426' stroke='#00E2C6' strokeWidth='2' /&gt;&#10;        &lt;rect x='30' y='24' width='130' height='60' rx='12' fill='rgba(0,226,198,0.15)' stroke='#00E2C6' /&gt;&#10;        &lt;text x='95' y='60' fill='#E6F0FA' fontSize='17' textAnchor='middle'&gt;H5 網頁&lt;/text&gt;&#10;        &lt;rect x='245' y='24' width='130' height='60' rx='12' fill='rgba(0,226,198,0.15)' stroke='#00E2C6' /&gt;&#10;        &lt;text x='310' y='60' fill='#E6F0FA' fontSize='17' textAnchor='middle'&gt;微信小程序&lt;/text&gt;&#10;        &lt;rect x='460' y='24' width='130' height='60' rx='12' fill='rgba(0,226,198,0.15)' stroke='#00E2C6' /&gt;&#10;        &lt;text x='525' y='60' fill='#E6F0FA' fontSize='17' textAnchor='middle'&gt;本地腳本&lt;/text&gt;&#10;        &lt;rect x='220' y='430' width='180' height='60' rx='12' fill='rgba(0,153,255,0.12)' stroke='#0099FF' /&gt;&#10;        &lt;text x='310' y='468' fill='#E6F0FA' fontSize='17' textAnchor='middle'&gt;風險體檢卡&lt;/text&gt;&#10;        &lt;text x='310' y='522' fill='#E6F0FA' fontSize='13' opacity='0.55' textAnchor='middle'&gt;同一輸入 → 同一輸出，三端結果一致&lt;/text&gt;&#10;      &lt;/svg&gt;&#10;      &lt;Text style={{ fontSize: 14, color: '#E6F0FA', opacity: 0.55, marginTop: 8, textAlign: 'center' }}&gt;三端共用同一份 assetlib.js + engine.js，改一處、全端生效&lt;/Text&gt;&#10;      &lt;Box style={{ flexDirection: 'row', gap: 10, marginTop: 12, alignSelf: 'stretch' }}&gt;&#10;        &lt;Box style={{ flex: 1, background: 'rgba(0,153,255,0.05)', border: '1px solid rgba(0,153,255,0.2)', borderRadius: 10, paddingTop: 10, paddingBottom: 10, alignItems: 'center' }}&gt;&#10;          &lt;Text style={{ fontSize: 13, color: '#7FC4FF' }}&gt;零 npm 依賴&lt;/Text&gt;&#10;        &lt;/Box&gt;&#10;        &lt;Box style={{ flex: 1, background: 'rgba(0,153,255,0.05)', border: '1px solid rgba(0,153,255,0.2)', borderRadius: 10, paddingTop: 10, paddingBottom: 10, alignItems: 'center' }}&gt;&#10;          &lt;Text style={{ fontSize: 13, color: '#7FC4FF' }}&gt;17 類資產&lt;/Text&gt;&#10;        &lt;/Box&gt;&#10;        &lt;Box style={{ flex: 1, background: 'rgba(0,153,255,0.05)', border: '1px solid rgba(0,153,255,0.2)', borderRadius: 10, paddingTop: 10, paddingBottom: 10, alignItems: 'center' }}&gt;&#10;          &lt;Text style={{ fontSize: 13, color: '#7FC4FF' }}&gt;126 項測試&lt;/Text&gt;&#10;        &lt;/Box&gt;&#10;      &lt;/Box&gt;&#10;    &lt;/Box&gt;&#10;    &lt;Box style={{ flex: 44, flexDirection: 'column', gap: 10 }}&gt;&#10;      &lt;Box style={{ flex: 1, background: 'rgba(0,153,255,0.08)', border: '1px solid rgba(0,153,255,0.28)', borderRadius: 12, paddingTop: 14, paddingBottom: 14, paddingLeft: 18, paddingRight: 18, justifyContent: 'center' }}&gt;&#10;        &lt;Text style={{ fontSize: 20, fontWeight: 'bold', color: '#E6F0FA' }}&gt;同一份引擎，不依賴雲端&lt;/Text&gt;&#10;        &lt;Text style={{ fontSize: 16, color: '#E6F0FA', opacity: 0.72, marginTop: 5, lineHeight: 1.55 }}&gt;核心計算是 UMD 模組，持倉資料不上傳任何伺服器。&lt;/Text&gt;&#10;      &lt;/Box&gt;&#10;      &lt;Box style={{ flex: 1, background: 'rgba(0,226,198,0.07)', border: '1px solid rgba(0,226,198,0.26)', borderRadius: 12, paddingTop: 14, paddingBottom: 14, paddingLeft: 18, paddingRight: 18, justifyContent: 'center' }}&gt;&#10;        &lt;Text style={{ fontSize: 20, fontWeight: 'bold', color: '#E6F0FA' }}&gt;同一套數學，三端一致&lt;/Text&gt;&#10;        &lt;Text style={{ fontSize: 16, color: '#E6F0FA', opacity: 0.72, marginTop: 5, lineHeight: 1.55 }}&gt;網頁、小程序、本地腳本分別跑，結果可交叉驗證。&lt;/Text&gt;&#10;      &lt;/Box&gt;&#10;      &lt;Box style={{ flex: 1, background: 'rgba(255,214,102,0.07)', border: '1px solid rgba(255,214,102,0.26)', borderRadius: 12, paddingTop: 14, paddingBottom: 14, paddingLeft: 18, paddingRight: 18, justifyContent: 'center' }}&gt;&#10;        &lt;Text style={{ fontSize: 20, fontWeight: 'bold', color: '#E6F0FA' }}&gt;按場景選端，不用裝軟體&lt;/Text&gt;&#10;        &lt;Text style={{ fontSize: 16, color: '#E6F0FA', opacity: 0.72, marginTop: 5, lineHeight: 1.55 }}&gt;隨手查用小程序，分享用 H5，批量回測用腳本。&lt;/Text&gt;&#10;      &lt;/Box&gt;&#10;      &lt;Box style={{ flex: 1, background: 'rgba(0,153,255,0.05)', border: '1px solid rgba(0,153,255,0.2)', borderRadius: 12, paddingTop: 12, paddingBottom: 12, paddingLeft: 18, paddingRight: 18, flexDirection: 'row', flexWrap: 'wrap', gap: 10, alignItems: 'center' }}&gt;&#10;        &lt;Box style={{ background: 'rgba(0,153,255,0.16)', borderRadius: 999, paddingTop: 5, paddingBottom: 5, paddingLeft: 13, paddingRight: 13 }}&gt;&#10;          &lt;Text style={{ fontSize: 13, color: '#7FC4FF' }}&gt;簡 / 繁雙語&lt;/Text&gt;&#10;        &lt;/Box&gt;&#10;        &lt;Box style={{ background: 'rgba(0,153,255,0.16)', borderRadius: 999, paddingTop: 5, paddingBottom: 5, paddingLeft: 13, paddingRight: 13 }}&gt;&#10;          &lt;Text style={{ fontSize: 13, color: '#7FC4FF' }}&gt;危機壓力測試&lt;/Text&gt;&#10;        &lt;/Box&gt;&#10;        &lt;Box style={{ background: 'rgba(0,153,255,0.16)', borderRadius: 999, paddingTop: 5, paddingBottom: 5, paddingLeft: 13, paddingRight: 13 }}&gt;&#10;          &lt;Text style={{ fontSize: 13, color: '#7FC4FF' }}&gt;健康評分&lt;/Text&gt;&#10;        &lt;/Box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6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一份引擎，三端可用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781050"/>
            <a:ext cx="5972175" cy="5905500"/>
          </a:xfrm>
          <a:prstGeom prst="roundRect">
            <a:avLst>
              <a:gd name="adj" fmla="val 2581"/>
            </a:avLst>
          </a:prstGeom>
          <a:solidFill>
            <a:srgbClr val="0099FF">
              <a:alpha val="6000"/>
            </a:srgbClr>
          </a:solidFill>
          <a:ln w="12700">
            <a:solidFill>
              <a:srgbClr val="00E2C6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914400"/>
            <a:ext cx="5067300" cy="4381500"/>
          </a:xfrm>
          <a:prstGeom prst="rect">
            <a:avLst/>
          </a:prstGeom>
          <a:ln/>
        </p:spPr>
      </p:pic>
      <p:sp>
        <p:nvSpPr>
          <p:cNvPr id="148" name=""/>
          <p:cNvSpPr/>
          <p:nvPr/>
        </p:nvSpPr>
        <p:spPr>
          <a:xfrm rot="0" flipH="0" flipV="0">
            <a:off x="723900" y="5648325"/>
            <a:ext cx="1847850" cy="342900"/>
          </a:xfrm>
          <a:prstGeom prst="roundRect">
            <a:avLst>
              <a:gd name="adj" fmla="val 27778"/>
            </a:avLst>
          </a:prstGeom>
          <a:solidFill>
            <a:srgbClr val="0099FF">
              <a:alpha val="5000"/>
            </a:srgbClr>
          </a:solidFill>
          <a:ln w="12700">
            <a:solidFill>
              <a:srgbClr val="0099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285875" y="574357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零</a:t>
            </a:r>
            <a:r>
              <a:rPr lang="en-US" sz="975">
                <a:solidFill>
                  <a:srgbClr val="7FC4FF"/>
                </a:solidFill>
                <a:latin typeface="Microsoft YaHei"/>
                <a:ea typeface="Microsoft YaHei"/>
              </a:rPr>
              <a:t xml:space="preserve"> npm </a:t>
            </a: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依賴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2667000" y="5648325"/>
            <a:ext cx="1857375" cy="342900"/>
          </a:xfrm>
          <a:prstGeom prst="roundRect">
            <a:avLst>
              <a:gd name="adj" fmla="val 27778"/>
            </a:avLst>
          </a:prstGeom>
          <a:solidFill>
            <a:srgbClr val="0099FF">
              <a:alpha val="5000"/>
            </a:srgbClr>
          </a:solidFill>
          <a:ln w="12700">
            <a:solidFill>
              <a:srgbClr val="0099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314700" y="5743575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C4FF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類資產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619625" y="5648325"/>
            <a:ext cx="1847850" cy="342900"/>
          </a:xfrm>
          <a:prstGeom prst="roundRect">
            <a:avLst>
              <a:gd name="adj" fmla="val 27778"/>
            </a:avLst>
          </a:prstGeom>
          <a:solidFill>
            <a:srgbClr val="0099FF">
              <a:alpha val="5000"/>
            </a:srgbClr>
          </a:solidFill>
          <a:ln w="12700">
            <a:solidFill>
              <a:srgbClr val="0099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229225" y="574357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C4FF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項測試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886575" y="781050"/>
            <a:ext cx="4695825" cy="1495425"/>
          </a:xfrm>
          <a:prstGeom prst="roundRect">
            <a:avLst>
              <a:gd name="adj" fmla="val 7643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99FF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058025" y="1247775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同一份引擎，不依賴雲端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886575" y="2371725"/>
            <a:ext cx="4695825" cy="1495425"/>
          </a:xfrm>
          <a:prstGeom prst="roundRect">
            <a:avLst>
              <a:gd name="adj" fmla="val 7643"/>
            </a:avLst>
          </a:prstGeom>
          <a:solidFill>
            <a:srgbClr val="00E2C6">
              <a:alpha val="7000"/>
            </a:srgbClr>
          </a:solidFill>
          <a:ln w="12700">
            <a:solidFill>
              <a:srgbClr val="00E2C6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058025" y="2838450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同一套數學，三端一致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886575" y="3962400"/>
            <a:ext cx="4695825" cy="1485900"/>
          </a:xfrm>
          <a:prstGeom prst="roundRect">
            <a:avLst>
              <a:gd name="adj" fmla="val 7692"/>
            </a:avLst>
          </a:prstGeom>
          <a:solidFill>
            <a:srgbClr val="FFD666">
              <a:alpha val="7000"/>
            </a:srgbClr>
          </a:solidFill>
          <a:ln w="12700">
            <a:solidFill>
              <a:srgbClr val="FFD666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058025" y="4429125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按場景選端，不用裝軟體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86575" y="5543550"/>
            <a:ext cx="4695825" cy="1143000"/>
          </a:xfrm>
          <a:prstGeom prst="roundRect">
            <a:avLst>
              <a:gd name="adj" fmla="val 10000"/>
            </a:avLst>
          </a:prstGeom>
          <a:solidFill>
            <a:srgbClr val="0099FF">
              <a:alpha val="5000"/>
            </a:srgbClr>
          </a:solidFill>
          <a:ln w="12700">
            <a:solidFill>
              <a:srgbClr val="0099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7058025" y="5991225"/>
            <a:ext cx="876300" cy="247650"/>
          </a:xfrm>
          <a:prstGeom prst="roundRect">
            <a:avLst>
              <a:gd name="adj" fmla="val 3842308"/>
            </a:avLst>
          </a:prstGeom>
          <a:solidFill>
            <a:srgbClr val="0099FF">
              <a:alpha val="16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181850" y="6038850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簡</a:t>
            </a:r>
            <a:r>
              <a:rPr lang="en-US" sz="975">
                <a:solidFill>
                  <a:srgbClr val="7FC4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繁雙語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029575" y="5991225"/>
            <a:ext cx="990600" cy="247650"/>
          </a:xfrm>
          <a:prstGeom prst="roundRect">
            <a:avLst>
              <a:gd name="adj" fmla="val 3842308"/>
            </a:avLst>
          </a:prstGeom>
          <a:solidFill>
            <a:srgbClr val="0099FF">
              <a:alpha val="16000"/>
            </a:srgbClr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153400" y="60388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危機壓力測試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9115425" y="5991225"/>
            <a:ext cx="742950" cy="247650"/>
          </a:xfrm>
          <a:prstGeom prst="roundRect">
            <a:avLst>
              <a:gd name="adj" fmla="val 3842308"/>
            </a:avLst>
          </a:prstGeom>
          <a:solidFill>
            <a:srgbClr val="0099FF">
              <a:alpha val="16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239250" y="60388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健康評分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828800" y="5372100"/>
            <a:ext cx="35337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三端共用同一份</a:t>
            </a:r>
            <a:r>
              <a:rPr lang="en-US" sz="10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assetlib.js + engine.js</a:t>
            </a:r>
            <a:r>
              <a:rPr lang="zh-CN" sz="10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，改一處、全端生效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058025" y="1524000"/>
            <a:ext cx="43529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核心計算是</a:t>
            </a:r>
            <a:r>
              <a:rPr lang="en-US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 xml:space="preserve"> UMD </a:t>
            </a: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模組，持倉資料不上傳任何伺服器。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058025" y="3114675"/>
            <a:ext cx="43529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網頁、小程序、本地腳本分別跑，結果可交叉驗證。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058025" y="4705350"/>
            <a:ext cx="43529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隨手查用小程序，分享用</a:t>
            </a:r>
            <a:r>
              <a:rPr lang="en-US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 xml:space="preserve"> H5</a:t>
            </a: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，批量回測用腳本。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73" name="" descr="&lt;Slide style={{ width: '1280px', height: '720px', background: '#0A1628', padding: '20px 64px', position: 'relative', display: 'flex', flexDirection: 'column' }}&gt;&#10;  &lt;Box style={{ height: 76, justifyContent: 'center' }}&gt;&#10;    &lt;Text style={{ fontSize: 34, fontWeight: 'bold', color: '#E6F0FA' }}&gt;實測：一個 4 資產組合（真實計算）&lt;/Text&gt;&#10;  &lt;/Box&gt;&#10;  &lt;Box style={{ flexDirection: 'row', gap: 36, flex: 1, alignItems: 'stretch' }}&gt;&#10;    &lt;Box style={{ flex: 38, background: 'rgba(0,153,255,0.08)', border: '1px solid rgba(0,226,198,0.22)', borderRadius: 16, padding: 28, flexDirection: 'column', justifyContent: 'center', alignItems: 'center' }}&gt;&#10;      &lt;Text style={{ fontSize: 20, color: '#E6F0FA', opacity: 0.75 }}&gt;組合健康分&lt;/Text&gt;&#10;      &lt;Text style={{ fontSize: 110, fontWeight: 'bold', color: '#0099FF', lineHeight: 1 }}&gt;62&lt;/Text&gt;&#10;      &lt;Text style={{ fontSize: 20, color: '#00E2C6', fontWeight: 'bold', marginTop: 6 }}&gt;基本穩健·有偏科&lt;/Text&gt;&#10;      &lt;Text style={{ fontSize: 16, color: '#E6F0FA', opacity: 0.7, marginTop: 14, textAlign: 'center', lineHeight: 1.5 }}&gt;波動率 17.2% → 危機情境 19.5%&lt;br /&gt;名目持倉 4 筆 · 風險有效押注 2.3&lt;br /&gt;危機下分散效果衰退 41.5%&lt;/Text&gt;&#10;    &lt;/Box&gt;&#10;    &lt;Box style={{ flex: 62, flexDirection: 'column', justifyContent: 'center', gap: 18 }}&gt;&#10;      &lt;Text style={{ fontSize: 18, color: '#E6F0FA', opacity: 0.8, marginBottom: 2 }}&gt;每類資產的風險貢獻（% of 波動）&lt;/Text&gt;&#10;      &lt;Box style={{ flexDirection: 'row', alignItems: 'center', gap: 14 }}&gt;&#10;        &lt;Text style={{ fontSize: 17, color: '#E6F0FA', width: 120 }}&gt;成長股&lt;/Text&gt;&#10;        &lt;Box style={{ flex: 1, height: 26, background: 'rgba(230,240,250,0.08)', borderRadius: 6 }}&gt;&#10;          &lt;Box style={{ width: '100%', height: 26, background: 'linear-gradient(90deg,#0099FF,#00E2C6)', borderRadius: 6 }} /&gt;&#10;        &lt;/Box&gt;&#10;        &lt;Text style={{ fontSize: 17, color: '#0099FF', fontWeight: 'bold', width: 70, textAlign: 'right' }}&gt;60.2%&lt;/Text&gt;&#10;      &lt;/Box&gt;&#10;      &lt;Box style={{ flexDirection: 'row', alignItems: 'center', gap: 14 }}&gt;&#10;        &lt;Text style={{ fontSize: 17, color: '#E6F0FA', width: 120 }}&gt;美股科技&lt;/Text&gt;&#10;        &lt;Box style={{ flex: 1, height: 26, background: 'rgba(230,240,250,0.08)', borderRadius: 6 }}&gt;&#10;          &lt;Box style={{ width: '62%', height: 26, background: 'linear-gradient(90deg,#0099FF,#00E2C6)', borderRadius: 6 }} /&gt;&#10;        &lt;/Box&gt;&#10;        &lt;Text style={{ fontSize: 17, color: '#0099FF', fontWeight: 'bold', width: 70, textAlign: 'right' }}&gt;37.4%&lt;/Text&gt;&#10;      &lt;/Box&gt;&#10;      &lt;Box style={{ flexDirection: 'row', alignItems: 'center', gap: 14 }}&gt;&#10;        &lt;Text style={{ fontSize: 17, color: '#E6F0FA', width: 120 }}&gt;黃金&lt;/Text&gt;&#10;        &lt;Box style={{ flex: 1, height: 26, background: 'rgba(230,240,250,0.08)', borderRadius: 6 }}&gt;&#10;          &lt;Box style={{ width: '6%', height: 26, background: 'linear-gradient(90deg,#0099FF,#00E2C6)', borderRadius: 6 }} /&gt;&#10;        &lt;/Box&gt;&#10;        &lt;Text style={{ fontSize: 17, color: '#00E2C6', fontWeight: 'bold', width: 70, textAlign: 'right' }}&gt;2.5%&lt;/Text&gt;&#10;      &lt;/Box&gt;&#10;      &lt;Box style={{ flexDirection: 'row', alignItems: 'center', gap: 14 }}&gt;&#10;        &lt;Text style={{ fontSize: 17, color: '#E6F0FA', width: 120 }}&gt;債券&lt;/Text&gt;&#10;        &lt;Box style={{ flex: 1, height: 26, background: 'rgba(230,240,250,0.08)', borderRadius: 6, flexDirection: 'row', justifyContent: 'flex-end' }}&gt;&#10;          &lt;Box style={{ width: '4%', height: 26, background: '#E6F0FA', opacity: 0.5, borderRadius: 6 }} /&gt;&#10;        &lt;/Box&gt;&#10;        &lt;Text style={{ fontSize: 17, color: '#E6F0FA', opacity: 0.7, fontWeight: 'bold', width: 70, textAlign: 'right' }}&gt;-0.2%&lt;/Text&gt;&#10;      &lt;/Box&gt;&#10;      &lt;Text style={{ fontSize: 17, color: '#E6F0FA', opacity: 0.85, marginTop: 4, lineHeight: 1.5 }}&gt;成長股佔 41.9% 資金卻吃掉 &lt;span style={{ color: '#0099FF', fontWeight: 'bold' }}&gt;60.2%&lt;/span&gt; 波動；債券 -0.2% 表示它在&lt;span style={{ color: '#00E2C6' }}&gt;吸收波動&lt;/span&gt;（對沖）。&lt;/Text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7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實測：一個</a:t>
            </a:r>
            <a:r>
              <a:rPr lang="en-US" sz="2550" b="1">
                <a:solidFill>
                  <a:srgbClr val="E6F0F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資產組合（真實計算）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914400"/>
            <a:ext cx="4038600" cy="5753100"/>
          </a:xfrm>
          <a:prstGeom prst="roundRect">
            <a:avLst>
              <a:gd name="adj" fmla="val 3774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981200" y="2657475"/>
            <a:ext cx="12954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099FF"/>
                </a:solidFill>
                <a:latin typeface="Microsoft YaHei"/>
                <a:ea typeface="Microsoft YaHei"/>
              </a:rPr>
              <a:t>62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924050" y="3971925"/>
            <a:ext cx="141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E2C6"/>
                </a:solidFill>
                <a:latin typeface="Microsoft YaHei"/>
                <a:ea typeface="Microsoft YaHei"/>
              </a:rPr>
              <a:t>基本穩健·有偏科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991100" y="30194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F0FA"/>
                </a:solidFill>
                <a:latin typeface="Microsoft YaHei"/>
                <a:ea typeface="Microsoft YaHei"/>
              </a:rPr>
              <a:t>成長股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267450" y="2990850"/>
            <a:ext cx="4514850" cy="247650"/>
          </a:xfrm>
          <a:prstGeom prst="roundRect">
            <a:avLst>
              <a:gd name="adj" fmla="val 23077"/>
            </a:avLst>
          </a:prstGeom>
          <a:solidFill>
            <a:srgbClr val="E6F0FA">
              <a:alpha val="8000"/>
            </a:srgbClr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267450" y="2990850"/>
            <a:ext cx="4514850" cy="24765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0915650" y="3019425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099FF"/>
                </a:solidFill>
                <a:latin typeface="Microsoft YaHei"/>
                <a:ea typeface="Microsoft YaHei"/>
              </a:rPr>
              <a:t>60.2%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991100" y="34385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F0FA"/>
                </a:solidFill>
                <a:latin typeface="Microsoft YaHei"/>
                <a:ea typeface="Microsoft YaHei"/>
              </a:rPr>
              <a:t>美股科技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267450" y="3409950"/>
            <a:ext cx="4514850" cy="247650"/>
          </a:xfrm>
          <a:prstGeom prst="roundRect">
            <a:avLst>
              <a:gd name="adj" fmla="val 23077"/>
            </a:avLst>
          </a:prstGeom>
          <a:solidFill>
            <a:srgbClr val="E6F0FA">
              <a:alpha val="8000"/>
            </a:srgbClr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267450" y="3409950"/>
            <a:ext cx="2800350" cy="24765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0915650" y="3438525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099FF"/>
                </a:solidFill>
                <a:latin typeface="Microsoft YaHei"/>
                <a:ea typeface="Microsoft YaHei"/>
              </a:rPr>
              <a:t>37.4%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991100" y="38576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F0FA"/>
                </a:solidFill>
                <a:latin typeface="Microsoft YaHei"/>
                <a:ea typeface="Microsoft YaHei"/>
              </a:rPr>
              <a:t>黃金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267450" y="3829050"/>
            <a:ext cx="4514850" cy="247650"/>
          </a:xfrm>
          <a:prstGeom prst="roundRect">
            <a:avLst>
              <a:gd name="adj" fmla="val 23077"/>
            </a:avLst>
          </a:prstGeom>
          <a:solidFill>
            <a:srgbClr val="E6F0FA">
              <a:alpha val="8000"/>
            </a:srgbClr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267450" y="3829050"/>
            <a:ext cx="266700" cy="24765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915650" y="3857625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0E2C6"/>
                </a:solidFill>
                <a:latin typeface="Microsoft YaHei"/>
                <a:ea typeface="Microsoft YaHei"/>
              </a:rPr>
              <a:t>2.5%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991100" y="42767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F0FA"/>
                </a:solidFill>
                <a:latin typeface="Microsoft YaHei"/>
                <a:ea typeface="Microsoft YaHei"/>
              </a:rPr>
              <a:t>債券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267450" y="4248150"/>
            <a:ext cx="4514850" cy="247650"/>
          </a:xfrm>
          <a:prstGeom prst="roundRect">
            <a:avLst>
              <a:gd name="adj" fmla="val 23077"/>
            </a:avLst>
          </a:prstGeom>
          <a:solidFill>
            <a:srgbClr val="E6F0FA">
              <a:alpha val="8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2152650" y="24288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6F0FA">
                    <a:alpha val="75000"/>
                  </a:srgbClr>
                </a:solidFill>
                <a:latin typeface="Microsoft YaHei"/>
                <a:ea typeface="Microsoft YaHei"/>
              </a:rPr>
              <a:t>組合健康分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485900" y="4333875"/>
            <a:ext cx="22860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波動率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17.2% → </a:t>
            </a: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危機情境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19.5%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名目持倉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筆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風險有效押注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2.3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危機下分散效果衰退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41.5%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991100" y="2590800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每類資產的風險貢獻（</a:t>
            </a:r>
            <a:r>
              <a:rPr lang="en-US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 xml:space="preserve">% of </a:t>
            </a: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波動）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10601325" y="4248150"/>
            <a:ext cx="180975" cy="247650"/>
          </a:xfrm>
          <a:prstGeom prst="roundRect">
            <a:avLst>
              <a:gd name="adj" fmla="val 31579"/>
            </a:avLst>
          </a:prstGeom>
          <a:solidFill>
            <a:srgbClr val="E6F0FA">
              <a:alpha val="50000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915650" y="4276725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-0.2%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991100" y="4705350"/>
            <a:ext cx="6591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成長股佔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41.9% 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資金卻吃掉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0099FF">
                    <a:alpha val="85000"/>
                  </a:srgbClr>
                </a:solidFill>
                <a:latin typeface="Microsoft YaHei"/>
                <a:ea typeface="Microsoft YaHei"/>
              </a:rPr>
              <a:t>60.2%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波動；債券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-0.2% 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表示它在</a:t>
            </a:r>
            <a:r>
              <a:rPr lang="zh-CN" sz="1275">
                <a:solidFill>
                  <a:srgbClr val="00E2C6">
                    <a:alpha val="85000"/>
                  </a:srgbClr>
                </a:solidFill>
                <a:latin typeface="Microsoft YaHei"/>
                <a:ea typeface="Microsoft YaHei"/>
              </a:rPr>
              <a:t>吸收波動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（對沖）。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01" name="" descr="&lt;Slide style={{ width: '1280px', height: '720px', background: '#0A1628', padding: '20px 64px', position: 'relative', display: 'flex', flexDirection: 'column' }}&gt;&#10;  &lt;Box style={{ flexDirection: 'row', gap: 36, flex: 1, alignItems: 'stretch' }}&gt;&#10;    &lt;Box style={{ flex: 40, background: 'linear-gradient(135deg,#0099FF 0%,#00E2C6 100%)', borderRadius: 16, padding: 36, flexDirection: 'column', justifyContent: 'space-between' }}&gt;&#10;      &lt;Box&gt;&#10;        &lt;Text style={{ fontSize: 42, fontWeight: 'bold', color: '#0A1628', lineHeight: 1.25 }}&gt;為什麼&lt;br /&gt;不爛大街&lt;/Text&gt;&#10;        &lt;Text style={{ fontSize: 18, color: '#0A1628', opacity: 0.82, marginTop: 20, lineHeight: 1.6 }}&gt;投資工具都在比誰會「算漲跌」，&lt;br /&gt;沒人在算「風險從哪來」。&lt;/Text&gt;&#10;      &lt;/Box&gt;&#10;      &lt;Box style={{ background: 'rgba(10,22,40,0.16)', borderRadius: 12, paddingTop: 14, paddingBottom: 14, paddingLeft: 16, paddingRight: 16 }}&gt;&#10;        &lt;Text style={{ fontSize: 16, color: '#0A1628', fontWeight: 'bold', lineHeight: 1.5 }}&gt;一句話：把「你以為分散了」&lt;br /&gt;變成「你看得懂的風險帳單」。&lt;/Text&gt;&#10;      &lt;/Box&gt;&#10;    &lt;/Box&gt;&#10;    &lt;Box style={{ flex: 60, flexDirection: 'column', justifyContent: 'space-between', borderRight: '1px solid rgba(0,226,198,0.18)', paddingRight: 20 }}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①&lt;/Text&gt;&#10;        &lt;Box style={{ flex: 1 }}&gt;&#10;          &lt;Text style={{ fontSize: 19, fontWeight: 'bold', color: '#E6F0FA', lineHeight: 1.45 }}&gt;風險歸因，不預測&lt;/Text&gt;&#10;          &lt;Text style={{ fontSize: 16, color: '#E6F0FA', opacity: 0.7, marginTop: 4, lineHeight: 1.45 }}&gt;回答「風險押在哪」，而非「明天漲跌」——不跟風做預言家。&lt;/Text&gt;&#10;        &lt;/Box&gt;&#10;      &lt;/Box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②&lt;/Text&gt;&#10;        &lt;Box style={{ flex: 1 }}&gt;&#10;          &lt;Text style={{ fontSize: 19, fontWeight: 'bold', color: '#E6F0FA', lineHeight: 1.45 }}&gt;每個數字可解釋&lt;/Text&gt;&#10;          &lt;Text style={{ fontSize: 16, color: '#E6F0FA', opacity: 0.7, marginTop: 4, lineHeight: 1.45 }}&gt;協方差矩陣、邊際風險貢獻一條條列出來，不開黑箱。&lt;/Text&gt;&#10;        &lt;/Box&gt;&#10;      &lt;/Box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③&lt;/Text&gt;&#10;        &lt;Box style={{ flex: 1 }}&gt;&#10;          &lt;Text style={{ fontSize: 19, fontWeight: 'bold', color: '#E6F0FA', lineHeight: 1.45 }}&gt;內建危機壓力測試&lt;/Text&gt;&#10;          &lt;Text style={{ fontSize: 16, color: '#E6F0FA', opacity: 0.7, marginTop: 4, lineHeight: 1.45 }}&gt;相關性只升不降，直接揭穿「假分散」的真面目。&lt;/Text&gt;&#10;        &lt;/Box&gt;&#10;      &lt;/Box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④&lt;/Text&gt;&#10;        &lt;Box style={{ flex: 1 }}&gt;&#10;          &lt;Text style={{ fontSize: 19, fontWeight: 'bold', color: '#E6F0FA', lineHeight: 1.45 }}&gt;簡 / 繁雙語輸出&lt;/Text&gt;&#10;          &lt;Text style={{ fontSize: 16, color: '#E6F0FA', opacity: 0.7, marginTop: 4, lineHeight: 1.45 }}&gt;兩岸與海外用戶都看得懂，術語在地化而非機器翻譯。&lt;/Text&gt;&#10;        &lt;/Box&gt;&#10;      &lt;/Box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⑤&lt;/Text&gt;&#10;        &lt;Box style={{ flex: 1 }}&gt;&#10;          &lt;Text style={{ fontSize: 19, fontWeight: 'bold', color: '#E6F0FA', lineHeight: 1.45 }}&gt;全本地計算&lt;/Text&gt;&#10;          &lt;Text style={{ fontSize: 16, color: '#E6F0FA', opacity: 0.7, marginTop: 4, lineHeight: 1.45 }}&gt;持倉不上傳任何伺服器，隱私自己掌控。&lt;/Text&gt;&#10;        &lt;/Box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8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609600" y="190500"/>
            <a:ext cx="4248150" cy="6477000"/>
          </a:xfrm>
          <a:prstGeom prst="roundRect">
            <a:avLst>
              <a:gd name="adj" fmla="val 3587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52500" y="533400"/>
            <a:ext cx="3562350" cy="12001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為什麼</a:t>
            </a:r>
            <a:endParaRPr/>
          </a:p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不爛大街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952500" y="5505450"/>
            <a:ext cx="3562350" cy="819150"/>
          </a:xfrm>
          <a:prstGeom prst="roundRect">
            <a:avLst>
              <a:gd name="adj" fmla="val 13953"/>
            </a:avLst>
          </a:prstGeom>
          <a:solidFill>
            <a:srgbClr val="0A1628">
              <a:alpha val="16000"/>
            </a:srgbClr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04900" y="5638800"/>
            <a:ext cx="325755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0A1628"/>
                </a:solidFill>
                <a:latin typeface="Microsoft YaHei"/>
                <a:ea typeface="Microsoft YaHei"/>
              </a:rPr>
              <a:t>一句話：把「你以為分散了」</a:t>
            </a:r>
            <a:endParaRPr/>
          </a:p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0A1628"/>
                </a:solidFill>
                <a:latin typeface="Microsoft YaHei"/>
                <a:ea typeface="Microsoft YaHei"/>
              </a:rPr>
              <a:t>變成「你看得懂的風險帳單」。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200650" y="190500"/>
            <a:ext cx="6391275" cy="6477000"/>
          </a:xfrm>
          <a:custGeom>
            <a:pathLst>
              <a:path w="671" h="680">
                <a:moveTo>
                  <a:pt x="670" y="0"/>
                </a:moveTo>
                <a:lnTo>
                  <a:pt x="671" y="0"/>
                </a:lnTo>
                <a:lnTo>
                  <a:pt x="671" y="680"/>
                </a:lnTo>
                <a:lnTo>
                  <a:pt x="670" y="680"/>
                </a:lnTo>
                <a:close/>
              </a:path>
            </a:pathLst>
          </a:custGeom>
          <a:solidFill>
            <a:srgbClr val="00E2C6">
              <a:alpha val="18000"/>
            </a:srgbClr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5200650" y="190500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334000" y="3143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734050" y="314325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風險歸因，不預測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5200650" y="1590675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334000" y="17145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734050" y="1714500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每個數字可解釋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200650" y="2990850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334000" y="31146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34050" y="3114675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內建危機壓力測試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5200650" y="4391025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334000" y="451485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34050" y="4514850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簡</a:t>
            </a:r>
            <a:r>
              <a:rPr lang="en-US" sz="1425" b="1">
                <a:solidFill>
                  <a:srgbClr val="E6F0F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繁雙語輸出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200650" y="5791200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334000" y="59150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34050" y="5915025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全本地計算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52500" y="1924050"/>
            <a:ext cx="35623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A1628">
                    <a:alpha val="82000"/>
                  </a:srgbClr>
                </a:solidFill>
                <a:latin typeface="Microsoft YaHei"/>
                <a:ea typeface="Microsoft YaHei"/>
              </a:rPr>
              <a:t>投資工具都在比誰會「算漲跌」，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0A1628">
                    <a:alpha val="82000"/>
                  </a:srgbClr>
                </a:solidFill>
                <a:latin typeface="Microsoft YaHei"/>
                <a:ea typeface="Microsoft YaHei"/>
              </a:rPr>
              <a:t>沒人在算「風險從哪來」。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734050" y="676275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回答「風險押在哪」，而非「明天漲跌」——不跟風做預言家。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734050" y="2076450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協方差矩陣、邊際風險貢獻一條條列出來，不開黑箱。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734050" y="3476625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相關性只升不降，直接揭穿「假分散」的真面目。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734050" y="4876800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兩岸與海外用戶都看得懂，術語在地化而非機器翻譯。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734050" y="6276975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持倉不上傳任何伺服器，隱私自己掌控。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31" name="" descr="&lt;Slide style={{ width: '1280px', height: '720px', background: '#0A1628', position: 'relative', overflow: 'hidden', display: 'flex', flexDirection: 'column', alignItems: 'center', justifyContent: 'center' }}&gt;&#10;  &lt;Box style={{ position: 'absolute', top: -160, left: -120, width: 560, height: 560, background: 'radial-gradient(circle, rgba(0,153,255,0.18) 0%, transparent 70%)' }} /&gt;&#10;  &lt;Box style={{ position: 'absolute', top: 84, left: 0, right: 0, flexDirection: 'row', justifyContent: 'center', gap: 14 }}&gt;&#10;    &lt;Box style={{ background: 'rgba(0,153,255,0.12)', border: '1px solid rgba(0,153,255,0.4)', borderRadius: 999, paddingTop: 8, paddingBottom: 8, paddingLeft: 20, paddingRight: 20 }}&gt;&#10;      &lt;Text style={{ fontSize: 15, color: '#7FC4FF' }}&gt;H5 網頁&lt;/Text&gt;&#10;    &lt;/Box&gt;&#10;    &lt;Box style={{ background: 'rgba(0,226,198,0.1)', border: '1px solid rgba(0,226,198,0.4)', borderRadius: 999, paddingTop: 8, paddingBottom: 8, paddingLeft: 20, paddingRight: 20 }}&gt;&#10;      &lt;Text style={{ fontSize: 15, color: '#6FE3D2' }}&gt;微信小程序&lt;/Text&gt;&#10;    &lt;/Box&gt;&#10;    &lt;Box style={{ background: 'rgba(255,214,102,0.1)', border: '1px solid rgba(255,214,102,0.35)', borderRadius: 999, paddingTop: 8, paddingBottom: 8, paddingLeft: 20, paddingRight: 20 }}&gt;&#10;      &lt;Text style={{ fontSize: 15, color: '#FFD666' }}&gt;本地腳本&lt;/Text&gt;&#10;    &lt;/Box&gt;&#10;  &lt;/Box&gt;&#10;  &lt;Box style={{ width: 880, alignItems: 'center' }}&gt;&#10;    &lt;Text style={{ fontSize: 20, color: '#00E2C6', letterSpacing: 3 }}&gt;持倉透鏡 HoldingsLens · 1024 造物挑戰&lt;/Text&gt;&#10;    &lt;Text style={{ fontSize: 56, fontWeight: 'bold', color: '#E6F0FA', marginTop: 22, lineHeight: 1.25, textAlign: 'center' }}&gt;把「風險從哪來」&lt;br /&gt;講清楚，比算準漲跌更有用&lt;/Text&gt;&#10;    &lt;Box style={{ width: 60, height: 2, background: '#0099FF', marginTop: 30 }} /&gt;&#10;    &lt;Text style={{ fontSize: 21, color: '#E6F0FA', opacity: 0.78, marginTop: 26, lineHeight: 1.7, textAlign: 'center' }}&gt;體驗方式：H5 網頁隨手查 · 微信小程序隨身帶 · 本地腳本批量回測&lt;/Text&gt;&#10;    &lt;Text style={{ fontSize: 18, color: '#E6F0FA', opacity: 0.55, marginTop: 14, textAlign: 'center' }}&gt;全本地計算 · 持倉不上傳 · 簡繁雙語&lt;/Text&gt;&#10;  &lt;/Box&gt;&#10;  &lt;Box style={{ position: 'absolute', bottom: 80, left: 0, right: 0, flexDirection: 'row', justifyContent: 'center', gap: 40 }}&gt;&#10;    &lt;Box style={{ alignItems: 'center' }}&gt;&#10;      &lt;Text style={{ fontSize: 22, fontWeight: 'bold', color: '#0099FF' }}&gt;17 類&lt;/Text&gt;&#10;      &lt;Text style={{ fontSize: 12, color: '#E6F0FA', opacity: 0.5, marginTop: 2 }}&gt;資產類別&lt;/Text&gt;&#10;    &lt;/Box&gt;&#10;    &lt;Box style={{ alignItems: 'center' }}&gt;&#10;      &lt;Text style={{ fontSize: 22, fontWeight: 'bold', color: '#00E2C6' }}&gt;136 組&lt;/Text&gt;&#10;      &lt;Text style={{ fontSize: 12, color: '#E6F0FA', opacity: 0.5, marginTop: 2 }}&gt;相關係數&lt;/Text&gt;&#10;    &lt;/Box&gt;&#10;    &lt;Box style={{ alignItems: 'center' }}&gt;&#10;      &lt;Text style={{ fontSize: 22, fontWeight: 'bold', color: '#FFD666' }}&gt;126 項&lt;/Text&gt;&#10;      &lt;Text style={{ fontSize: 12, color: '#E6F0FA', opacity: 0.5, marginTop: 2 }}&gt;不變量測試&lt;/Text&gt;&#10;    &lt;/Box&gt;&#10;    &lt;Box style={{ alignItems: 'center' }}&gt;&#10;      &lt;Text style={{ fontSize: 22, fontWeight: 'bold', color: '#7FC4FF' }}&gt;0 筆&lt;/Text&gt;&#10;      &lt;Text style={{ fontSize: 12, color: '#E6F0FA', opacity: 0.5, marginTop: 2 }}&gt;資料上傳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943350" y="1762125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00E2C6"/>
                </a:solidFill>
                <a:latin typeface="Microsoft YaHei"/>
                <a:ea typeface="Microsoft YaHei"/>
              </a:rPr>
              <a:t>持倉透鏡</a:t>
            </a:r>
            <a:r>
              <a:rPr lang="en-US" sz="1500" spc="225">
                <a:solidFill>
                  <a:srgbClr val="00E2C6"/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500" spc="225">
                <a:solidFill>
                  <a:srgbClr val="00E2C6"/>
                </a:solidFill>
                <a:latin typeface="Microsoft YaHei"/>
                <a:ea typeface="Microsoft YaHei"/>
              </a:rPr>
              <a:t>造物挑戰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2895600" y="2200275"/>
            <a:ext cx="6400800" cy="16002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200" b="1">
                <a:solidFill>
                  <a:srgbClr val="E6F0FA"/>
                </a:solidFill>
                <a:latin typeface="Microsoft YaHei"/>
                <a:ea typeface="Microsoft YaHei"/>
              </a:rPr>
              <a:t>把「風險從哪來」</a:t>
            </a:r>
            <a:endParaRPr/>
          </a:p>
          <a:p>
            <a:pPr algn="ctr">
              <a:lnSpc>
                <a:spcPct val="125000"/>
              </a:lnSpc>
            </a:pPr>
            <a:r>
              <a:rPr lang="zh-CN" sz="4200" b="1">
                <a:solidFill>
                  <a:srgbClr val="E6F0FA"/>
                </a:solidFill>
                <a:latin typeface="Microsoft YaHei"/>
                <a:ea typeface="Microsoft YaHei"/>
              </a:rPr>
              <a:t>講清楚，比算準漲跌更有用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810250" y="4086225"/>
            <a:ext cx="571500" cy="19050"/>
          </a:xfrm>
          <a:prstGeom prst="rect">
            <a:avLst/>
          </a:prstGeom>
          <a:solidFill>
            <a:srgbClr val="0099FF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-1143000" y="-1524000"/>
            <a:ext cx="5334000" cy="5334000"/>
          </a:xfrm>
          <a:custGeom>
            <a:pathLst>
              <a:path w="560" h="560">
                <a:moveTo>
                  <a:pt x="560" y="560"/>
                </a:moveTo>
                <a:lnTo>
                  <a:pt x="120" y="560"/>
                </a:lnTo>
                <a:lnTo>
                  <a:pt x="120" y="160"/>
                </a:lnTo>
                <a:lnTo>
                  <a:pt x="560" y="160"/>
                </a:lnTo>
                <a:close/>
              </a:path>
            </a:pathLst>
          </a:custGeom>
          <a:gradFill>
            <a:gsLst>
              <a:gs pos="0">
                <a:srgbClr val="0099FF">
                  <a:alpha val="1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4486275" y="800100"/>
            <a:ext cx="904875" cy="323850"/>
          </a:xfrm>
          <a:prstGeom prst="roundRect">
            <a:avLst>
              <a:gd name="adj" fmla="val 2938235"/>
            </a:avLst>
          </a:prstGeom>
          <a:solidFill>
            <a:srgbClr val="0099FF">
              <a:alpha val="12000"/>
            </a:srgbClr>
          </a:solidFill>
          <a:ln w="12700">
            <a:solidFill>
              <a:srgbClr val="0099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676775" y="876300"/>
            <a:ext cx="523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FC4FF"/>
                </a:solidFill>
                <a:latin typeface="Microsoft YaHei"/>
                <a:ea typeface="Microsoft YaHei"/>
              </a:rPr>
              <a:t xml:space="preserve">H5 </a:t>
            </a:r>
            <a:r>
              <a:rPr lang="zh-CN" sz="1125">
                <a:solidFill>
                  <a:srgbClr val="7FC4FF"/>
                </a:solidFill>
                <a:latin typeface="Microsoft YaHei"/>
                <a:ea typeface="Microsoft YaHei"/>
              </a:rPr>
              <a:t>網頁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5524500" y="800100"/>
            <a:ext cx="1095375" cy="323850"/>
          </a:xfrm>
          <a:prstGeom prst="roundRect">
            <a:avLst>
              <a:gd name="adj" fmla="val 2938235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715000" y="8763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FE3D2"/>
                </a:solidFill>
                <a:latin typeface="Microsoft YaHei"/>
                <a:ea typeface="Microsoft YaHei"/>
              </a:rPr>
              <a:t>微信小程序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753225" y="800100"/>
            <a:ext cx="952500" cy="323850"/>
          </a:xfrm>
          <a:prstGeom prst="roundRect">
            <a:avLst>
              <a:gd name="adj" fmla="val 2938235"/>
            </a:avLst>
          </a:prstGeom>
          <a:solidFill>
            <a:srgbClr val="FFD666">
              <a:alpha val="10000"/>
            </a:srgbClr>
          </a:solidFill>
          <a:ln w="12700">
            <a:solidFill>
              <a:srgbClr val="FFD66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943725" y="8763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D666"/>
                </a:solidFill>
                <a:latin typeface="Microsoft YaHei"/>
                <a:ea typeface="Microsoft YaHei"/>
              </a:rPr>
              <a:t>本地腳本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162300" y="4352925"/>
            <a:ext cx="5867400" cy="4095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>體驗方式：</a:t>
            </a:r>
            <a:r>
              <a:rPr lang="en-US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 xml:space="preserve">H5 </a:t>
            </a:r>
            <a:r>
              <a:rPr lang="zh-CN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>網頁隨手查</a:t>
            </a:r>
            <a:r>
              <a:rPr lang="en-US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>微信小程序隨身帶</a:t>
            </a:r>
            <a:r>
              <a:rPr lang="en-US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>本地腳本批量回測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752975" y="4895850"/>
            <a:ext cx="26860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全本地計算</a:t>
            </a:r>
            <a:r>
              <a:rPr lang="en-US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持倉不上傳</a:t>
            </a:r>
            <a:r>
              <a:rPr lang="en-US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簡繁雙語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362450" y="56769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99FF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650" b="1">
                <a:solidFill>
                  <a:srgbClr val="0099FF"/>
                </a:solidFill>
                <a:latin typeface="Microsoft YaHei"/>
                <a:ea typeface="Microsoft YaHei"/>
              </a:rPr>
              <a:t>類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276850" y="5676900"/>
            <a:ext cx="66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136 </a:t>
            </a:r>
            <a:r>
              <a:rPr lang="zh-CN" sz="1650" b="1">
                <a:solidFill>
                  <a:srgbClr val="00E2C6"/>
                </a:solidFill>
                <a:latin typeface="Microsoft YaHei"/>
                <a:ea typeface="Microsoft YaHei"/>
              </a:rPr>
              <a:t>組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324600" y="5676900"/>
            <a:ext cx="66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D666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1650" b="1">
                <a:solidFill>
                  <a:srgbClr val="FFD666"/>
                </a:solidFill>
                <a:latin typeface="Microsoft YaHei"/>
                <a:ea typeface="Microsoft YaHei"/>
              </a:rPr>
              <a:t>項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400925" y="5676900"/>
            <a:ext cx="409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7FC4FF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650" b="1">
                <a:solidFill>
                  <a:srgbClr val="7FC4FF"/>
                </a:solidFill>
                <a:latin typeface="Microsoft YaHei"/>
                <a:ea typeface="Microsoft YaHei"/>
              </a:rPr>
              <a:t>筆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400550" y="5953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資產類別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381625" y="5953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相關係數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372225" y="59531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不變量測試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372350" y="5953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資料上傳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2026-10-24T11:31:07Z</dcterms:created>
  <dcterms:modified xsi:type="dcterms:W3CDTF">2026-10-24T11:31:07Z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{"AIGC":{"Label":"1","ContentProducer":"00119111010856365494821B355","ProduceID":"01a1681cc73d759d925fcb77103abc3c","ReservedCode1":"","ContentPropagator":"00119111010856365494821B355","PropagateID":"01a1681cc73d759d925fcb77103abc3c","ReservedCode2":""}}</vt:lpwstr>
  </property>
</Properties>
</file>