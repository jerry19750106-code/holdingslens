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svg" ContentType="image/svg+xml"/>
  <Override PartName="/ppt/slides/slide2.xml" ContentType="application/vnd.openxmlformats-officedocument.presentationml.slide+xml"/>
  <Override PartName="/ppt/presentation.xml" ContentType="application/vnd.openxmlformats-officedocument.presentationml.presentation.main+xml"/>
  <Override PartName="/docProps/custom.xml" ContentType="application/vnd.openxmlformats-officedocument.custom-properties+xml"/>
  <Override PartName="/docProps/core.xml" ContentType="application/vnd.openxmlformats-package.core-properties+xml"/>
  <Override PartName="/ppt/slides/slide1.xml" ContentType="application/vnd.openxmlformats-officedocument.presentationml.slide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Masters/slideMaster1.xml" ContentType="application/vnd.openxmlformats-officedocument.presentationml.slideMaster+xml"/>
  <Override PartName="/ppt/presProps.xml" ContentType="application/vnd.openxmlformats-officedocument.presentationml.presProps+xml"/>
  <Override PartName="/ppt/notesMasters/notesMaster1.xml" ContentType="application/vnd.openxmlformats-officedocument.presentationml.notesMaster+xml"/>
  <Override PartName="/ppt/tableStyles.xml" ContentType="application/vnd.openxmlformats-officedocument.presentationml.tableStyles+xml"/>
  <Override PartName="/ppt/slides/slide3.xml" ContentType="application/vnd.openxmlformats-officedocument.presentationml.slide+xml"/>
  <Override PartName="/ppt/slides/slide7.xml" ContentType="application/vnd.openxmlformats-officedocument.presentationml.slide+xml"/>
  <Override PartName="/ppt/viewProps.xml" ContentType="application/vnd.openxmlformats-officedocument.presentationml.viewProps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heme/theme1.xml" ContentType="application/vnd.openxmlformats-officedocument.theme+xml"/>
  <Override PartName="/ppt/theme/theme2.xml" ContentType="application/vnd.openxmlformats-officedocument.theme+xml"/>
</Types>
</file>

<file path=_rels/.rels><?xml version="1.0" encoding="UTF-8" standalone="yes"?><Relationships xmlns="http://schemas.openxmlformats.org/package/2006/relationships"><Relationship Id="rId0" Type="http://schemas.openxmlformats.org/officeDocument/2006/relationships/officeDocument" Target="ppt/presentation.xml" /><Relationship Id="rId1" Type="http://schemas.openxmlformats.org/package/2006/relationships/metadata/core-properties" Target="docProps/core.xml" /><Relationship Id="rId3" Type="http://schemas.openxmlformats.org/officeDocument/2006/relationships/custom-properties" Target="docProps/custom.xml" /><Relationship Id="rId2" Type="http://schemas.openxmlformats.org/officeDocument/2006/relationships/extended-properties" Target="docProps/app.xml" /></Relationships>
</file>

<file path=ppt/presentation.xml><?xml version="1.0" encoding="utf-8"?>
<p:presentation xmlns:p="http://schemas.openxmlformats.org/presentationml/2006/main" xmlns:a="http://schemas.openxmlformats.org/drawingml/2006/main" xmlns:r="http://schemas.openxmlformats.org/officeDocument/2006/relationships" firstSlideNum="1">
  <p:sldMasterIdLst>
    <p:sldMasterId id="2147483648" r:id="rId0"/>
  </p:sldMasterIdLst>
  <p:notesMasterIdLst>
    <p:notesMasterId r:id="rId10"/>
  </p:notesMasterIdLst>
  <p:sldIdLst>
    <p:sldId id="256" r:id="rId1"/>
    <p:sldId id="257" r:id="rId2"/>
    <p:sldId id="258" r:id="rId3"/>
    <p:sldId id="259" r:id="rId4"/>
    <p:sldId id="260" r:id="rId5"/>
    <p:sldId id="261" r:id="rId6"/>
    <p:sldId id="262" r:id="rId7"/>
    <p:sldId id="263" r:id="rId8"/>
    <p:sldId id="264" r:id="rId9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uri="{E76CE94A-603C-4142-B9EB-6D1370010A27}"/>
    <p:ext uri="{D31A062A-798A-4329-ABDD-BBA856620510}"/>
    <p:ext uri="{FD5EFAAD-0ECE-453E-9831-46B23BE46B34}"/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 xmlns:a="http://schemas.openxmlformats.org/drawing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27" d="100"/>
          <a:sy n="127" d="100"/>
        </p:scale>
        <p:origin x="536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0" Type="http://schemas.openxmlformats.org/officeDocument/2006/relationships/slideMaster" Target="slideMasters/slideMaster1.xml" /><Relationship Id="rId2" Type="http://schemas.openxmlformats.org/officeDocument/2006/relationships/slide" Target="slides/slide2.xml" /><Relationship Id="rId1" Type="http://schemas.openxmlformats.org/officeDocument/2006/relationships/slide" Target="slides/slide1.xml" /><Relationship Id="rId11" Type="http://schemas.openxmlformats.org/officeDocument/2006/relationships/presProps" Target="presProps.xml" /><Relationship Id="rId10" Type="http://schemas.openxmlformats.org/officeDocument/2006/relationships/notesMaster" Target="notesMasters/notesMaster1.xml" /><Relationship Id="rId12" Type="http://schemas.openxmlformats.org/officeDocument/2006/relationships/tableStyles" Target="tableStyles.xml" /><Relationship Id="rId3" Type="http://schemas.openxmlformats.org/officeDocument/2006/relationships/slide" Target="slides/slide3.xml" /><Relationship Id="rId13" Type="http://schemas.openxmlformats.org/officeDocument/2006/relationships/viewProps" Target="viewProps.xml" /><Relationship Id="rId4" Type="http://schemas.openxmlformats.org/officeDocument/2006/relationships/slide" Target="slides/slide4.xml" /><Relationship Id="rId5" Type="http://schemas.openxmlformats.org/officeDocument/2006/relationships/slide" Target="slides/slide5.xml" /><Relationship Id="rId6" Type="http://schemas.openxmlformats.org/officeDocument/2006/relationships/slide" Target="slides/slide6.xml" /><Relationship Id="rId7" Type="http://schemas.openxmlformats.org/officeDocument/2006/relationships/slide" Target="slides/slide7.xml" /><Relationship Id="rId8" Type="http://schemas.openxmlformats.org/officeDocument/2006/relationships/slide" Target="slides/slide8.xml" /><Relationship Id="rId9" Type="http://schemas.openxmlformats.org/officeDocument/2006/relationships/slide" Target="slides/slide9.xml" /></Relationships>
</file>

<file path=ppt/notesMasters/_rels/notesMaster1.xml.rels><?xml version="1.0" encoding="UTF-8" standalone="yes"?><Relationships xmlns="http://schemas.openxmlformats.org/package/2006/relationships"><Relationship Id="rId0" Type="http://schemas.openxmlformats.org/officeDocument/2006/relationships/theme" Target="../theme/theme2.xml" /></Relationships>
</file>

<file path=ppt/notesMasters/notesMaster1.xml><?xml version="1.0" encoding="utf-8"?>
<p:notesMaster xmlns:p="http://schemas.openxmlformats.org/presentationml/2006/main" xmlns:a="http://schemas.openxmlformats.org/drawing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<Relationships xmlns="http://schemas.openxmlformats.org/package/2006/relationships"><Relationship Id="rId0" Type="http://schemas.openxmlformats.org/officeDocument/2006/relationships/slideMaster" Target="../slideMasters/slideMaster1.xml" /></Relationships>
</file>

<file path=ppt/slideLayouts/slideLayout1.xml><?xml version="1.0" encoding="utf-8"?>
<p:sldLayout xmlns:p="http://schemas.openxmlformats.org/presentationml/2006/main" xmlns:a="http://schemas.openxmlformats.org/drawing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1" Type="http://schemas.openxmlformats.org/officeDocument/2006/relationships/theme" Target="../theme/theme1.xml" /></Relationships>
</file>

<file path=ppt/slideMasters/slideMaster1.xml><?xml version="1.0" encoding="utf-8"?>
<p:sldMaster xmlns:p="http://schemas.openxmlformats.org/presentationml/2006/main" xmlns:a="http://schemas.openxmlformats.org/drawing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0"/>
  </p:sldLayoutIdLst>
  <p:hf sldNum="0" hdr="0" ftr="0" dt="0"/>
  <p:txStyles>
    <p:titleStyle>
      <a:lvl1pPr algn="ctr" defTabSz="914400" rtl="0" eaLnBrk="1" latinLnBrk="0" hangingPunct="1">
        <a:spcBef>
          <a:spcPct val="1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image" Target="media/image1.svg" /><Relationship Id="rId0" Type="http://schemas.openxmlformats.org/officeDocument/2006/relationships/slideLayout" Target="../slideLayouts/slideLayout1.xml" /><Relationship Id="rId2" Type="http://schemas.openxmlformats.org/officeDocument/2006/relationships/image" Target="media/image2.svg" /></Relationships>
</file>

<file path=ppt/slides/_rels/slide2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1" Type="http://schemas.openxmlformats.org/officeDocument/2006/relationships/image" Target="media/image3.svg" /></Relationships>
</file>

<file path=ppt/slides/_rels/slide3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_rels/slide4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_rels/slide5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_rels/slide6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1" Type="http://schemas.openxmlformats.org/officeDocument/2006/relationships/image" Target="media/image4.svg" /></Relationships>
</file>

<file path=ppt/slides/_rels/slide7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_rels/slide8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_rels/slide9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slide1.xml><?xml version="1.0" encoding="utf-8"?>
<p:sld xmlns:p="http://schemas.openxmlformats.org/presentationml/2006/main" xmlns:a="http://schemas.openxmlformats.org/drawingml/2006/main" xmlns:asvg="http://schemas.microsoft.com/office/drawing/2016/SVG/main" xmlns:r="http://schemas.openxmlformats.org/officeDocument/2006/relationships" xmlns:mc="http://schemas.openxmlformats.org/markup-compatibility/2006" mc:Ignorable="asvg">
  <p:cSld>
    <p:spTree>
      <p:nvGrpSpPr>
        <p:cNvPr id="1" name="" descr="&lt;Slide style={{ width: '1280px', height: '720px', background: '#0A1628', position: 'relative', overflow: 'hidden' }}&gt;&#10;  &lt;Box style={{ position: 'absolute', top: -140, right: -100, width: 560, height: 560, background: 'radial-gradient(circle, rgba(0,153,255,0.20) 0%, transparent 70%)' }} /&gt;&#10;  &lt;Box style={{ position: 'absolute', right: 120, top: 90, width: 340, height: 340 }}&gt;&#10;    &lt;svg width={340} height={340} viewBox='0 0 370 370'&gt;&#10;      &lt;circle cx='185' cy='185' r='175' fill='rgba(0,153,255,0.05)' /&gt;&#10;      &lt;circle cx='185' cy='185' r='175' fill='none' stroke='#0099FF' strokeWidth='1' opacity='0.22' /&gt;&#10;      &lt;circle cx='185' cy='185' r='135' fill='none' stroke='#00E2C6' strokeWidth='1' opacity='0.28' /&gt;&#10;      &lt;circle cx='185' cy='185' r='95' fill='none' stroke='#0099FF' strokeWidth='2' opacity='0.5' /&gt;&#10;      &lt;circle cx='185' cy='185' r='54' fill='rgba(0,153,255,0.14)' /&gt;&#10;      &lt;circle cx='185' cy='185' r='7' fill='#00E2C6' /&gt;&#10;      &lt;line x1='185' y1='10' x2='185' y2='360' stroke='#0099FF' strokeWidth='1' opacity='0.12' /&gt;&#10;      &lt;line x1='10' y1='185' x2='360' y2='185' stroke='#0099FF' strokeWidth='1' opacity='0.12' /&gt;&#10;    &lt;/svg&gt;&#10;  &lt;/Box&gt;&#10;  &lt;Box style={{ position: 'absolute', right: 64, bottom: 96, width: 236, background: 'rgba(10,22,40,0.72)', border: '1px solid rgba(0,153,255,0.35)', borderRadius: 16, paddingTop: 18, paddingBottom: 18, paddingLeft: 18, paddingRight: 18, flexDirection: 'row', alignItems: 'center', gap: 16 }}&gt;&#10;    &lt;svg width={76} height={76} viewBox='0 0 76 76'&gt;&#10;      &lt;circle cx='38' cy='38' r='32' fill='none' stroke='rgba(0,153,255,0.18)' strokeWidth='7' /&gt;&#10;      &lt;circle cx='38' cy='38' r='32' fill='none' stroke='#00E2C6' strokeWidth='7' strokeLinecap='round' strokeDasharray='110.6 90.5' transform='rotate(-90 38 38)' /&gt;&#10;      &lt;text x='38' y='44' fill='#E6F0FA' fontSize='19' fontWeight='bold' textAnchor='middle'&gt;62&lt;/text&gt;&#10;    &lt;/svg&gt;&#10;    &lt;Box&gt;&#10;      &lt;Text style={{ fontSize: 15, color: '#E6F0FA', fontWeight: 'bold' }}&gt;結構健康評分&lt;/Text&gt;&#10;      &lt;Text style={{ fontSize: 13, color: '#7FC4FF', marginTop: 4 }}&gt;基本穩健·有偏科&lt;/Text&gt;&#10;      &lt;Text style={{ fontSize: 12, color: '#E6F0FA', opacity: 0.5, marginTop: 4 }}&gt;示例：4 檔持倉實測&lt;/Text&gt;&#10;    &lt;/Box&gt;&#10;  &lt;/Box&gt;&#10;  &lt;Box style={{ position: 'absolute', left: 90, top: 150, width: 700 }}&gt;&#10;    &lt;Text style={{ fontSize: 18, color: '#00E2C6', letterSpacing: 3 }}&gt;1024 造物挑戰 · 投稿作品&lt;/Text&gt;&#10;    &lt;Text style={{ fontSize: 70, fontWeight: 'bold', color: '#E6F0FA', marginTop: 16, lineHeight: 1.12 }}&gt;持倉透鏡&lt;br /&gt;HoldingsLens&lt;/Text&gt;&#10;    &lt;Text style={{ fontSize: 23, color: '#E6F0FA', opacity: 0.72, marginTop: 26, lineHeight: 1.6 }}&gt;不只看賺多少，&lt;span style={{ color: '#0099FF', fontWeight: 'bold' }}&gt;更看風險從哪來&lt;/span&gt;。&lt;br /&gt;一套把組合風險來源拆開給你看的工具。&lt;/Text&gt;&#10;  &lt;/Box&gt;&#10;  &lt;Box style={{ position: 'absolute', left: 90, top: 470, width: 730, flexDirection: 'row', gap: 12 }}&gt;&#10;    &lt;Box style={{ background: 'rgba(0,153,255,0.14)', border: '1px solid rgba(0,153,255,0.45)', borderRadius: 999, paddingTop: 7, paddingBottom: 7, paddingLeft: 16, paddingRight: 16 }}&gt;&#10;      &lt;Text style={{ fontSize: 15, color: '#7FC4FF' }}&gt;風險貢獻歸因&lt;/Text&gt;&#10;    &lt;/Box&gt;&#10;    &lt;Box style={{ background: 'rgba(0,226,198,0.12)', border: '1px solid rgba(0,226,198,0.45)', borderRadius: 999, paddingTop: 7, paddingBottom: 7, paddingLeft: 16, paddingRight: 16 }}&gt;&#10;      &lt;Text style={{ fontSize: 15, color: '#6FE3D2' }}&gt;危機壓力測試&lt;/Text&gt;&#10;    &lt;/Box&gt;&#10;    &lt;Box style={{ background: 'rgba(255,214,102,0.12)', border: '1px solid rgba(255,214,102,0.4)', borderRadius: 999, paddingTop: 7, paddingBottom: 7, paddingLeft: 16, paddingRight: 16 }}&gt;&#10;      &lt;Text style={{ fontSize: 15, color: '#FFD666' }}&gt;持倉重疊偵測&lt;/Text&gt;&#10;    &lt;/Box&gt;&#10;    &lt;Box style={{ background: 'rgba(0,153,255,0.14)', border: '1px solid rgba(0,153,255,0.45)', borderRadius: 999, paddingTop: 7, paddingBottom: 7, paddingLeft: 16, paddingRight: 16 }}&gt;&#10;      &lt;Text style={{ fontSize: 15, color: '#7FC4FF' }}&gt;結構健康評分&lt;/Text&gt;&#10;    &lt;/Box&gt;&#10;  &lt;/Box&gt;&#10;  &lt;Box style={{ position: 'absolute', left: 90, top: 540, width: 730, flexDirection: 'row', gap: 44 }}&gt;&#10;    &lt;Box&gt;&#10;      &lt;Text style={{ fontSize: 27, fontWeight: 'bold', color: '#0099FF' }}&gt;17 類&lt;/Text&gt;&#10;      &lt;Text style={{ fontSize: 13, color: '#E6F0FA', opacity: 0.55, marginTop: 2 }}&gt;資產類別&lt;/Text&gt;&#10;    &lt;/Box&gt;&#10;    &lt;Box&gt;&#10;      &lt;Text style={{ fontSize: 27, fontWeight: 'bold', color: '#00E2C6' }}&gt;136 組&lt;/Text&gt;&#10;      &lt;Text style={{ fontSize: 13, color: '#E6F0FA', opacity: 0.55, marginTop: 2 }}&gt;相關係數&lt;/Text&gt;&#10;    &lt;/Box&gt;&#10;    &lt;Box&gt;&#10;      &lt;Text style={{ fontSize: 27, fontWeight: 'bold', color: '#FFD666' }}&gt;126 項&lt;/Text&gt;&#10;      &lt;Text style={{ fontSize: 13, color: '#E6F0FA', opacity: 0.55, marginTop: 2 }}&gt;不變量測試&lt;/Text&gt;&#10;    &lt;/Box&gt;&#10;    &lt;Box&gt;&#10;      &lt;Text style={{ fontSize: 27, fontWeight: 'bold', color: '#7FC4FF' }}&gt;3 端&lt;/Text&gt;&#10;      &lt;Text style={{ fontSize: 13, color: '#E6F0FA', opacity: 0.55, marginTop: 2 }}&gt;網頁 / 小程序 / 腳本&lt;/Text&gt;&#10;    &lt;/Box&gt;&#10;  &lt;/Box&gt;&#10;  &lt;Box style={{ position: 'absolute', left: 90, bottom: 60, width: 700, flexDirection: 'row', alignItems: 'center', gap: 14 }}&gt;&#10;    &lt;Box style={{ width: 40, height: 2, background: '#0099FF' }} /&gt;&#10;    &lt;Text style={{ fontSize: 17, color: '#E6F0FA', opacity: 0.6 }}&gt;H5 網頁 · 微信小程序 · 全本地計算，不上傳你的持倉&lt;/Text&gt;&#10;  &lt;/Box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0A1628"/>
          </a:solidFill>
          <a:ln/>
        </p:spPr>
        <p:txBody>
          <a:bodyPr/>
          <a:p/>
        </p:txBody>
      </p:sp>
      <p:sp>
        <p:nvSpPr>
          <p:cNvPr id="3" name=""/>
          <p:cNvSpPr/>
          <p:nvPr/>
        </p:nvSpPr>
        <p:spPr>
          <a:xfrm rot="0" flipH="0" flipV="0">
            <a:off x="7810500" y="-1333500"/>
            <a:ext cx="5334000" cy="5334000"/>
          </a:xfrm>
          <a:custGeom>
            <a:pathLst>
              <a:path w="560" h="560">
                <a:moveTo>
                  <a:pt x="460" y="560"/>
                </a:moveTo>
                <a:lnTo>
                  <a:pt x="0" y="560"/>
                </a:lnTo>
                <a:lnTo>
                  <a:pt x="0" y="140"/>
                </a:lnTo>
                <a:lnTo>
                  <a:pt x="460" y="140"/>
                </a:lnTo>
                <a:close/>
              </a:path>
            </a:pathLst>
          </a:custGeom>
          <a:gradFill>
            <a:gsLst>
              <a:gs pos="0">
                <a:srgbClr val="0099FF">
                  <a:alpha val="20000"/>
                </a:srgbClr>
              </a:gs>
              <a:gs pos="70000">
                <a:srgbClr val="FFFFFF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/>
        </p:spPr>
        <p:txBody>
          <a:bodyPr/>
          <a:p/>
        </p:txBody>
      </p:sp>
      <p:pic>
        <p:nvPicPr>
          <p:cNvPr id="4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1"/>
              </a:ext>
            </a:extLst>
          </a:blip>
          <a:stretch>
            <a:fillRect/>
          </a:stretch>
        </p:blipFill>
        <p:spPr>
          <a:xfrm rot="0" flipH="0" flipV="0">
            <a:off x="7810500" y="857250"/>
            <a:ext cx="3238500" cy="3238500"/>
          </a:xfrm>
          <a:prstGeom prst="rect">
            <a:avLst/>
          </a:prstGeom>
          <a:ln/>
        </p:spPr>
      </p:pic>
      <p:sp>
        <p:nvSpPr>
          <p:cNvPr id="5" name=""/>
          <p:cNvSpPr/>
          <p:nvPr/>
        </p:nvSpPr>
        <p:spPr>
          <a:xfrm rot="0" flipH="0" flipV="0">
            <a:off x="9334500" y="4876800"/>
            <a:ext cx="2247900" cy="1066800"/>
          </a:xfrm>
          <a:prstGeom prst="roundRect">
            <a:avLst>
              <a:gd name="adj" fmla="val 14286"/>
            </a:avLst>
          </a:prstGeom>
          <a:solidFill>
            <a:srgbClr val="0A1628">
              <a:alpha val="72000"/>
            </a:srgbClr>
          </a:solidFill>
          <a:ln w="12700">
            <a:solidFill>
              <a:srgbClr val="0099FF">
                <a:alpha val="35000"/>
              </a:srgbClr>
            </a:solidFill>
            <a:prstDash val="solid"/>
          </a:ln>
        </p:spPr>
        <p:txBody>
          <a:bodyPr/>
          <a:p/>
        </p:txBody>
      </p:sp>
      <p:pic>
        <p:nvPicPr>
          <p:cNvPr id="6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2"/>
              </a:ext>
            </a:extLst>
          </a:blip>
          <a:stretch>
            <a:fillRect/>
          </a:stretch>
        </p:blipFill>
        <p:spPr>
          <a:xfrm rot="0" flipH="0" flipV="0">
            <a:off x="9505950" y="5048250"/>
            <a:ext cx="723900" cy="723900"/>
          </a:xfrm>
          <a:prstGeom prst="rect">
            <a:avLst/>
          </a:prstGeom>
          <a:ln/>
        </p:spPr>
      </p:pic>
      <p:sp>
        <p:nvSpPr>
          <p:cNvPr id="7" name="" descr="{&quot;isTemplate&quot;:true,&quot;type&quot;:&quot;text&quot;}"/>
          <p:cNvSpPr txBox="1"/>
          <p:nvPr/>
        </p:nvSpPr>
        <p:spPr>
          <a:xfrm rot="0" flipH="0" flipV="0">
            <a:off x="10382250" y="5143500"/>
            <a:ext cx="101917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 b="1">
                <a:solidFill>
                  <a:srgbClr val="E6F0FA"/>
                </a:solidFill>
                <a:latin typeface="Microsoft YaHei"/>
                <a:ea typeface="Microsoft YaHei"/>
              </a:rPr>
              <a:t>結構健康評分</a:t>
            </a:r>
            <a:endParaRPr/>
          </a:p>
        </p:txBody>
      </p:sp>
      <p:sp>
        <p:nvSpPr>
          <p:cNvPr id="8" name="" descr="{&quot;isTemplate&quot;:true,&quot;type&quot;:&quot;text&quot;}"/>
          <p:cNvSpPr txBox="1"/>
          <p:nvPr/>
        </p:nvSpPr>
        <p:spPr>
          <a:xfrm rot="0" flipH="0" flipV="0">
            <a:off x="10382250" y="5353050"/>
            <a:ext cx="1019175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7FC4FF"/>
                </a:solidFill>
                <a:latin typeface="Microsoft YaHei"/>
                <a:ea typeface="Microsoft YaHei"/>
              </a:rPr>
              <a:t>基本穩健·有偏科</a:t>
            </a:r>
            <a:endParaRPr/>
          </a:p>
        </p:txBody>
      </p:sp>
      <p:sp>
        <p:nvSpPr>
          <p:cNvPr id="9" name="" descr="{&quot;isTemplate&quot;:true,&quot;type&quot;:&quot;text&quot;}"/>
          <p:cNvSpPr txBox="1"/>
          <p:nvPr/>
        </p:nvSpPr>
        <p:spPr>
          <a:xfrm rot="0" flipH="0" flipV="0">
            <a:off x="10382250" y="5543550"/>
            <a:ext cx="1019175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00">
                <a:solidFill>
                  <a:srgbClr val="E6F0FA">
                    <a:alpha val="50000"/>
                  </a:srgbClr>
                </a:solidFill>
                <a:latin typeface="Microsoft YaHei"/>
                <a:ea typeface="Microsoft YaHei"/>
              </a:rPr>
              <a:t>示例：</a:t>
            </a:r>
            <a:r>
              <a:rPr lang="en-US" sz="900">
                <a:solidFill>
                  <a:srgbClr val="E6F0FA">
                    <a:alpha val="50000"/>
                  </a:srgbClr>
                </a:solidFill>
                <a:latin typeface="Microsoft YaHei"/>
                <a:ea typeface="Microsoft YaHei"/>
              </a:rPr>
              <a:t xml:space="preserve">4 </a:t>
            </a:r>
            <a:r>
              <a:rPr lang="zh-CN" sz="900">
                <a:solidFill>
                  <a:srgbClr val="E6F0FA">
                    <a:alpha val="50000"/>
                  </a:srgbClr>
                </a:solidFill>
                <a:latin typeface="Microsoft YaHei"/>
                <a:ea typeface="Microsoft YaHei"/>
              </a:rPr>
              <a:t>檔持倉實測</a:t>
            </a:r>
            <a:endParaRPr/>
          </a:p>
        </p:txBody>
      </p:sp>
      <p:sp>
        <p:nvSpPr>
          <p:cNvPr id="10" name="" descr="{&quot;isTemplate&quot;:true,&quot;type&quot;:&quot;text&quot;}"/>
          <p:cNvSpPr txBox="1"/>
          <p:nvPr/>
        </p:nvSpPr>
        <p:spPr>
          <a:xfrm rot="0" flipH="0" flipV="0">
            <a:off x="857250" y="1428750"/>
            <a:ext cx="666750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350" spc="225">
                <a:solidFill>
                  <a:srgbClr val="00E2C6"/>
                </a:solidFill>
                <a:latin typeface="Microsoft YaHei"/>
                <a:ea typeface="Microsoft YaHei"/>
              </a:rPr>
              <a:t xml:space="preserve">1024 </a:t>
            </a:r>
            <a:r>
              <a:rPr lang="zh-CN" sz="1350" spc="225">
                <a:solidFill>
                  <a:srgbClr val="00E2C6"/>
                </a:solidFill>
                <a:latin typeface="Microsoft YaHei"/>
                <a:ea typeface="Microsoft YaHei"/>
              </a:rPr>
              <a:t>造物挑戰</a:t>
            </a:r>
            <a:r>
              <a:rPr lang="en-US" sz="1350" spc="225">
                <a:solidFill>
                  <a:srgbClr val="00E2C6"/>
                </a:solidFill>
                <a:latin typeface="Microsoft YaHei"/>
                <a:ea typeface="Microsoft YaHei"/>
              </a:rPr>
              <a:t xml:space="preserve"> · </a:t>
            </a:r>
            <a:r>
              <a:rPr lang="zh-CN" sz="1350" spc="225">
                <a:solidFill>
                  <a:srgbClr val="00E2C6"/>
                </a:solidFill>
                <a:latin typeface="Microsoft YaHei"/>
                <a:ea typeface="Microsoft YaHei"/>
              </a:rPr>
              <a:t>投稿作品</a:t>
            </a:r>
            <a:endParaRPr/>
          </a:p>
        </p:txBody>
      </p:sp>
      <p:sp>
        <p:nvSpPr>
          <p:cNvPr id="11" name="" descr="{&quot;isTemplate&quot;:true,&quot;type&quot;:&quot;text&quot;}"/>
          <p:cNvSpPr txBox="1"/>
          <p:nvPr/>
        </p:nvSpPr>
        <p:spPr>
          <a:xfrm rot="0" flipH="0" flipV="0">
            <a:off x="857250" y="1790700"/>
            <a:ext cx="6667500" cy="1800225"/>
          </a:xfrm>
          <a:prstGeom prst="rect"/>
        </p:spPr>
        <p:txBody>
          <a:bodyPr wrap="none" lIns="0" tIns="0" rIns="0" bIns="0"/>
          <a:p>
            <a:pPr>
              <a:lnSpc>
                <a:spcPct val="112000"/>
              </a:lnSpc>
            </a:pPr>
            <a:r>
              <a:rPr lang="zh-CN" sz="5250" b="1">
                <a:solidFill>
                  <a:srgbClr val="E6F0FA"/>
                </a:solidFill>
                <a:latin typeface="Microsoft YaHei"/>
                <a:ea typeface="Microsoft YaHei"/>
              </a:rPr>
              <a:t>持倉透鏡</a:t>
            </a:r>
            <a:endParaRPr/>
          </a:p>
          <a:p>
            <a:pPr>
              <a:lnSpc>
                <a:spcPct val="112000"/>
              </a:lnSpc>
            </a:pPr>
            <a:r>
              <a:rPr lang="en-US" sz="5250" b="1">
                <a:solidFill>
                  <a:srgbClr val="E6F0FA"/>
                </a:solidFill>
                <a:latin typeface="Microsoft YaHei"/>
                <a:ea typeface="Microsoft YaHei"/>
              </a:rPr>
              <a:t>HoldingsLens</a:t>
            </a:r>
            <a:endParaRPr/>
          </a:p>
        </p:txBody>
      </p:sp>
      <p:sp>
        <p:nvSpPr>
          <p:cNvPr id="12" name="" descr="{&quot;isTemplate&quot;:true,&quot;type&quot;:&quot;text&quot;}"/>
          <p:cNvSpPr txBox="1"/>
          <p:nvPr/>
        </p:nvSpPr>
        <p:spPr>
          <a:xfrm rot="0" flipH="0" flipV="0">
            <a:off x="857250" y="3838575"/>
            <a:ext cx="6667500" cy="847725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zh-CN" sz="1725">
                <a:solidFill>
                  <a:srgbClr val="E6F0FA">
                    <a:alpha val="72000"/>
                  </a:srgbClr>
                </a:solidFill>
                <a:latin typeface="Microsoft YaHei"/>
                <a:ea typeface="Microsoft YaHei"/>
              </a:rPr>
              <a:t>不只看賺多少，</a:t>
            </a:r>
            <a:r>
              <a:rPr lang="zh-CN" sz="1725" b="1">
                <a:solidFill>
                  <a:srgbClr val="0099FF">
                    <a:alpha val="72000"/>
                  </a:srgbClr>
                </a:solidFill>
                <a:latin typeface="Microsoft YaHei"/>
                <a:ea typeface="Microsoft YaHei"/>
              </a:rPr>
              <a:t>更看風險從哪來</a:t>
            </a:r>
            <a:r>
              <a:rPr lang="zh-CN" sz="1725">
                <a:solidFill>
                  <a:srgbClr val="E6F0FA">
                    <a:alpha val="72000"/>
                  </a:srgbClr>
                </a:solidFill>
                <a:latin typeface="Microsoft YaHei"/>
                <a:ea typeface="Microsoft YaHei"/>
              </a:rPr>
              <a:t>。</a:t>
            </a:r>
            <a:endParaRPr/>
          </a:p>
          <a:p>
            <a:pPr>
              <a:lnSpc>
                <a:spcPct val="160000"/>
              </a:lnSpc>
            </a:pPr>
            <a:r>
              <a:rPr lang="zh-CN" sz="1725">
                <a:solidFill>
                  <a:srgbClr val="E6F0FA">
                    <a:alpha val="72000"/>
                  </a:srgbClr>
                </a:solidFill>
                <a:latin typeface="Microsoft YaHei"/>
                <a:ea typeface="Microsoft YaHei"/>
              </a:rPr>
              <a:t>一套把組合風險來源拆開給你看的工具。</a:t>
            </a:r>
            <a:endParaRPr/>
          </a:p>
        </p:txBody>
      </p:sp>
      <p:sp>
        <p:nvSpPr>
          <p:cNvPr id="13" name=""/>
          <p:cNvSpPr/>
          <p:nvPr/>
        </p:nvSpPr>
        <p:spPr>
          <a:xfrm rot="0" flipH="0" flipV="0">
            <a:off x="857250" y="4476750"/>
            <a:ext cx="1162050" cy="304800"/>
          </a:xfrm>
          <a:prstGeom prst="roundRect">
            <a:avLst>
              <a:gd name="adj" fmla="val 3121875"/>
            </a:avLst>
          </a:prstGeom>
          <a:solidFill>
            <a:srgbClr val="0099FF">
              <a:alpha val="14000"/>
            </a:srgbClr>
          </a:solidFill>
          <a:ln w="12700">
            <a:solidFill>
              <a:srgbClr val="0099FF">
                <a:alpha val="45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4" name="" descr="{&quot;isTemplate&quot;:true,&quot;type&quot;:&quot;text&quot;}"/>
          <p:cNvSpPr txBox="1"/>
          <p:nvPr/>
        </p:nvSpPr>
        <p:spPr>
          <a:xfrm rot="0" flipH="0" flipV="0">
            <a:off x="1009650" y="4543425"/>
            <a:ext cx="85725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7FC4FF"/>
                </a:solidFill>
                <a:latin typeface="Microsoft YaHei"/>
                <a:ea typeface="Microsoft YaHei"/>
              </a:rPr>
              <a:t>風險貢獻歸因</a:t>
            </a:r>
            <a:endParaRPr/>
          </a:p>
        </p:txBody>
      </p:sp>
      <p:sp>
        <p:nvSpPr>
          <p:cNvPr id="15" name=""/>
          <p:cNvSpPr/>
          <p:nvPr/>
        </p:nvSpPr>
        <p:spPr>
          <a:xfrm rot="0" flipH="0" flipV="0">
            <a:off x="2133600" y="4476750"/>
            <a:ext cx="1162050" cy="304800"/>
          </a:xfrm>
          <a:prstGeom prst="roundRect">
            <a:avLst>
              <a:gd name="adj" fmla="val 3121875"/>
            </a:avLst>
          </a:prstGeom>
          <a:solidFill>
            <a:srgbClr val="00E2C6">
              <a:alpha val="12000"/>
            </a:srgbClr>
          </a:solidFill>
          <a:ln w="12700">
            <a:solidFill>
              <a:srgbClr val="00E2C6">
                <a:alpha val="45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6" name="" descr="{&quot;isTemplate&quot;:true,&quot;type&quot;:&quot;text&quot;}"/>
          <p:cNvSpPr txBox="1"/>
          <p:nvPr/>
        </p:nvSpPr>
        <p:spPr>
          <a:xfrm rot="0" flipH="0" flipV="0">
            <a:off x="2286000" y="4543425"/>
            <a:ext cx="85725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6FE3D2"/>
                </a:solidFill>
                <a:latin typeface="Microsoft YaHei"/>
                <a:ea typeface="Microsoft YaHei"/>
              </a:rPr>
              <a:t>危機壓力測試</a:t>
            </a:r>
            <a:endParaRPr/>
          </a:p>
        </p:txBody>
      </p:sp>
      <p:sp>
        <p:nvSpPr>
          <p:cNvPr id="17" name=""/>
          <p:cNvSpPr/>
          <p:nvPr/>
        </p:nvSpPr>
        <p:spPr>
          <a:xfrm rot="0" flipH="0" flipV="0">
            <a:off x="3409950" y="4476750"/>
            <a:ext cx="1162050" cy="304800"/>
          </a:xfrm>
          <a:prstGeom prst="roundRect">
            <a:avLst>
              <a:gd name="adj" fmla="val 3121875"/>
            </a:avLst>
          </a:prstGeom>
          <a:solidFill>
            <a:srgbClr val="FFD666">
              <a:alpha val="12000"/>
            </a:srgbClr>
          </a:solidFill>
          <a:ln w="12700">
            <a:solidFill>
              <a:srgbClr val="FFD666">
                <a:alpha val="40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8" name="" descr="{&quot;isTemplate&quot;:true,&quot;type&quot;:&quot;text&quot;}"/>
          <p:cNvSpPr txBox="1"/>
          <p:nvPr/>
        </p:nvSpPr>
        <p:spPr>
          <a:xfrm rot="0" flipH="0" flipV="0">
            <a:off x="3562350" y="4543425"/>
            <a:ext cx="85725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FFD666"/>
                </a:solidFill>
                <a:latin typeface="Microsoft YaHei"/>
                <a:ea typeface="Microsoft YaHei"/>
              </a:rPr>
              <a:t>持倉重疊偵測</a:t>
            </a:r>
            <a:endParaRPr/>
          </a:p>
        </p:txBody>
      </p:sp>
      <p:sp>
        <p:nvSpPr>
          <p:cNvPr id="19" name=""/>
          <p:cNvSpPr/>
          <p:nvPr/>
        </p:nvSpPr>
        <p:spPr>
          <a:xfrm rot="0" flipH="0" flipV="0">
            <a:off x="4686300" y="4476750"/>
            <a:ext cx="1162050" cy="304800"/>
          </a:xfrm>
          <a:prstGeom prst="roundRect">
            <a:avLst>
              <a:gd name="adj" fmla="val 3121875"/>
            </a:avLst>
          </a:prstGeom>
          <a:solidFill>
            <a:srgbClr val="0099FF">
              <a:alpha val="14000"/>
            </a:srgbClr>
          </a:solidFill>
          <a:ln w="12700">
            <a:solidFill>
              <a:srgbClr val="0099FF">
                <a:alpha val="45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20" name="" descr="{&quot;isTemplate&quot;:true,&quot;type&quot;:&quot;text&quot;}"/>
          <p:cNvSpPr txBox="1"/>
          <p:nvPr/>
        </p:nvSpPr>
        <p:spPr>
          <a:xfrm rot="0" flipH="0" flipV="0">
            <a:off x="4838700" y="4543425"/>
            <a:ext cx="85725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7FC4FF"/>
                </a:solidFill>
                <a:latin typeface="Microsoft YaHei"/>
                <a:ea typeface="Microsoft YaHei"/>
              </a:rPr>
              <a:t>結構健康評分</a:t>
            </a:r>
            <a:endParaRPr/>
          </a:p>
        </p:txBody>
      </p:sp>
      <p:sp>
        <p:nvSpPr>
          <p:cNvPr id="21" name="" descr="{&quot;isTemplate&quot;:true,&quot;type&quot;:&quot;text&quot;}"/>
          <p:cNvSpPr txBox="1"/>
          <p:nvPr/>
        </p:nvSpPr>
        <p:spPr>
          <a:xfrm rot="0" flipH="0" flipV="0">
            <a:off x="857250" y="5143500"/>
            <a:ext cx="657225" cy="3143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2025" b="1">
                <a:solidFill>
                  <a:srgbClr val="0099FF"/>
                </a:solidFill>
                <a:latin typeface="Microsoft YaHei"/>
                <a:ea typeface="Microsoft YaHei"/>
              </a:rPr>
              <a:t xml:space="preserve">17 </a:t>
            </a:r>
            <a:r>
              <a:rPr lang="zh-CN" sz="2025" b="1">
                <a:solidFill>
                  <a:srgbClr val="0099FF"/>
                </a:solidFill>
                <a:latin typeface="Microsoft YaHei"/>
                <a:ea typeface="Microsoft YaHei"/>
              </a:rPr>
              <a:t>類</a:t>
            </a:r>
            <a:endParaRPr/>
          </a:p>
        </p:txBody>
      </p:sp>
      <p:sp>
        <p:nvSpPr>
          <p:cNvPr id="22" name="" descr="{&quot;isTemplate&quot;:true,&quot;type&quot;:&quot;text&quot;}"/>
          <p:cNvSpPr txBox="1"/>
          <p:nvPr/>
        </p:nvSpPr>
        <p:spPr>
          <a:xfrm rot="0" flipH="0" flipV="0">
            <a:off x="1933575" y="5143500"/>
            <a:ext cx="809625" cy="3143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2025" b="1">
                <a:solidFill>
                  <a:srgbClr val="00E2C6"/>
                </a:solidFill>
                <a:latin typeface="Microsoft YaHei"/>
                <a:ea typeface="Microsoft YaHei"/>
              </a:rPr>
              <a:t xml:space="preserve">136 </a:t>
            </a:r>
            <a:r>
              <a:rPr lang="zh-CN" sz="2025" b="1">
                <a:solidFill>
                  <a:srgbClr val="00E2C6"/>
                </a:solidFill>
                <a:latin typeface="Microsoft YaHei"/>
                <a:ea typeface="Microsoft YaHei"/>
              </a:rPr>
              <a:t>組</a:t>
            </a:r>
            <a:endParaRPr/>
          </a:p>
        </p:txBody>
      </p:sp>
      <p:sp>
        <p:nvSpPr>
          <p:cNvPr id="23" name="" descr="{&quot;isTemplate&quot;:true,&quot;type&quot;:&quot;text&quot;}"/>
          <p:cNvSpPr txBox="1"/>
          <p:nvPr/>
        </p:nvSpPr>
        <p:spPr>
          <a:xfrm rot="0" flipH="0" flipV="0">
            <a:off x="3162300" y="5143500"/>
            <a:ext cx="809625" cy="3143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2025" b="1">
                <a:solidFill>
                  <a:srgbClr val="FFD666"/>
                </a:solidFill>
                <a:latin typeface="Microsoft YaHei"/>
                <a:ea typeface="Microsoft YaHei"/>
              </a:rPr>
              <a:t xml:space="preserve">126 </a:t>
            </a:r>
            <a:r>
              <a:rPr lang="zh-CN" sz="2025" b="1">
                <a:solidFill>
                  <a:srgbClr val="FFD666"/>
                </a:solidFill>
                <a:latin typeface="Microsoft YaHei"/>
                <a:ea typeface="Microsoft YaHei"/>
              </a:rPr>
              <a:t>項</a:t>
            </a:r>
            <a:endParaRPr/>
          </a:p>
        </p:txBody>
      </p:sp>
      <p:sp>
        <p:nvSpPr>
          <p:cNvPr id="24" name="" descr="{&quot;isTemplate&quot;:true,&quot;type&quot;:&quot;text&quot;}"/>
          <p:cNvSpPr txBox="1"/>
          <p:nvPr/>
        </p:nvSpPr>
        <p:spPr>
          <a:xfrm rot="0" flipH="0" flipV="0">
            <a:off x="4391025" y="5143500"/>
            <a:ext cx="1123950" cy="3143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2025" b="1">
                <a:solidFill>
                  <a:srgbClr val="7FC4FF"/>
                </a:solidFill>
                <a:latin typeface="Microsoft YaHei"/>
                <a:ea typeface="Microsoft YaHei"/>
              </a:rPr>
              <a:t xml:space="preserve">3 </a:t>
            </a:r>
            <a:r>
              <a:rPr lang="zh-CN" sz="2025" b="1">
                <a:solidFill>
                  <a:srgbClr val="7FC4FF"/>
                </a:solidFill>
                <a:latin typeface="Microsoft YaHei"/>
                <a:ea typeface="Microsoft YaHei"/>
              </a:rPr>
              <a:t>端</a:t>
            </a:r>
            <a:endParaRPr/>
          </a:p>
        </p:txBody>
      </p:sp>
      <p:sp>
        <p:nvSpPr>
          <p:cNvPr id="25" name="" descr="{&quot;isTemplate&quot;:true,&quot;type&quot;:&quot;text&quot;}"/>
          <p:cNvSpPr txBox="1"/>
          <p:nvPr/>
        </p:nvSpPr>
        <p:spPr>
          <a:xfrm rot="0" flipH="0" flipV="0">
            <a:off x="857250" y="5476875"/>
            <a:ext cx="657225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E6F0FA">
                    <a:alpha val="55000"/>
                  </a:srgbClr>
                </a:solidFill>
                <a:latin typeface="Microsoft YaHei"/>
                <a:ea typeface="Microsoft YaHei"/>
              </a:rPr>
              <a:t>資產類別</a:t>
            </a:r>
            <a:endParaRPr/>
          </a:p>
        </p:txBody>
      </p:sp>
      <p:sp>
        <p:nvSpPr>
          <p:cNvPr id="26" name="" descr="{&quot;isTemplate&quot;:true,&quot;type&quot;:&quot;text&quot;}"/>
          <p:cNvSpPr txBox="1"/>
          <p:nvPr/>
        </p:nvSpPr>
        <p:spPr>
          <a:xfrm rot="0" flipH="0" flipV="0">
            <a:off x="1933575" y="5476875"/>
            <a:ext cx="809625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E6F0FA">
                    <a:alpha val="55000"/>
                  </a:srgbClr>
                </a:solidFill>
                <a:latin typeface="Microsoft YaHei"/>
                <a:ea typeface="Microsoft YaHei"/>
              </a:rPr>
              <a:t>相關係數</a:t>
            </a:r>
            <a:endParaRPr/>
          </a:p>
        </p:txBody>
      </p:sp>
      <p:sp>
        <p:nvSpPr>
          <p:cNvPr id="27" name="" descr="{&quot;isTemplate&quot;:true,&quot;type&quot;:&quot;text&quot;}"/>
          <p:cNvSpPr txBox="1"/>
          <p:nvPr/>
        </p:nvSpPr>
        <p:spPr>
          <a:xfrm rot="0" flipH="0" flipV="0">
            <a:off x="3162300" y="5476875"/>
            <a:ext cx="809625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E6F0FA">
                    <a:alpha val="55000"/>
                  </a:srgbClr>
                </a:solidFill>
                <a:latin typeface="Microsoft YaHei"/>
                <a:ea typeface="Microsoft YaHei"/>
              </a:rPr>
              <a:t>不變量測試</a:t>
            </a:r>
            <a:endParaRPr/>
          </a:p>
        </p:txBody>
      </p:sp>
      <p:sp>
        <p:nvSpPr>
          <p:cNvPr id="28" name="" descr="{&quot;isTemplate&quot;:true,&quot;type&quot;:&quot;text&quot;}"/>
          <p:cNvSpPr txBox="1"/>
          <p:nvPr/>
        </p:nvSpPr>
        <p:spPr>
          <a:xfrm rot="0" flipH="0" flipV="0">
            <a:off x="4391025" y="5476875"/>
            <a:ext cx="112395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E6F0FA">
                    <a:alpha val="55000"/>
                  </a:srgbClr>
                </a:solidFill>
                <a:latin typeface="Microsoft YaHei"/>
                <a:ea typeface="Microsoft YaHei"/>
              </a:rPr>
              <a:t>網頁</a:t>
            </a:r>
            <a:r>
              <a:rPr lang="en-US" sz="975">
                <a:solidFill>
                  <a:srgbClr val="E6F0FA">
                    <a:alpha val="55000"/>
                  </a:srgbClr>
                </a:solidFill>
                <a:latin typeface="Microsoft YaHei"/>
                <a:ea typeface="Microsoft YaHei"/>
              </a:rPr>
              <a:t xml:space="preserve"> / </a:t>
            </a:r>
            <a:r>
              <a:rPr lang="zh-CN" sz="975">
                <a:solidFill>
                  <a:srgbClr val="E6F0FA">
                    <a:alpha val="55000"/>
                  </a:srgbClr>
                </a:solidFill>
                <a:latin typeface="Microsoft YaHei"/>
                <a:ea typeface="Microsoft YaHei"/>
              </a:rPr>
              <a:t>小程序</a:t>
            </a:r>
            <a:r>
              <a:rPr lang="en-US" sz="975">
                <a:solidFill>
                  <a:srgbClr val="E6F0FA">
                    <a:alpha val="55000"/>
                  </a:srgbClr>
                </a:solidFill>
                <a:latin typeface="Microsoft YaHei"/>
                <a:ea typeface="Microsoft YaHei"/>
              </a:rPr>
              <a:t xml:space="preserve"> / </a:t>
            </a:r>
            <a:r>
              <a:rPr lang="zh-CN" sz="975">
                <a:solidFill>
                  <a:srgbClr val="E6F0FA">
                    <a:alpha val="55000"/>
                  </a:srgbClr>
                </a:solidFill>
                <a:latin typeface="Microsoft YaHei"/>
                <a:ea typeface="Microsoft YaHei"/>
              </a:rPr>
              <a:t>腳本</a:t>
            </a:r>
            <a:endParaRPr/>
          </a:p>
        </p:txBody>
      </p:sp>
      <p:sp>
        <p:nvSpPr>
          <p:cNvPr id="29" name=""/>
          <p:cNvSpPr/>
          <p:nvPr/>
        </p:nvSpPr>
        <p:spPr>
          <a:xfrm rot="0" flipH="0" flipV="0">
            <a:off x="857250" y="6181725"/>
            <a:ext cx="381000" cy="19050"/>
          </a:xfrm>
          <a:prstGeom prst="rect">
            <a:avLst/>
          </a:prstGeom>
          <a:solidFill>
            <a:srgbClr val="0099FF"/>
          </a:solidFill>
          <a:ln/>
        </p:spPr>
        <p:txBody>
          <a:bodyPr/>
          <a:p/>
        </p:txBody>
      </p:sp>
      <p:sp>
        <p:nvSpPr>
          <p:cNvPr id="30" name="" descr="{&quot;isTemplate&quot;:true,&quot;type&quot;:&quot;text&quot;}"/>
          <p:cNvSpPr txBox="1"/>
          <p:nvPr/>
        </p:nvSpPr>
        <p:spPr>
          <a:xfrm rot="0" flipH="0" flipV="0">
            <a:off x="1371600" y="6086475"/>
            <a:ext cx="3781425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75">
                <a:solidFill>
                  <a:srgbClr val="E6F0FA">
                    <a:alpha val="60000"/>
                  </a:srgbClr>
                </a:solidFill>
                <a:latin typeface="Microsoft YaHei"/>
                <a:ea typeface="Microsoft YaHei"/>
              </a:rPr>
              <a:t xml:space="preserve">H5 </a:t>
            </a:r>
            <a:r>
              <a:rPr lang="zh-CN" sz="1275">
                <a:solidFill>
                  <a:srgbClr val="E6F0FA">
                    <a:alpha val="60000"/>
                  </a:srgbClr>
                </a:solidFill>
                <a:latin typeface="Microsoft YaHei"/>
                <a:ea typeface="Microsoft YaHei"/>
              </a:rPr>
              <a:t>網頁</a:t>
            </a:r>
            <a:r>
              <a:rPr lang="en-US" sz="1275">
                <a:solidFill>
                  <a:srgbClr val="E6F0FA">
                    <a:alpha val="60000"/>
                  </a:srgbClr>
                </a:solidFill>
                <a:latin typeface="Microsoft YaHei"/>
                <a:ea typeface="Microsoft YaHei"/>
              </a:rPr>
              <a:t xml:space="preserve"> · </a:t>
            </a:r>
            <a:r>
              <a:rPr lang="zh-CN" sz="1275">
                <a:solidFill>
                  <a:srgbClr val="E6F0FA">
                    <a:alpha val="60000"/>
                  </a:srgbClr>
                </a:solidFill>
                <a:latin typeface="Microsoft YaHei"/>
                <a:ea typeface="Microsoft YaHei"/>
              </a:rPr>
              <a:t>微信小程序</a:t>
            </a:r>
            <a:r>
              <a:rPr lang="en-US" sz="1275">
                <a:solidFill>
                  <a:srgbClr val="E6F0FA">
                    <a:alpha val="60000"/>
                  </a:srgbClr>
                </a:solidFill>
                <a:latin typeface="Microsoft YaHei"/>
                <a:ea typeface="Microsoft YaHei"/>
              </a:rPr>
              <a:t xml:space="preserve"> · </a:t>
            </a:r>
            <a:r>
              <a:rPr lang="zh-CN" sz="1275">
                <a:solidFill>
                  <a:srgbClr val="E6F0FA">
                    <a:alpha val="60000"/>
                  </a:srgbClr>
                </a:solidFill>
                <a:latin typeface="Microsoft YaHei"/>
                <a:ea typeface="Microsoft YaHei"/>
              </a:rPr>
              <a:t>全本地計算，不上傳你的持倉</a:t>
            </a:r>
            <a:endParaRPr/>
          </a:p>
        </p:txBody>
      </p:sp>
    </p:spTree>
  </p:cSld>
</p:sld>
</file>

<file path=ppt/slides/slide2.xml><?xml version="1.0" encoding="utf-8"?>
<p:sld xmlns:p="http://schemas.openxmlformats.org/presentationml/2006/main" xmlns:a="http://schemas.openxmlformats.org/drawingml/2006/main" xmlns:asvg="http://schemas.microsoft.com/office/drawing/2016/SVG/main" xmlns:r="http://schemas.openxmlformats.org/officeDocument/2006/relationships" xmlns:mc="http://schemas.openxmlformats.org/markup-compatibility/2006" mc:Ignorable="asvg">
  <p:cSld>
    <p:spTree>
      <p:nvGrpSpPr>
        <p:cNvPr id="31" name="" descr="&lt;Slide style={{ width: '1280px', height: '720px', background: '#0A1628', padding: '20px 64px', position: 'relative', display: 'flex', flexDirection: 'column' }}&gt;&#10;  &lt;Box style={{ height: 76, justifyContent: 'center' }}&gt;&#10;    &lt;Text style={{ fontSize: 34, fontWeight: 'bold', color: '#E6F0FA' }}&gt;大家都在算收益，沒人算「風險從哪來」&lt;/Text&gt;&#10;  &lt;/Box&gt;&#10;  &lt;Box style={{ flexDirection: 'row', gap: 40, flex: 1, alignItems: 'stretch' }}&gt;&#10;    &lt;Box style={{ flex: 6, flexDirection: 'column' }}&gt;&#10;      &lt;Text style={{ fontSize: 21, color: '#E6F0FA', lineHeight: 1.7, opacity: 0.92 }}&gt;打開任何一個投資 App，首屏永遠是淨值、漲跌幅、收益曲線。&lt;/Text&gt;&#10;      &lt;Text style={{ fontSize: 21, color: '#E6F0FA', lineHeight: 1.7, opacity: 0.92, marginTop: 20 }}&gt;但你手上的基金、ETF、黃金、債券&lt;span style={{ color: '#0099FF', fontWeight: 'bold' }}&gt;合在一起&lt;/span&gt;，風險到底由誰主導？幾乎沒有工具回答。&lt;/Text&gt;&#10;      &lt;Text style={{ fontSize: 21, color: '#E6F0FA', lineHeight: 1.7, opacity: 0.92, marginTop: 20 }}&gt;結果是：名義買了 10 檔，實際把風險全押在同一類資產上，自己還不知道。&lt;/Text&gt;&#10;      &lt;Box style={{ marginTop: 'auto', background: 'rgba(0,153,255,0.08)', border: '1px solid rgba(0,153,255,0.3)', borderRadius: 14, paddingTop: 20, paddingBottom: 20, paddingLeft: 22, paddingRight: 22, flexDirection: 'row', alignItems: 'center', gap: 20 }}&gt;&#10;        &lt;Box style={{ width: 56, height: 56, borderRadius: 28, background: 'linear-gradient(135deg,#0099FF,#00E2C6)', alignItems: 'center', justifyContent: 'center' }}&gt;&#10;          &lt;Text style={{ fontSize: 22, fontWeight: 'bold', color: '#0A1628' }}&gt;!&lt;/Text&gt;&#10;        &lt;/Box&gt;&#10;        &lt;Box style={{ flex: 1 }}&gt;&#10;          &lt;Text style={{ fontSize: 20, fontWeight: 'bold', color: '#E6F0FA' }}&gt;持倉檔數 ≠ 分散程度&lt;/Text&gt;&#10;          &lt;Text style={{ fontSize: 16, color: '#E6F0FA', opacity: 0.72, marginTop: 5, lineHeight: 1.5 }}&gt;10 檔全押科技，等同 1 檔科技——檔數會騙人，風險貢獻不會。&lt;/Text&gt;&#10;        &lt;/Box&gt;&#10;      &lt;/Box&gt;&#10;    &lt;/Box&gt;&#10;    &lt;Box style={{ flex: 4, background: 'linear-gradient(135deg,#0099FF 0%,#00E2C6 100%)', borderRadius: 16, padding: 32, justifyContent: 'space-between' }}&gt;&#10;      &lt;Box&gt;&#10;        &lt;Text style={{ fontSize: 22, color: '#0A1628', fontWeight: 'bold' }}&gt;你天天看的是&lt;/Text&gt;&#10;        &lt;Text style={{ fontSize: 42, fontWeight: 'bold', color: '#0A1628', marginTop: 8 }}&gt;漲跌 · 淨值&lt;/Text&gt;&#10;      &lt;/Box&gt;&#10;      &lt;Box style={{ borderTop: '1px solid rgba(10,22,40,0.35)', borderBottom: '1px solid rgba(10,22,40,0.35)', paddingTop: 18, paddingBottom: 18, alignItems: 'center' }}&gt;&#10;        &lt;Box style={{ width: 46, height: 46, borderRadius: 23, background: 'rgba(10,22,40,0.88)', alignItems: 'center', justifyContent: 'center' }}&gt;&#10;          &lt;svg width={24} height={24} viewBox='0 0 28 28'&gt;&#10;            &lt;path d='M14 3 L14 19 M7 13 L14 21 L21 13' stroke='#00E2C6' strokeWidth='2.5' fill='none' strokeLinecap='round' strokeLinejoin='round' /&gt;&#10;          &lt;/svg&gt;&#10;        &lt;/Box&gt;&#10;        &lt;Text style={{ fontSize: 17, color: '#0A1628', opacity: 0.8, marginTop: 10, fontWeight: 'bold' }}&gt;持倉透鏡 補上這一塊&lt;/Text&gt;&#10;      &lt;/Box&gt;&#10;      &lt;Box&gt;&#10;        &lt;Text style={{ fontSize: 22, color: '#0A1628', fontWeight: 'bold' }}&gt;你很少看到的是&lt;/Text&gt;&#10;        &lt;Text style={{ fontSize: 42, fontWeight: 'bold', color: '#0A1628', marginTop: 8 }}&gt;風險從哪來&lt;/Text&gt;&#10;      &lt;/Box&gt;&#10;    &lt;/Box&gt;&#10;  &lt;/Box&gt;&#10;  &lt;Box style={{ position: 'absolute', bottom: 18, left: 64, right: 64, flexDirection: 'row', justifyContent: 'space-between' }}&gt;&#10;    &lt;Text style={{ fontSize: 14, color: '#E6F0FA', opacity: 0.45 }}&gt;持倉透鏡 HoldingsLens · 1024 投稿&lt;/Text&gt;&#10;    &lt;Text style={{ fontSize: 14, color: '#E6F0FA', opacity: 0.45 }}&gt;02 / 09&lt;/Text&gt;&#10;  &lt;/Box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0A1628"/>
          </a:solidFill>
          <a:ln/>
        </p:spPr>
        <p:txBody>
          <a:bodyPr/>
          <a:p/>
        </p:txBody>
      </p:sp>
      <p:sp>
        <p:nvSpPr>
          <p:cNvPr id="33" name="" descr="{&quot;isTemplate&quot;:true,&quot;type&quot;:&quot;text&quot;}"/>
          <p:cNvSpPr txBox="1"/>
          <p:nvPr/>
        </p:nvSpPr>
        <p:spPr>
          <a:xfrm rot="0" flipH="0" flipV="0">
            <a:off x="609600" y="361950"/>
            <a:ext cx="10972800" cy="3905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550" b="1">
                <a:solidFill>
                  <a:srgbClr val="E6F0FA"/>
                </a:solidFill>
                <a:latin typeface="Microsoft YaHei"/>
                <a:ea typeface="Microsoft YaHei"/>
              </a:rPr>
              <a:t>大家都在算收益，沒人算「風險從哪來」</a:t>
            </a:r>
            <a:endParaRPr/>
          </a:p>
        </p:txBody>
      </p:sp>
      <p:sp>
        <p:nvSpPr>
          <p:cNvPr id="34" name=""/>
          <p:cNvSpPr/>
          <p:nvPr/>
        </p:nvSpPr>
        <p:spPr>
          <a:xfrm rot="0" flipH="0" flipV="0">
            <a:off x="609600" y="5734050"/>
            <a:ext cx="6353175" cy="933450"/>
          </a:xfrm>
          <a:prstGeom prst="roundRect">
            <a:avLst>
              <a:gd name="adj" fmla="val 14286"/>
            </a:avLst>
          </a:prstGeom>
          <a:solidFill>
            <a:srgbClr val="0099FF">
              <a:alpha val="8000"/>
            </a:srgbClr>
          </a:solidFill>
          <a:ln w="12700">
            <a:solidFill>
              <a:srgbClr val="0099FF">
                <a:alpha val="30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35" name=""/>
          <p:cNvSpPr/>
          <p:nvPr/>
        </p:nvSpPr>
        <p:spPr>
          <a:xfrm rot="0" flipH="0" flipV="0">
            <a:off x="819150" y="5934075"/>
            <a:ext cx="533400" cy="533400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0099FF"/>
              </a:gs>
              <a:gs pos="100000">
                <a:srgbClr val="00E2C6"/>
              </a:gs>
            </a:gsLst>
            <a:lin ang="2700000" scaled="1"/>
          </a:gradFill>
          <a:ln/>
        </p:spPr>
        <p:txBody>
          <a:bodyPr/>
          <a:p/>
        </p:txBody>
      </p:sp>
      <p:sp>
        <p:nvSpPr>
          <p:cNvPr id="36" name="" descr="{&quot;isTemplate&quot;:true,&quot;type&quot;:&quot;text&quot;}"/>
          <p:cNvSpPr txBox="1"/>
          <p:nvPr/>
        </p:nvSpPr>
        <p:spPr>
          <a:xfrm rot="0" flipH="0" flipV="0">
            <a:off x="1047750" y="6076950"/>
            <a:ext cx="76200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650" b="1">
                <a:solidFill>
                  <a:srgbClr val="0A1628"/>
                </a:solidFill>
                <a:latin typeface="Microsoft YaHei"/>
                <a:ea typeface="Microsoft YaHei"/>
              </a:rPr>
              <a:t>!</a:t>
            </a:r>
            <a:endParaRPr/>
          </a:p>
        </p:txBody>
      </p:sp>
      <p:sp>
        <p:nvSpPr>
          <p:cNvPr id="37" name="" descr="{&quot;isTemplate&quot;:true,&quot;type&quot;:&quot;text&quot;}"/>
          <p:cNvSpPr txBox="1"/>
          <p:nvPr/>
        </p:nvSpPr>
        <p:spPr>
          <a:xfrm rot="0" flipH="0" flipV="0">
            <a:off x="1543050" y="5924550"/>
            <a:ext cx="5210175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b="1">
                <a:solidFill>
                  <a:srgbClr val="E6F0FA"/>
                </a:solidFill>
                <a:latin typeface="Microsoft YaHei"/>
                <a:ea typeface="Microsoft YaHei"/>
              </a:rPr>
              <a:t>持倉檔數</a:t>
            </a:r>
            <a:r>
              <a:rPr lang="en-US" sz="1500" b="1">
                <a:solidFill>
                  <a:srgbClr val="E6F0FA"/>
                </a:solidFill>
                <a:latin typeface="Microsoft YaHei"/>
                <a:ea typeface="Microsoft YaHei"/>
              </a:rPr>
              <a:t xml:space="preserve"> ≠ </a:t>
            </a:r>
            <a:r>
              <a:rPr lang="zh-CN" sz="1500" b="1">
                <a:solidFill>
                  <a:srgbClr val="E6F0FA"/>
                </a:solidFill>
                <a:latin typeface="Microsoft YaHei"/>
                <a:ea typeface="Microsoft YaHei"/>
              </a:rPr>
              <a:t>分散程度</a:t>
            </a:r>
            <a:endParaRPr/>
          </a:p>
        </p:txBody>
      </p:sp>
      <p:sp>
        <p:nvSpPr>
          <p:cNvPr id="38" name=""/>
          <p:cNvSpPr/>
          <p:nvPr/>
        </p:nvSpPr>
        <p:spPr>
          <a:xfrm rot="0" flipH="0" flipV="0">
            <a:off x="7343775" y="914400"/>
            <a:ext cx="4238625" cy="5753100"/>
          </a:xfrm>
          <a:prstGeom prst="roundRect">
            <a:avLst>
              <a:gd name="adj" fmla="val 3596"/>
            </a:avLst>
          </a:prstGeom>
          <a:gradFill>
            <a:gsLst>
              <a:gs pos="0">
                <a:srgbClr val="0099FF"/>
              </a:gs>
              <a:gs pos="100000">
                <a:srgbClr val="00E2C6"/>
              </a:gs>
            </a:gsLst>
            <a:lin ang="2700000" scaled="1"/>
          </a:gradFill>
          <a:ln/>
        </p:spPr>
        <p:txBody>
          <a:bodyPr/>
          <a:p/>
        </p:txBody>
      </p:sp>
      <p:sp>
        <p:nvSpPr>
          <p:cNvPr id="39" name="" descr="{&quot;isTemplate&quot;:true,&quot;type&quot;:&quot;text&quot;}"/>
          <p:cNvSpPr txBox="1"/>
          <p:nvPr/>
        </p:nvSpPr>
        <p:spPr>
          <a:xfrm rot="0" flipH="0" flipV="0">
            <a:off x="7648575" y="1219200"/>
            <a:ext cx="3629025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650" b="1">
                <a:solidFill>
                  <a:srgbClr val="0A1628"/>
                </a:solidFill>
                <a:latin typeface="Microsoft YaHei"/>
                <a:ea typeface="Microsoft YaHei"/>
              </a:rPr>
              <a:t>你天天看的是</a:t>
            </a:r>
            <a:endParaRPr/>
          </a:p>
        </p:txBody>
      </p:sp>
      <p:sp>
        <p:nvSpPr>
          <p:cNvPr id="40" name="" descr="{&quot;isTemplate&quot;:true,&quot;type&quot;:&quot;text&quot;}"/>
          <p:cNvSpPr txBox="1"/>
          <p:nvPr/>
        </p:nvSpPr>
        <p:spPr>
          <a:xfrm rot="0" flipH="0" flipV="0">
            <a:off x="7648575" y="1552575"/>
            <a:ext cx="3629025" cy="4857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3150" b="1">
                <a:solidFill>
                  <a:srgbClr val="0A1628"/>
                </a:solidFill>
                <a:latin typeface="Microsoft YaHei"/>
                <a:ea typeface="Microsoft YaHei"/>
              </a:rPr>
              <a:t>漲跌</a:t>
            </a:r>
            <a:r>
              <a:rPr lang="en-US" sz="3150" b="1">
                <a:solidFill>
                  <a:srgbClr val="0A1628"/>
                </a:solidFill>
                <a:latin typeface="Microsoft YaHei"/>
                <a:ea typeface="Microsoft YaHei"/>
              </a:rPr>
              <a:t xml:space="preserve"> · </a:t>
            </a:r>
            <a:r>
              <a:rPr lang="zh-CN" sz="3150" b="1">
                <a:solidFill>
                  <a:srgbClr val="0A1628"/>
                </a:solidFill>
                <a:latin typeface="Microsoft YaHei"/>
                <a:ea typeface="Microsoft YaHei"/>
              </a:rPr>
              <a:t>淨值</a:t>
            </a:r>
            <a:endParaRPr/>
          </a:p>
        </p:txBody>
      </p:sp>
      <p:sp>
        <p:nvSpPr>
          <p:cNvPr id="41" name=""/>
          <p:cNvSpPr/>
          <p:nvPr/>
        </p:nvSpPr>
        <p:spPr>
          <a:xfrm rot="0" flipH="0" flipV="0">
            <a:off x="7648575" y="3248025"/>
            <a:ext cx="3629025" cy="1114425"/>
          </a:xfrm>
          <a:custGeom>
            <a:pathLst>
              <a:path w="381" h="117">
                <a:moveTo>
                  <a:pt x="0" y="0"/>
                </a:moveTo>
                <a:lnTo>
                  <a:pt x="381" y="0"/>
                </a:lnTo>
                <a:lnTo>
                  <a:pt x="381" y="1"/>
                </a:lnTo>
                <a:lnTo>
                  <a:pt x="0" y="1"/>
                </a:lnTo>
                <a:close/>
              </a:path>
            </a:pathLst>
          </a:custGeom>
          <a:solidFill>
            <a:srgbClr val="0A1628">
              <a:alpha val="35000"/>
            </a:srgbClr>
          </a:solidFill>
          <a:ln/>
        </p:spPr>
        <p:txBody>
          <a:bodyPr/>
          <a:p/>
        </p:txBody>
      </p:sp>
      <p:sp>
        <p:nvSpPr>
          <p:cNvPr id="42" name=""/>
          <p:cNvSpPr/>
          <p:nvPr/>
        </p:nvSpPr>
        <p:spPr>
          <a:xfrm rot="0" flipH="0" flipV="0">
            <a:off x="7648575" y="3248025"/>
            <a:ext cx="3629025" cy="1114425"/>
          </a:xfrm>
          <a:custGeom>
            <a:pathLst>
              <a:path w="381" h="117">
                <a:moveTo>
                  <a:pt x="0" y="116"/>
                </a:moveTo>
                <a:lnTo>
                  <a:pt x="381" y="116"/>
                </a:lnTo>
                <a:lnTo>
                  <a:pt x="381" y="117"/>
                </a:lnTo>
                <a:lnTo>
                  <a:pt x="0" y="117"/>
                </a:lnTo>
                <a:close/>
              </a:path>
            </a:pathLst>
          </a:custGeom>
          <a:solidFill>
            <a:srgbClr val="0A1628">
              <a:alpha val="35000"/>
            </a:srgbClr>
          </a:solidFill>
          <a:ln/>
        </p:spPr>
        <p:txBody>
          <a:bodyPr/>
          <a:p/>
        </p:txBody>
      </p:sp>
      <p:sp>
        <p:nvSpPr>
          <p:cNvPr id="43" name=""/>
          <p:cNvSpPr/>
          <p:nvPr/>
        </p:nvSpPr>
        <p:spPr>
          <a:xfrm rot="0" flipH="0" flipV="0">
            <a:off x="9248775" y="3429000"/>
            <a:ext cx="438150" cy="438150"/>
          </a:xfrm>
          <a:prstGeom prst="roundRect">
            <a:avLst>
              <a:gd name="adj" fmla="val 50000"/>
            </a:avLst>
          </a:prstGeom>
          <a:solidFill>
            <a:srgbClr val="0A1628">
              <a:alpha val="88000"/>
            </a:srgbClr>
          </a:solidFill>
          <a:ln/>
        </p:spPr>
        <p:txBody>
          <a:bodyPr/>
          <a:p/>
        </p:txBody>
      </p:sp>
      <p:pic>
        <p:nvPicPr>
          <p:cNvPr id="44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1"/>
              </a:ext>
            </a:extLst>
          </a:blip>
          <a:stretch>
            <a:fillRect/>
          </a:stretch>
        </p:blipFill>
        <p:spPr>
          <a:xfrm rot="0" flipH="0" flipV="0">
            <a:off x="9353550" y="3533775"/>
            <a:ext cx="228600" cy="228600"/>
          </a:xfrm>
          <a:prstGeom prst="rect">
            <a:avLst/>
          </a:prstGeom>
          <a:ln/>
        </p:spPr>
      </p:pic>
      <p:sp>
        <p:nvSpPr>
          <p:cNvPr id="45" name="" descr="{&quot;isTemplate&quot;:true,&quot;type&quot;:&quot;text&quot;}"/>
          <p:cNvSpPr txBox="1"/>
          <p:nvPr/>
        </p:nvSpPr>
        <p:spPr>
          <a:xfrm rot="0" flipH="0" flipV="0">
            <a:off x="7648575" y="5543550"/>
            <a:ext cx="3629025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650" b="1">
                <a:solidFill>
                  <a:srgbClr val="0A1628"/>
                </a:solidFill>
                <a:latin typeface="Microsoft YaHei"/>
                <a:ea typeface="Microsoft YaHei"/>
              </a:rPr>
              <a:t>你很少看到的是</a:t>
            </a:r>
            <a:endParaRPr/>
          </a:p>
        </p:txBody>
      </p:sp>
      <p:sp>
        <p:nvSpPr>
          <p:cNvPr id="46" name="" descr="{&quot;isTemplate&quot;:true,&quot;type&quot;:&quot;text&quot;}"/>
          <p:cNvSpPr txBox="1"/>
          <p:nvPr/>
        </p:nvSpPr>
        <p:spPr>
          <a:xfrm rot="0" flipH="0" flipV="0">
            <a:off x="7648575" y="5876925"/>
            <a:ext cx="3629025" cy="4857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3150" b="1">
                <a:solidFill>
                  <a:srgbClr val="0A1628"/>
                </a:solidFill>
                <a:latin typeface="Microsoft YaHei"/>
                <a:ea typeface="Microsoft YaHei"/>
              </a:rPr>
              <a:t>風險從哪來</a:t>
            </a:r>
            <a:endParaRPr/>
          </a:p>
        </p:txBody>
      </p:sp>
      <p:sp>
        <p:nvSpPr>
          <p:cNvPr id="47" name="" descr="{&quot;isTemplate&quot;:true,&quot;type&quot;:&quot;text&quot;}"/>
          <p:cNvSpPr txBox="1"/>
          <p:nvPr/>
        </p:nvSpPr>
        <p:spPr>
          <a:xfrm rot="0" flipH="0" flipV="0">
            <a:off x="609600" y="914400"/>
            <a:ext cx="6353175" cy="409575"/>
          </a:xfrm>
          <a:prstGeom prst="rect"/>
        </p:spPr>
        <p:txBody>
          <a:bodyPr wrap="none" lIns="0" tIns="0" rIns="0" bIns="0"/>
          <a:p>
            <a:pPr>
              <a:lnSpc>
                <a:spcPct val="170000"/>
              </a:lnSpc>
            </a:pPr>
            <a:r>
              <a:rPr lang="zh-CN" sz="1575">
                <a:solidFill>
                  <a:srgbClr val="E6F0FA">
                    <a:alpha val="92000"/>
                  </a:srgbClr>
                </a:solidFill>
                <a:latin typeface="Microsoft YaHei"/>
                <a:ea typeface="Microsoft YaHei"/>
              </a:rPr>
              <a:t>打開任何一個投資</a:t>
            </a:r>
            <a:r>
              <a:rPr lang="en-US" sz="1575">
                <a:solidFill>
                  <a:srgbClr val="E6F0FA">
                    <a:alpha val="92000"/>
                  </a:srgbClr>
                </a:solidFill>
                <a:latin typeface="Microsoft YaHei"/>
                <a:ea typeface="Microsoft YaHei"/>
              </a:rPr>
              <a:t xml:space="preserve"> App</a:t>
            </a:r>
            <a:r>
              <a:rPr lang="zh-CN" sz="1575">
                <a:solidFill>
                  <a:srgbClr val="E6F0FA">
                    <a:alpha val="92000"/>
                  </a:srgbClr>
                </a:solidFill>
                <a:latin typeface="Microsoft YaHei"/>
                <a:ea typeface="Microsoft YaHei"/>
              </a:rPr>
              <a:t>，首屏永遠是淨值、漲跌幅、收益曲線。</a:t>
            </a:r>
            <a:endParaRPr/>
          </a:p>
        </p:txBody>
      </p:sp>
      <p:sp>
        <p:nvSpPr>
          <p:cNvPr id="48" name="" descr="{&quot;isTemplate&quot;:true,&quot;type&quot;:&quot;text&quot;}"/>
          <p:cNvSpPr txBox="1"/>
          <p:nvPr/>
        </p:nvSpPr>
        <p:spPr>
          <a:xfrm rot="0" flipH="0" flipV="0">
            <a:off x="609600" y="1514475"/>
            <a:ext cx="6353175" cy="8191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70000"/>
              </a:lnSpc>
            </a:pPr>
            <a:r>
              <a:rPr lang="zh-CN" sz="1575">
                <a:solidFill>
                  <a:srgbClr val="E6F0FA">
                    <a:alpha val="92000"/>
                  </a:srgbClr>
                </a:solidFill>
                <a:latin typeface="Microsoft YaHei"/>
                <a:ea typeface="Microsoft YaHei"/>
              </a:rPr>
              <a:t>但你手上的基金、</a:t>
            </a:r>
            <a:r>
              <a:rPr lang="en-US" sz="1575">
                <a:solidFill>
                  <a:srgbClr val="E6F0FA">
                    <a:alpha val="92000"/>
                  </a:srgbClr>
                </a:solidFill>
                <a:latin typeface="Microsoft YaHei"/>
                <a:ea typeface="Microsoft YaHei"/>
              </a:rPr>
              <a:t>ETF</a:t>
            </a:r>
            <a:r>
              <a:rPr lang="zh-CN" sz="1575">
                <a:solidFill>
                  <a:srgbClr val="E6F0FA">
                    <a:alpha val="92000"/>
                  </a:srgbClr>
                </a:solidFill>
                <a:latin typeface="Microsoft YaHei"/>
                <a:ea typeface="Microsoft YaHei"/>
              </a:rPr>
              <a:t>、黃金、債券</a:t>
            </a:r>
            <a:r>
              <a:rPr lang="zh-CN" sz="1575" b="1">
                <a:solidFill>
                  <a:srgbClr val="0099FF">
                    <a:alpha val="92000"/>
                  </a:srgbClr>
                </a:solidFill>
                <a:latin typeface="Microsoft YaHei"/>
                <a:ea typeface="Microsoft YaHei"/>
              </a:rPr>
              <a:t>合在一起</a:t>
            </a:r>
            <a:r>
              <a:rPr lang="zh-CN" sz="1575">
                <a:solidFill>
                  <a:srgbClr val="E6F0FA">
                    <a:alpha val="92000"/>
                  </a:srgbClr>
                </a:solidFill>
                <a:latin typeface="Microsoft YaHei"/>
                <a:ea typeface="Microsoft YaHei"/>
              </a:rPr>
              <a:t>，風險到底由誰主導？幾乎沒有工具回答。</a:t>
            </a:r>
            <a:endParaRPr/>
          </a:p>
        </p:txBody>
      </p:sp>
      <p:sp>
        <p:nvSpPr>
          <p:cNvPr id="49" name="" descr="{&quot;isTemplate&quot;:true,&quot;type&quot;:&quot;text&quot;}"/>
          <p:cNvSpPr txBox="1"/>
          <p:nvPr/>
        </p:nvSpPr>
        <p:spPr>
          <a:xfrm rot="0" flipH="0" flipV="0">
            <a:off x="609600" y="2524125"/>
            <a:ext cx="6353175" cy="8191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70000"/>
              </a:lnSpc>
            </a:pPr>
            <a:r>
              <a:rPr lang="zh-CN" sz="1575">
                <a:solidFill>
                  <a:srgbClr val="E6F0FA">
                    <a:alpha val="92000"/>
                  </a:srgbClr>
                </a:solidFill>
                <a:latin typeface="Microsoft YaHei"/>
                <a:ea typeface="Microsoft YaHei"/>
              </a:rPr>
              <a:t>結果是：名義買了</a:t>
            </a:r>
            <a:r>
              <a:rPr lang="en-US" sz="1575">
                <a:solidFill>
                  <a:srgbClr val="E6F0FA">
                    <a:alpha val="92000"/>
                  </a:srgbClr>
                </a:solidFill>
                <a:latin typeface="Microsoft YaHei"/>
                <a:ea typeface="Microsoft YaHei"/>
              </a:rPr>
              <a:t xml:space="preserve"> 10 </a:t>
            </a:r>
            <a:r>
              <a:rPr lang="zh-CN" sz="1575">
                <a:solidFill>
                  <a:srgbClr val="E6F0FA">
                    <a:alpha val="92000"/>
                  </a:srgbClr>
                </a:solidFill>
                <a:latin typeface="Microsoft YaHei"/>
                <a:ea typeface="Microsoft YaHei"/>
              </a:rPr>
              <a:t>檔，實際把風險全押在同一類資產上，自己還不知道。</a:t>
            </a:r>
            <a:endParaRPr/>
          </a:p>
        </p:txBody>
      </p:sp>
      <p:sp>
        <p:nvSpPr>
          <p:cNvPr id="50" name="" descr="{&quot;isTemplate&quot;:true,&quot;type&quot;:&quot;text&quot;}"/>
          <p:cNvSpPr txBox="1"/>
          <p:nvPr/>
        </p:nvSpPr>
        <p:spPr>
          <a:xfrm rot="0" flipH="0" flipV="0">
            <a:off x="1543050" y="6200775"/>
            <a:ext cx="5210175" cy="27622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en-US" sz="1200">
                <a:solidFill>
                  <a:srgbClr val="E6F0FA">
                    <a:alpha val="72000"/>
                  </a:srgbClr>
                </a:solidFill>
                <a:latin typeface="Microsoft YaHei"/>
                <a:ea typeface="Microsoft YaHei"/>
              </a:rPr>
              <a:t xml:space="preserve">10 </a:t>
            </a:r>
            <a:r>
              <a:rPr lang="zh-CN" sz="1200">
                <a:solidFill>
                  <a:srgbClr val="E6F0FA">
                    <a:alpha val="72000"/>
                  </a:srgbClr>
                </a:solidFill>
                <a:latin typeface="Microsoft YaHei"/>
                <a:ea typeface="Microsoft YaHei"/>
              </a:rPr>
              <a:t>檔全押科技，等同</a:t>
            </a:r>
            <a:r>
              <a:rPr lang="en-US" sz="1200">
                <a:solidFill>
                  <a:srgbClr val="E6F0FA">
                    <a:alpha val="72000"/>
                  </a:srgbClr>
                </a:solidFill>
                <a:latin typeface="Microsoft YaHei"/>
                <a:ea typeface="Microsoft YaHei"/>
              </a:rPr>
              <a:t xml:space="preserve"> 1 </a:t>
            </a:r>
            <a:r>
              <a:rPr lang="zh-CN" sz="1200">
                <a:solidFill>
                  <a:srgbClr val="E6F0FA">
                    <a:alpha val="72000"/>
                  </a:srgbClr>
                </a:solidFill>
                <a:latin typeface="Microsoft YaHei"/>
                <a:ea typeface="Microsoft YaHei"/>
              </a:rPr>
              <a:t>檔科技——檔數會騙人，風險貢獻不會。</a:t>
            </a:r>
            <a:endParaRPr/>
          </a:p>
        </p:txBody>
      </p:sp>
      <p:sp>
        <p:nvSpPr>
          <p:cNvPr id="51" name="" descr="{&quot;isTemplate&quot;:true,&quot;type&quot;:&quot;text&quot;}"/>
          <p:cNvSpPr txBox="1"/>
          <p:nvPr/>
        </p:nvSpPr>
        <p:spPr>
          <a:xfrm rot="0" flipH="0" flipV="0">
            <a:off x="8705850" y="3962400"/>
            <a:ext cx="1514475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 b="1">
                <a:solidFill>
                  <a:srgbClr val="0A1628">
                    <a:alpha val="80000"/>
                  </a:srgbClr>
                </a:solidFill>
                <a:latin typeface="Microsoft YaHei"/>
                <a:ea typeface="Microsoft YaHei"/>
              </a:rPr>
              <a:t>持倉透鏡</a:t>
            </a:r>
            <a:r>
              <a:rPr lang="en-US" sz="1275" b="1">
                <a:solidFill>
                  <a:srgbClr val="0A1628">
                    <a:alpha val="80000"/>
                  </a:srgbClr>
                </a:solidFill>
                <a:latin typeface="Microsoft YaHei"/>
                <a:ea typeface="Microsoft YaHei"/>
              </a:rPr>
              <a:t xml:space="preserve"> </a:t>
            </a:r>
            <a:r>
              <a:rPr lang="zh-CN" sz="1275" b="1">
                <a:solidFill>
                  <a:srgbClr val="0A1628">
                    <a:alpha val="80000"/>
                  </a:srgbClr>
                </a:solidFill>
                <a:latin typeface="Microsoft YaHei"/>
                <a:ea typeface="Microsoft YaHei"/>
              </a:rPr>
              <a:t>補上這一塊</a:t>
            </a:r>
            <a:endParaRPr/>
          </a:p>
        </p:txBody>
      </p:sp>
      <p:sp>
        <p:nvSpPr>
          <p:cNvPr id="52" name="" descr="{&quot;isTemplate&quot;:true,&quot;type&quot;:&quot;text&quot;}"/>
          <p:cNvSpPr txBox="1"/>
          <p:nvPr/>
        </p:nvSpPr>
        <p:spPr>
          <a:xfrm rot="0" flipH="0" flipV="0">
            <a:off x="609600" y="6524625"/>
            <a:ext cx="21717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E6F0FA">
                    <a:alpha val="45000"/>
                  </a:srgbClr>
                </a:solidFill>
                <a:latin typeface="Microsoft YaHei"/>
                <a:ea typeface="Microsoft YaHei"/>
              </a:rPr>
              <a:t>持倉透鏡</a:t>
            </a:r>
            <a:r>
              <a:rPr lang="en-US" sz="1050">
                <a:solidFill>
                  <a:srgbClr val="E6F0FA">
                    <a:alpha val="45000"/>
                  </a:srgbClr>
                </a:solidFill>
                <a:latin typeface="Microsoft YaHei"/>
                <a:ea typeface="Microsoft YaHei"/>
              </a:rPr>
              <a:t xml:space="preserve"> HoldingsLens · 1024 </a:t>
            </a:r>
            <a:r>
              <a:rPr lang="zh-CN" sz="1050">
                <a:solidFill>
                  <a:srgbClr val="E6F0FA">
                    <a:alpha val="45000"/>
                  </a:srgbClr>
                </a:solidFill>
                <a:latin typeface="Microsoft YaHei"/>
                <a:ea typeface="Microsoft YaHei"/>
              </a:rPr>
              <a:t>投稿</a:t>
            </a:r>
            <a:endParaRPr/>
          </a:p>
        </p:txBody>
      </p:sp>
      <p:sp>
        <p:nvSpPr>
          <p:cNvPr id="53" name="" descr="{&quot;isTemplate&quot;:true,&quot;type&quot;:&quot;text&quot;}"/>
          <p:cNvSpPr txBox="1"/>
          <p:nvPr/>
        </p:nvSpPr>
        <p:spPr>
          <a:xfrm rot="0" flipH="0" flipV="0">
            <a:off x="11125200" y="6524625"/>
            <a:ext cx="457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E6F0FA">
                    <a:alpha val="45000"/>
                  </a:srgbClr>
                </a:solidFill>
                <a:latin typeface="Microsoft YaHei"/>
                <a:ea typeface="Microsoft YaHei"/>
              </a:rPr>
              <a:t>02 / 09</a:t>
            </a:r>
            <a:endParaRPr/>
          </a:p>
        </p:txBody>
      </p:sp>
    </p:spTree>
  </p:cSld>
</p:sld>
</file>

<file path=ppt/slides/slide3.xml><?xml version="1.0" encoding="utf-8"?>
<p:sld xmlns:p="http://schemas.openxmlformats.org/presentationml/2006/main" xmlns:a="http://schemas.openxmlformats.org/drawingml/2006/main">
  <p:cSld>
    <p:spTree>
      <p:nvGrpSpPr>
        <p:cNvPr id="54" name="" descr="&lt;Slide style={{ width: '1280px', height: '720px', background: '#0A1628', padding: '20px 64px', position: 'relative', display: 'flex', flexDirection: 'column' }}&gt;&#10;  &lt;Box style={{ flexDirection: 'row', gap: 36, flex: 1, alignItems: 'stretch' }}&gt;&#10;    &lt;Box style={{ flex: 35, background: 'linear-gradient(135deg,#0099FF 0%,#00E2C6 100%)', borderRadius: 16, padding: 40, justifyContent: 'space-between' }}&gt;&#10;      &lt;Text style={{ fontSize: 40, fontWeight: 'bold', color: '#0A1628', lineHeight: 1.25 }}&gt;不是預測工具&lt;br /&gt;是風險解剖刀&lt;/Text&gt;&#10;      &lt;Text style={{ fontSize: 19, color: '#0A1628', opacity: 0.82, lineHeight: 1.6 }}&gt;不猜明天的漲跌，&lt;br /&gt;只把今天的風險結構攤開。&lt;/Text&gt;&#10;    &lt;/Box&gt;&#10;    &lt;Box style={{ flex: 65, flexDirection: 'column', justifyContent: 'center', gap: 22 }}&gt;&#10;      &lt;Box style={{ background: 'rgba(230,240,250,0.06)', borderLeft: '4px solid rgba(230,240,250,0.25)', borderRadius: 10, padding: 22 }}&gt;&#10;        &lt;Text style={{ fontSize: 22, fontWeight: 'bold', color: '#E6F0FA', opacity: 0.7 }}&gt;預測型（市面多數）&lt;/Text&gt;&#10;        &lt;Text style={{ fontSize: 19, color: '#E6F0FA', opacity: 0.85, marginTop: 10, lineHeight: 1.6 }}&gt;猜明天漲跌 · 給買賣點 · 回答「該不該買」。&lt;/Text&gt;&#10;      &lt;/Box&gt;&#10;      &lt;Box style={{ background: 'rgba(0,153,255,0.12)', borderLeft: '4px solid #0099FF', borderRadius: 10, padding: 22 }}&gt;&#10;        &lt;Text style={{ fontSize: 22, fontWeight: 'bold', color: '#0099FF' }}&gt;歸因型（持倉透鏡）&lt;/Text&gt;&#10;        &lt;Text style={{ fontSize: 19, color: '#E6F0FA', marginTop: 10, lineHeight: 1.6 }}&gt;拆今天結構 · 量化每類資產的風險貢獻 · 回答「我的風險押在哪」。&lt;/Text&gt;&#10;      &lt;/Box&gt;&#10;    &lt;/Box&gt;&#10;  &lt;/Box&gt;&#10;  &lt;Box style={{ position: 'absolute', bottom: 18, left: 64, right: 64, flexDirection: 'row', justifyContent: 'space-between' }}&gt;&#10;    &lt;Text style={{ fontSize: 14, color: '#E6F0FA', opacity: 0.45 }}&gt;持倉透鏡 HoldingsLens · 1024 投稿&lt;/Text&gt;&#10;    &lt;Text style={{ fontSize: 14, color: '#E6F0FA', opacity: 0.45 }}&gt;03 / 09&lt;/Text&gt;&#10;  &lt;/Box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0A1628"/>
          </a:solidFill>
          <a:ln/>
        </p:spPr>
        <p:txBody>
          <a:bodyPr/>
          <a:p/>
        </p:txBody>
      </p:sp>
      <p:sp>
        <p:nvSpPr>
          <p:cNvPr id="56" name=""/>
          <p:cNvSpPr/>
          <p:nvPr/>
        </p:nvSpPr>
        <p:spPr>
          <a:xfrm rot="0" flipH="0" flipV="0">
            <a:off x="609600" y="190500"/>
            <a:ext cx="3724275" cy="6477000"/>
          </a:xfrm>
          <a:prstGeom prst="roundRect">
            <a:avLst>
              <a:gd name="adj" fmla="val 4092"/>
            </a:avLst>
          </a:prstGeom>
          <a:gradFill>
            <a:gsLst>
              <a:gs pos="0">
                <a:srgbClr val="0099FF"/>
              </a:gs>
              <a:gs pos="100000">
                <a:srgbClr val="00E2C6"/>
              </a:gs>
            </a:gsLst>
            <a:lin ang="2700000" scaled="1"/>
          </a:gradFill>
          <a:ln/>
        </p:spPr>
        <p:txBody>
          <a:bodyPr/>
          <a:p/>
        </p:txBody>
      </p:sp>
      <p:sp>
        <p:nvSpPr>
          <p:cNvPr id="57" name="" descr="{&quot;isTemplate&quot;:true,&quot;type&quot;:&quot;text&quot;}"/>
          <p:cNvSpPr txBox="1"/>
          <p:nvPr/>
        </p:nvSpPr>
        <p:spPr>
          <a:xfrm rot="0" flipH="0" flipV="0">
            <a:off x="990600" y="571500"/>
            <a:ext cx="2962275" cy="1143000"/>
          </a:xfrm>
          <a:prstGeom prst="rect"/>
        </p:spPr>
        <p:txBody>
          <a:bodyPr wrap="none" lIns="0" tIns="0" rIns="0" bIns="0"/>
          <a:p>
            <a:pPr>
              <a:lnSpc>
                <a:spcPct val="125000"/>
              </a:lnSpc>
            </a:pPr>
            <a:r>
              <a:rPr lang="zh-CN" sz="3000" b="1">
                <a:solidFill>
                  <a:srgbClr val="0A1628"/>
                </a:solidFill>
                <a:latin typeface="Microsoft YaHei"/>
                <a:ea typeface="Microsoft YaHei"/>
              </a:rPr>
              <a:t>不是預測工具</a:t>
            </a:r>
            <a:endParaRPr/>
          </a:p>
          <a:p>
            <a:pPr>
              <a:lnSpc>
                <a:spcPct val="125000"/>
              </a:lnSpc>
            </a:pPr>
            <a:r>
              <a:rPr lang="zh-CN" sz="3000" b="1">
                <a:solidFill>
                  <a:srgbClr val="0A1628"/>
                </a:solidFill>
                <a:latin typeface="Microsoft YaHei"/>
                <a:ea typeface="Microsoft YaHei"/>
              </a:rPr>
              <a:t>是風險解剖刀</a:t>
            </a:r>
            <a:endParaRPr/>
          </a:p>
        </p:txBody>
      </p:sp>
      <p:sp>
        <p:nvSpPr>
          <p:cNvPr id="58" name=""/>
          <p:cNvSpPr/>
          <p:nvPr/>
        </p:nvSpPr>
        <p:spPr>
          <a:xfrm rot="0" flipH="0" flipV="0">
            <a:off x="4714875" y="2200275"/>
            <a:ext cx="6905625" cy="1123950"/>
          </a:xfrm>
          <a:prstGeom prst="roundRect">
            <a:avLst>
              <a:gd name="adj" fmla="val 8475"/>
            </a:avLst>
          </a:prstGeom>
          <a:solidFill>
            <a:srgbClr val="E6F0FA">
              <a:alpha val="6000"/>
            </a:srgbClr>
          </a:solidFill>
          <a:ln/>
        </p:spPr>
        <p:txBody>
          <a:bodyPr/>
          <a:p/>
        </p:txBody>
      </p:sp>
      <p:sp>
        <p:nvSpPr>
          <p:cNvPr id="59" name=""/>
          <p:cNvSpPr/>
          <p:nvPr/>
        </p:nvSpPr>
        <p:spPr>
          <a:xfrm rot="0" flipH="0" flipV="0">
            <a:off x="4714875" y="2200275"/>
            <a:ext cx="6905625" cy="1123950"/>
          </a:xfrm>
          <a:custGeom>
            <a:pathLst>
              <a:path w="725" h="118">
                <a:moveTo>
                  <a:pt x="9" y="0"/>
                </a:moveTo>
                <a:cubicBezTo>
                  <a:pt x="6" y="0"/>
                  <a:pt x="4" y="3"/>
                  <a:pt x="4" y="6"/>
                </a:cubicBezTo>
                <a:lnTo>
                  <a:pt x="4" y="112"/>
                </a:lnTo>
                <a:cubicBezTo>
                  <a:pt x="4" y="115"/>
                  <a:pt x="6" y="117"/>
                  <a:pt x="9" y="118"/>
                </a:cubicBezTo>
                <a:cubicBezTo>
                  <a:pt x="4" y="117"/>
                  <a:pt x="0" y="113"/>
                  <a:pt x="0" y="108"/>
                </a:cubicBezTo>
                <a:lnTo>
                  <a:pt x="0" y="10"/>
                </a:lnTo>
                <a:cubicBezTo>
                  <a:pt x="0" y="5"/>
                  <a:pt x="4" y="0"/>
                  <a:pt x="10" y="0"/>
                </a:cubicBezTo>
                <a:close/>
              </a:path>
            </a:pathLst>
          </a:custGeom>
          <a:solidFill>
            <a:srgbClr val="E6F0FA">
              <a:alpha val="25000"/>
            </a:srgbClr>
          </a:solidFill>
          <a:ln/>
        </p:spPr>
        <p:txBody>
          <a:bodyPr/>
          <a:p/>
        </p:txBody>
      </p:sp>
      <p:sp>
        <p:nvSpPr>
          <p:cNvPr id="60" name=""/>
          <p:cNvSpPr/>
          <p:nvPr/>
        </p:nvSpPr>
        <p:spPr>
          <a:xfrm rot="0" flipH="0" flipV="0">
            <a:off x="4714875" y="3533775"/>
            <a:ext cx="6905625" cy="1123950"/>
          </a:xfrm>
          <a:prstGeom prst="roundRect">
            <a:avLst>
              <a:gd name="adj" fmla="val 8475"/>
            </a:avLst>
          </a:prstGeom>
          <a:solidFill>
            <a:srgbClr val="0099FF">
              <a:alpha val="12000"/>
            </a:srgbClr>
          </a:solidFill>
          <a:ln/>
        </p:spPr>
        <p:txBody>
          <a:bodyPr/>
          <a:p/>
        </p:txBody>
      </p:sp>
      <p:sp>
        <p:nvSpPr>
          <p:cNvPr id="61" name=""/>
          <p:cNvSpPr/>
          <p:nvPr/>
        </p:nvSpPr>
        <p:spPr>
          <a:xfrm rot="0" flipH="0" flipV="0">
            <a:off x="4714875" y="3533775"/>
            <a:ext cx="6905625" cy="1123950"/>
          </a:xfrm>
          <a:custGeom>
            <a:pathLst>
              <a:path w="725" h="118">
                <a:moveTo>
                  <a:pt x="9" y="0"/>
                </a:moveTo>
                <a:cubicBezTo>
                  <a:pt x="6" y="0"/>
                  <a:pt x="4" y="3"/>
                  <a:pt x="4" y="6"/>
                </a:cubicBezTo>
                <a:lnTo>
                  <a:pt x="4" y="112"/>
                </a:lnTo>
                <a:cubicBezTo>
                  <a:pt x="4" y="115"/>
                  <a:pt x="6" y="117"/>
                  <a:pt x="9" y="118"/>
                </a:cubicBezTo>
                <a:cubicBezTo>
                  <a:pt x="4" y="117"/>
                  <a:pt x="0" y="113"/>
                  <a:pt x="0" y="108"/>
                </a:cubicBezTo>
                <a:lnTo>
                  <a:pt x="0" y="10"/>
                </a:lnTo>
                <a:cubicBezTo>
                  <a:pt x="0" y="5"/>
                  <a:pt x="4" y="0"/>
                  <a:pt x="10" y="0"/>
                </a:cubicBezTo>
                <a:close/>
              </a:path>
            </a:pathLst>
          </a:custGeom>
          <a:solidFill>
            <a:srgbClr val="0099FF"/>
          </a:solidFill>
          <a:ln/>
        </p:spPr>
        <p:txBody>
          <a:bodyPr/>
          <a:p/>
        </p:txBody>
      </p:sp>
      <p:sp>
        <p:nvSpPr>
          <p:cNvPr id="62" name="" descr="{&quot;isTemplate&quot;:true,&quot;type&quot;:&quot;text&quot;}"/>
          <p:cNvSpPr txBox="1"/>
          <p:nvPr/>
        </p:nvSpPr>
        <p:spPr>
          <a:xfrm rot="0" flipH="0" flipV="0">
            <a:off x="4924425" y="3743325"/>
            <a:ext cx="6448425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650" b="1">
                <a:solidFill>
                  <a:srgbClr val="0099FF"/>
                </a:solidFill>
                <a:latin typeface="Microsoft YaHei"/>
                <a:ea typeface="Microsoft YaHei"/>
              </a:rPr>
              <a:t>歸因型（持倉透鏡）</a:t>
            </a:r>
            <a:endParaRPr/>
          </a:p>
        </p:txBody>
      </p:sp>
      <p:sp>
        <p:nvSpPr>
          <p:cNvPr id="63" name="" descr="{&quot;isTemplate&quot;:true,&quot;type&quot;:&quot;text&quot;}"/>
          <p:cNvSpPr txBox="1"/>
          <p:nvPr/>
        </p:nvSpPr>
        <p:spPr>
          <a:xfrm rot="0" flipH="0" flipV="0">
            <a:off x="4924425" y="4095750"/>
            <a:ext cx="6448425" cy="352425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zh-CN" sz="1425">
                <a:solidFill>
                  <a:srgbClr val="E6F0FA"/>
                </a:solidFill>
                <a:latin typeface="Microsoft YaHei"/>
                <a:ea typeface="Microsoft YaHei"/>
              </a:rPr>
              <a:t>拆今天結構</a:t>
            </a:r>
            <a:r>
              <a:rPr lang="en-US" sz="1425">
                <a:solidFill>
                  <a:srgbClr val="E6F0FA"/>
                </a:solidFill>
                <a:latin typeface="Microsoft YaHei"/>
                <a:ea typeface="Microsoft YaHei"/>
              </a:rPr>
              <a:t xml:space="preserve"> · </a:t>
            </a:r>
            <a:r>
              <a:rPr lang="zh-CN" sz="1425">
                <a:solidFill>
                  <a:srgbClr val="E6F0FA"/>
                </a:solidFill>
                <a:latin typeface="Microsoft YaHei"/>
                <a:ea typeface="Microsoft YaHei"/>
              </a:rPr>
              <a:t>量化每類資產的風險貢獻</a:t>
            </a:r>
            <a:r>
              <a:rPr lang="en-US" sz="1425">
                <a:solidFill>
                  <a:srgbClr val="E6F0FA"/>
                </a:solidFill>
                <a:latin typeface="Microsoft YaHei"/>
                <a:ea typeface="Microsoft YaHei"/>
              </a:rPr>
              <a:t xml:space="preserve"> · </a:t>
            </a:r>
            <a:r>
              <a:rPr lang="zh-CN" sz="1425">
                <a:solidFill>
                  <a:srgbClr val="E6F0FA"/>
                </a:solidFill>
                <a:latin typeface="Microsoft YaHei"/>
                <a:ea typeface="Microsoft YaHei"/>
              </a:rPr>
              <a:t>回答「我的風險押在哪」。</a:t>
            </a:r>
            <a:endParaRPr/>
          </a:p>
        </p:txBody>
      </p:sp>
      <p:sp>
        <p:nvSpPr>
          <p:cNvPr id="64" name="" descr="{&quot;isTemplate&quot;:true,&quot;type&quot;:&quot;text&quot;}"/>
          <p:cNvSpPr txBox="1"/>
          <p:nvPr/>
        </p:nvSpPr>
        <p:spPr>
          <a:xfrm rot="0" flipH="0" flipV="0">
            <a:off x="990600" y="5591175"/>
            <a:ext cx="2962275" cy="695325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zh-CN" sz="1425">
                <a:solidFill>
                  <a:srgbClr val="0A1628">
                    <a:alpha val="82000"/>
                  </a:srgbClr>
                </a:solidFill>
                <a:latin typeface="Microsoft YaHei"/>
                <a:ea typeface="Microsoft YaHei"/>
              </a:rPr>
              <a:t>不猜明天的漲跌，</a:t>
            </a:r>
            <a:endParaRPr/>
          </a:p>
          <a:p>
            <a:pPr>
              <a:lnSpc>
                <a:spcPct val="160000"/>
              </a:lnSpc>
            </a:pPr>
            <a:r>
              <a:rPr lang="zh-CN" sz="1425">
                <a:solidFill>
                  <a:srgbClr val="0A1628">
                    <a:alpha val="82000"/>
                  </a:srgbClr>
                </a:solidFill>
                <a:latin typeface="Microsoft YaHei"/>
                <a:ea typeface="Microsoft YaHei"/>
              </a:rPr>
              <a:t>只把今天的風險結構攤開。</a:t>
            </a:r>
            <a:endParaRPr/>
          </a:p>
        </p:txBody>
      </p:sp>
      <p:sp>
        <p:nvSpPr>
          <p:cNvPr id="65" name="" descr="{&quot;isTemplate&quot;:true,&quot;type&quot;:&quot;text&quot;}"/>
          <p:cNvSpPr txBox="1"/>
          <p:nvPr/>
        </p:nvSpPr>
        <p:spPr>
          <a:xfrm rot="0" flipH="0" flipV="0">
            <a:off x="4924425" y="2409825"/>
            <a:ext cx="6448425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650" b="1">
                <a:solidFill>
                  <a:srgbClr val="E6F0FA">
                    <a:alpha val="70000"/>
                  </a:srgbClr>
                </a:solidFill>
                <a:latin typeface="Microsoft YaHei"/>
                <a:ea typeface="Microsoft YaHei"/>
              </a:rPr>
              <a:t>預測型（市面多數）</a:t>
            </a:r>
            <a:endParaRPr/>
          </a:p>
        </p:txBody>
      </p:sp>
      <p:sp>
        <p:nvSpPr>
          <p:cNvPr id="66" name="" descr="{&quot;isTemplate&quot;:true,&quot;type&quot;:&quot;text&quot;}"/>
          <p:cNvSpPr txBox="1"/>
          <p:nvPr/>
        </p:nvSpPr>
        <p:spPr>
          <a:xfrm rot="0" flipH="0" flipV="0">
            <a:off x="4924425" y="2762250"/>
            <a:ext cx="6448425" cy="352425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zh-CN" sz="1425">
                <a:solidFill>
                  <a:srgbClr val="E6F0FA">
                    <a:alpha val="85000"/>
                  </a:srgbClr>
                </a:solidFill>
                <a:latin typeface="Microsoft YaHei"/>
                <a:ea typeface="Microsoft YaHei"/>
              </a:rPr>
              <a:t>猜明天漲跌</a:t>
            </a:r>
            <a:r>
              <a:rPr lang="en-US" sz="1425">
                <a:solidFill>
                  <a:srgbClr val="E6F0FA">
                    <a:alpha val="85000"/>
                  </a:srgbClr>
                </a:solidFill>
                <a:latin typeface="Microsoft YaHei"/>
                <a:ea typeface="Microsoft YaHei"/>
              </a:rPr>
              <a:t xml:space="preserve"> · </a:t>
            </a:r>
            <a:r>
              <a:rPr lang="zh-CN" sz="1425">
                <a:solidFill>
                  <a:srgbClr val="E6F0FA">
                    <a:alpha val="85000"/>
                  </a:srgbClr>
                </a:solidFill>
                <a:latin typeface="Microsoft YaHei"/>
                <a:ea typeface="Microsoft YaHei"/>
              </a:rPr>
              <a:t>給買賣點</a:t>
            </a:r>
            <a:r>
              <a:rPr lang="en-US" sz="1425">
                <a:solidFill>
                  <a:srgbClr val="E6F0FA">
                    <a:alpha val="85000"/>
                  </a:srgbClr>
                </a:solidFill>
                <a:latin typeface="Microsoft YaHei"/>
                <a:ea typeface="Microsoft YaHei"/>
              </a:rPr>
              <a:t xml:space="preserve"> · </a:t>
            </a:r>
            <a:r>
              <a:rPr lang="zh-CN" sz="1425">
                <a:solidFill>
                  <a:srgbClr val="E6F0FA">
                    <a:alpha val="85000"/>
                  </a:srgbClr>
                </a:solidFill>
                <a:latin typeface="Microsoft YaHei"/>
                <a:ea typeface="Microsoft YaHei"/>
              </a:rPr>
              <a:t>回答「該不該買」。</a:t>
            </a:r>
            <a:endParaRPr/>
          </a:p>
        </p:txBody>
      </p:sp>
      <p:sp>
        <p:nvSpPr>
          <p:cNvPr id="67" name="" descr="{&quot;isTemplate&quot;:true,&quot;type&quot;:&quot;text&quot;}"/>
          <p:cNvSpPr txBox="1"/>
          <p:nvPr/>
        </p:nvSpPr>
        <p:spPr>
          <a:xfrm rot="0" flipH="0" flipV="0">
            <a:off x="609600" y="6524625"/>
            <a:ext cx="21717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E6F0FA">
                    <a:alpha val="45000"/>
                  </a:srgbClr>
                </a:solidFill>
                <a:latin typeface="Microsoft YaHei"/>
                <a:ea typeface="Microsoft YaHei"/>
              </a:rPr>
              <a:t>持倉透鏡</a:t>
            </a:r>
            <a:r>
              <a:rPr lang="en-US" sz="1050">
                <a:solidFill>
                  <a:srgbClr val="E6F0FA">
                    <a:alpha val="45000"/>
                  </a:srgbClr>
                </a:solidFill>
                <a:latin typeface="Microsoft YaHei"/>
                <a:ea typeface="Microsoft YaHei"/>
              </a:rPr>
              <a:t xml:space="preserve"> HoldingsLens · 1024 </a:t>
            </a:r>
            <a:r>
              <a:rPr lang="zh-CN" sz="1050">
                <a:solidFill>
                  <a:srgbClr val="E6F0FA">
                    <a:alpha val="45000"/>
                  </a:srgbClr>
                </a:solidFill>
                <a:latin typeface="Microsoft YaHei"/>
                <a:ea typeface="Microsoft YaHei"/>
              </a:rPr>
              <a:t>投稿</a:t>
            </a:r>
            <a:endParaRPr/>
          </a:p>
        </p:txBody>
      </p:sp>
      <p:sp>
        <p:nvSpPr>
          <p:cNvPr id="68" name="" descr="{&quot;isTemplate&quot;:true,&quot;type&quot;:&quot;text&quot;}"/>
          <p:cNvSpPr txBox="1"/>
          <p:nvPr/>
        </p:nvSpPr>
        <p:spPr>
          <a:xfrm rot="0" flipH="0" flipV="0">
            <a:off x="11125200" y="6524625"/>
            <a:ext cx="457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E6F0FA">
                    <a:alpha val="45000"/>
                  </a:srgbClr>
                </a:solidFill>
                <a:latin typeface="Microsoft YaHei"/>
                <a:ea typeface="Microsoft YaHei"/>
              </a:rPr>
              <a:t>03 / 09</a:t>
            </a:r>
            <a:endParaRPr/>
          </a:p>
        </p:txBody>
      </p:sp>
    </p:spTree>
  </p:cSld>
</p:sld>
</file>

<file path=ppt/slides/slide4.xml><?xml version="1.0" encoding="utf-8"?>
<p:sld xmlns:p="http://schemas.openxmlformats.org/presentationml/2006/main" xmlns:a="http://schemas.openxmlformats.org/drawingml/2006/main">
  <p:cSld>
    <p:spTree>
      <p:nvGrpSpPr>
        <p:cNvPr id="69" name="" descr="&lt;Slide style={{ width: '1280px', height: '720px', background: '#0A1628', padding: '20px 64px', position: 'relative', display: 'flex', flexDirection: 'column' }}&gt;&#10;  &lt;Box style={{ height: 76, justifyContent: 'center' }}&gt;&#10;    &lt;Text style={{ fontSize: 34, fontWeight: 'bold', color: '#E6F0FA' }}&gt;三個公式，把風險拆開&lt;/Text&gt;&#10;  &lt;/Box&gt;&#10;  &lt;Box style={{ flexDirection: 'row', alignItems: 'center', gap: 22, marginBottom: 14 }}&gt;&#10;    &lt;Text style={{ fontSize: 100, fontWeight: 'bold', color: '#0099FF' }}&gt;3&lt;/Text&gt;&#10;    &lt;Text style={{ fontSize: 25, color: '#E6F0FA', opacity: 0.8, lineHeight: 1.4 }}&gt;個核心公式&lt;br /&gt;構成整套歸因引擎&lt;/Text&gt;&#10;  &lt;/Box&gt;&#10;  &lt;Box style={{ flexDirection: 'row', flex: 1, alignItems: 'stretch' }}&gt;&#10;    &lt;Box style={{ flex: 1, paddingHorizontal: 26, borderRight: '1px solid rgba(230,240,250,0.12)', justifyContent: 'space-between' }}&gt;&#10;      &lt;Text style={{ fontSize: 20, color: '#00E2C6', fontWeight: 'bold' }}&gt;① 協方差矩陣&lt;/Text&gt;&#10;      &lt;Text style={{ fontSize: 26, color: '#E6F0FA', fontWeight: 'bold' }}&gt;Σij = ρij × σi × σj&lt;/Text&gt;&#10;      &lt;Text style={{ fontSize: 18, color: '#E6F0FA', opacity: 0.8, lineHeight: 1.6 }}&gt;把所有資產兩兩的相關性與波動，壓成一張風險地圖。&lt;/Text&gt;&#10;    &lt;/Box&gt;&#10;    &lt;Box style={{ flex: 1, paddingHorizontal: 26, borderRight: '1px solid rgba(230,240,250,0.12)', justifyContent: 'space-between' }}&gt;&#10;      &lt;Text style={{ fontSize: 20, color: '#00E2C6', fontWeight: 'bold' }}&gt;② 風險貢獻&lt;/Text&gt;&#10;      &lt;Text style={{ fontSize: 26, color: '#E6F0FA', fontWeight: 'bold' }}&gt;RCi = wi × (Σw)i / σp&lt;/Text&gt;&#10;      &lt;Text style={{ fontSize: 18, color: '#E6F0FA', opacity: 0.8, lineHeight: 1.6 }}&gt;每類資產吃掉多少波動，一目了然；且 ΣRCi = σp。&lt;/Text&gt;&#10;    &lt;/Box&gt;&#10;    &lt;Box style={{ flex: 1, paddingHorizontal: 26, justifyContent: 'space-between' }}&gt;&#10;      &lt;Text style={{ fontSize: 20, color: '#00E2C6', fontWeight: 'bold' }}&gt;③ 危機壓力測試&lt;/Text&gt;&#10;      &lt;Text style={{ fontSize: 26, color: '#E6F0FA', fontWeight: 'bold' }}&gt;ρ 只升不降&lt;/Text&gt;&#10;      &lt;Text style={{ fontSize: 18, color: '#E6F0FA', opacity: 0.8, lineHeight: 1.6 }}&gt;危機下相關性只允許上升，保證 σ_crisis ≥ σ_normal。&lt;/Text&gt;&#10;    &lt;/Box&gt;&#10;  &lt;/Box&gt;&#10;  &lt;Box style={{ marginTop: 14, paddingTop: 14, borderTop: '1px solid rgba(230,240,250,0.12)' }}&gt;&#10;    &lt;Text style={{ fontSize: 19, color: '#E6F0FA', opacity: 0.85 }}&gt;把這三個數學對齊，就能回答一個問題：&lt;span style={{ color: '#0099FF', fontWeight: 'bold' }}&gt;我的風險，到底押在誰身上？&lt;/span&gt;&lt;/Text&gt;&#10;  &lt;/Box&gt;&#10;  &lt;Box style={{ position: 'absolute', bottom: 18, left: 64, right: 64, flexDirection: 'row', justifyContent: 'space-between' }}&gt;&#10;    &lt;Text style={{ fontSize: 14, color: '#E6F0FA', opacity: 0.45 }}&gt;持倉透鏡 HoldingsLens · 1024 投稿&lt;/Text&gt;&#10;    &lt;Text style={{ fontSize: 14, color: '#E6F0FA', opacity: 0.45 }}&gt;04 / 09&lt;/Text&gt;&#10;  &lt;/Box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0A1628"/>
          </a:solidFill>
          <a:ln/>
        </p:spPr>
        <p:txBody>
          <a:bodyPr/>
          <a:p/>
        </p:txBody>
      </p:sp>
      <p:sp>
        <p:nvSpPr>
          <p:cNvPr id="71" name="" descr="{&quot;isTemplate&quot;:true,&quot;type&quot;:&quot;text&quot;}"/>
          <p:cNvSpPr txBox="1"/>
          <p:nvPr/>
        </p:nvSpPr>
        <p:spPr>
          <a:xfrm rot="0" flipH="0" flipV="0">
            <a:off x="609600" y="361950"/>
            <a:ext cx="10972800" cy="3905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550" b="1">
                <a:solidFill>
                  <a:srgbClr val="E6F0FA"/>
                </a:solidFill>
                <a:latin typeface="Microsoft YaHei"/>
                <a:ea typeface="Microsoft YaHei"/>
              </a:rPr>
              <a:t>三個公式，把風險拆開</a:t>
            </a:r>
            <a:endParaRPr/>
          </a:p>
        </p:txBody>
      </p:sp>
      <p:sp>
        <p:nvSpPr>
          <p:cNvPr id="72" name="" descr="{&quot;isTemplate&quot;:true,&quot;type&quot;:&quot;text&quot;}"/>
          <p:cNvSpPr txBox="1"/>
          <p:nvPr/>
        </p:nvSpPr>
        <p:spPr>
          <a:xfrm rot="0" flipH="0" flipV="0">
            <a:off x="609600" y="914400"/>
            <a:ext cx="590550" cy="11430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7500" b="1">
                <a:solidFill>
                  <a:srgbClr val="0099FF"/>
                </a:solidFill>
                <a:latin typeface="Microsoft YaHei"/>
                <a:ea typeface="Microsoft YaHei"/>
              </a:rPr>
              <a:t>3</a:t>
            </a:r>
            <a:endParaRPr/>
          </a:p>
        </p:txBody>
      </p:sp>
      <p:sp>
        <p:nvSpPr>
          <p:cNvPr id="73" name=""/>
          <p:cNvSpPr/>
          <p:nvPr/>
        </p:nvSpPr>
        <p:spPr>
          <a:xfrm rot="0" flipH="0" flipV="0">
            <a:off x="609600" y="2190750"/>
            <a:ext cx="3667125" cy="3981450"/>
          </a:xfrm>
          <a:custGeom>
            <a:pathLst>
              <a:path w="385" h="418">
                <a:moveTo>
                  <a:pt x="384" y="0"/>
                </a:moveTo>
                <a:lnTo>
                  <a:pt x="385" y="0"/>
                </a:lnTo>
                <a:lnTo>
                  <a:pt x="385" y="418"/>
                </a:lnTo>
                <a:lnTo>
                  <a:pt x="384" y="418"/>
                </a:lnTo>
                <a:close/>
              </a:path>
            </a:pathLst>
          </a:custGeom>
          <a:solidFill>
            <a:srgbClr val="E6F0FA">
              <a:alpha val="12000"/>
            </a:srgbClr>
          </a:solidFill>
          <a:ln/>
        </p:spPr>
        <p:txBody>
          <a:bodyPr/>
          <a:p/>
        </p:txBody>
      </p:sp>
      <p:sp>
        <p:nvSpPr>
          <p:cNvPr id="74" name="" descr="{&quot;isTemplate&quot;:true,&quot;type&quot;:&quot;text&quot;}"/>
          <p:cNvSpPr txBox="1"/>
          <p:nvPr/>
        </p:nvSpPr>
        <p:spPr>
          <a:xfrm rot="0" flipH="0" flipV="0">
            <a:off x="609600" y="2190750"/>
            <a:ext cx="3648075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500" b="1">
                <a:solidFill>
                  <a:srgbClr val="00E2C6"/>
                </a:solidFill>
                <a:latin typeface="Microsoft YaHei"/>
                <a:ea typeface="Microsoft YaHei"/>
              </a:rPr>
              <a:t xml:space="preserve">① </a:t>
            </a:r>
            <a:r>
              <a:rPr lang="zh-CN" sz="1500" b="1">
                <a:solidFill>
                  <a:srgbClr val="00E2C6"/>
                </a:solidFill>
                <a:latin typeface="Microsoft YaHei"/>
                <a:ea typeface="Microsoft YaHei"/>
              </a:rPr>
              <a:t>協方差矩陣</a:t>
            </a:r>
            <a:endParaRPr/>
          </a:p>
        </p:txBody>
      </p:sp>
      <p:sp>
        <p:nvSpPr>
          <p:cNvPr id="75" name="" descr="{&quot;isTemplate&quot;:true,&quot;type&quot;:&quot;text&quot;}"/>
          <p:cNvSpPr txBox="1"/>
          <p:nvPr/>
        </p:nvSpPr>
        <p:spPr>
          <a:xfrm rot="0" flipH="0" flipV="0">
            <a:off x="609600" y="3810000"/>
            <a:ext cx="3648075" cy="3048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950" b="1">
                <a:solidFill>
                  <a:srgbClr val="E6F0FA"/>
                </a:solidFill>
                <a:latin typeface="Microsoft YaHei"/>
                <a:ea typeface="Microsoft YaHei"/>
              </a:rPr>
              <a:t>Σij = ρij × σi × σj</a:t>
            </a:r>
            <a:endParaRPr/>
          </a:p>
        </p:txBody>
      </p:sp>
      <p:sp>
        <p:nvSpPr>
          <p:cNvPr id="76" name=""/>
          <p:cNvSpPr/>
          <p:nvPr/>
        </p:nvSpPr>
        <p:spPr>
          <a:xfrm rot="0" flipH="0" flipV="0">
            <a:off x="4267200" y="2190750"/>
            <a:ext cx="3667125" cy="3981450"/>
          </a:xfrm>
          <a:custGeom>
            <a:pathLst>
              <a:path w="385" h="418">
                <a:moveTo>
                  <a:pt x="384" y="0"/>
                </a:moveTo>
                <a:lnTo>
                  <a:pt x="385" y="0"/>
                </a:lnTo>
                <a:lnTo>
                  <a:pt x="385" y="418"/>
                </a:lnTo>
                <a:lnTo>
                  <a:pt x="384" y="418"/>
                </a:lnTo>
                <a:close/>
              </a:path>
            </a:pathLst>
          </a:custGeom>
          <a:solidFill>
            <a:srgbClr val="E6F0FA">
              <a:alpha val="12000"/>
            </a:srgbClr>
          </a:solidFill>
          <a:ln/>
        </p:spPr>
        <p:txBody>
          <a:bodyPr/>
          <a:p/>
        </p:txBody>
      </p:sp>
      <p:sp>
        <p:nvSpPr>
          <p:cNvPr id="77" name="" descr="{&quot;isTemplate&quot;:true,&quot;type&quot;:&quot;text&quot;}"/>
          <p:cNvSpPr txBox="1"/>
          <p:nvPr/>
        </p:nvSpPr>
        <p:spPr>
          <a:xfrm rot="0" flipH="0" flipV="0">
            <a:off x="4267200" y="2190750"/>
            <a:ext cx="3648075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500" b="1">
                <a:solidFill>
                  <a:srgbClr val="00E2C6"/>
                </a:solidFill>
                <a:latin typeface="Microsoft YaHei"/>
                <a:ea typeface="Microsoft YaHei"/>
              </a:rPr>
              <a:t xml:space="preserve">② </a:t>
            </a:r>
            <a:r>
              <a:rPr lang="zh-CN" sz="1500" b="1">
                <a:solidFill>
                  <a:srgbClr val="00E2C6"/>
                </a:solidFill>
                <a:latin typeface="Microsoft YaHei"/>
                <a:ea typeface="Microsoft YaHei"/>
              </a:rPr>
              <a:t>風險貢獻</a:t>
            </a:r>
            <a:endParaRPr/>
          </a:p>
        </p:txBody>
      </p:sp>
      <p:sp>
        <p:nvSpPr>
          <p:cNvPr id="78" name="" descr="{&quot;isTemplate&quot;:true,&quot;type&quot;:&quot;text&quot;}"/>
          <p:cNvSpPr txBox="1"/>
          <p:nvPr/>
        </p:nvSpPr>
        <p:spPr>
          <a:xfrm rot="0" flipH="0" flipV="0">
            <a:off x="4267200" y="3810000"/>
            <a:ext cx="3648075" cy="3048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950" b="1">
                <a:solidFill>
                  <a:srgbClr val="E6F0FA"/>
                </a:solidFill>
                <a:latin typeface="Microsoft YaHei"/>
                <a:ea typeface="Microsoft YaHei"/>
              </a:rPr>
              <a:t>RCi = wi × (Σw)i / σp</a:t>
            </a:r>
            <a:endParaRPr/>
          </a:p>
        </p:txBody>
      </p:sp>
      <p:sp>
        <p:nvSpPr>
          <p:cNvPr id="79" name="" descr="{&quot;isTemplate&quot;:true,&quot;type&quot;:&quot;text&quot;}"/>
          <p:cNvSpPr txBox="1"/>
          <p:nvPr/>
        </p:nvSpPr>
        <p:spPr>
          <a:xfrm rot="0" flipH="0" flipV="0">
            <a:off x="7924800" y="2190750"/>
            <a:ext cx="365760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500" b="1">
                <a:solidFill>
                  <a:srgbClr val="00E2C6"/>
                </a:solidFill>
                <a:latin typeface="Microsoft YaHei"/>
                <a:ea typeface="Microsoft YaHei"/>
              </a:rPr>
              <a:t xml:space="preserve">③ </a:t>
            </a:r>
            <a:r>
              <a:rPr lang="zh-CN" sz="1500" b="1">
                <a:solidFill>
                  <a:srgbClr val="00E2C6"/>
                </a:solidFill>
                <a:latin typeface="Microsoft YaHei"/>
                <a:ea typeface="Microsoft YaHei"/>
              </a:rPr>
              <a:t>危機壓力測試</a:t>
            </a:r>
            <a:endParaRPr/>
          </a:p>
        </p:txBody>
      </p:sp>
      <p:sp>
        <p:nvSpPr>
          <p:cNvPr id="80" name="" descr="{&quot;isTemplate&quot;:true,&quot;type&quot;:&quot;text&quot;}"/>
          <p:cNvSpPr txBox="1"/>
          <p:nvPr/>
        </p:nvSpPr>
        <p:spPr>
          <a:xfrm rot="0" flipH="0" flipV="0">
            <a:off x="7924800" y="3810000"/>
            <a:ext cx="3657600" cy="3048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950" b="1">
                <a:solidFill>
                  <a:srgbClr val="E6F0FA"/>
                </a:solidFill>
                <a:latin typeface="Microsoft YaHei"/>
                <a:ea typeface="Microsoft YaHei"/>
              </a:rPr>
              <a:t xml:space="preserve">ρ </a:t>
            </a:r>
            <a:r>
              <a:rPr lang="zh-CN" sz="1950" b="1">
                <a:solidFill>
                  <a:srgbClr val="E6F0FA"/>
                </a:solidFill>
                <a:latin typeface="Microsoft YaHei"/>
                <a:ea typeface="Microsoft YaHei"/>
              </a:rPr>
              <a:t>只升不降</a:t>
            </a:r>
            <a:endParaRPr/>
          </a:p>
        </p:txBody>
      </p:sp>
      <p:sp>
        <p:nvSpPr>
          <p:cNvPr id="81" name=""/>
          <p:cNvSpPr/>
          <p:nvPr/>
        </p:nvSpPr>
        <p:spPr>
          <a:xfrm rot="0" flipH="0" flipV="0">
            <a:off x="609600" y="6305550"/>
            <a:ext cx="10972800" cy="371475"/>
          </a:xfrm>
          <a:custGeom>
            <a:pathLst>
              <a:path w="1152" h="39">
                <a:moveTo>
                  <a:pt x="0" y="0"/>
                </a:moveTo>
                <a:lnTo>
                  <a:pt x="1152" y="0"/>
                </a:lnTo>
                <a:lnTo>
                  <a:pt x="1152" y="1"/>
                </a:lnTo>
                <a:lnTo>
                  <a:pt x="0" y="1"/>
                </a:lnTo>
                <a:close/>
              </a:path>
            </a:pathLst>
          </a:custGeom>
          <a:solidFill>
            <a:srgbClr val="E6F0FA">
              <a:alpha val="12000"/>
            </a:srgbClr>
          </a:solidFill>
          <a:ln/>
        </p:spPr>
        <p:txBody>
          <a:bodyPr/>
          <a:p/>
        </p:txBody>
      </p:sp>
      <p:sp>
        <p:nvSpPr>
          <p:cNvPr id="82" name="" descr="{&quot;isTemplate&quot;:true,&quot;type&quot;:&quot;text&quot;}"/>
          <p:cNvSpPr txBox="1"/>
          <p:nvPr/>
        </p:nvSpPr>
        <p:spPr>
          <a:xfrm rot="0" flipH="0" flipV="0">
            <a:off x="1409700" y="1085850"/>
            <a:ext cx="1905000" cy="800100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1875">
                <a:solidFill>
                  <a:srgbClr val="E6F0FA">
                    <a:alpha val="80000"/>
                  </a:srgbClr>
                </a:solidFill>
                <a:latin typeface="Microsoft YaHei"/>
                <a:ea typeface="Microsoft YaHei"/>
              </a:rPr>
              <a:t>個核心公式</a:t>
            </a:r>
            <a:endParaRPr/>
          </a:p>
          <a:p>
            <a:pPr>
              <a:lnSpc>
                <a:spcPct val="140000"/>
              </a:lnSpc>
            </a:pPr>
            <a:r>
              <a:rPr lang="zh-CN" sz="1875">
                <a:solidFill>
                  <a:srgbClr val="E6F0FA">
                    <a:alpha val="80000"/>
                  </a:srgbClr>
                </a:solidFill>
                <a:latin typeface="Microsoft YaHei"/>
                <a:ea typeface="Microsoft YaHei"/>
              </a:rPr>
              <a:t>構成整套歸因引擎</a:t>
            </a:r>
            <a:endParaRPr/>
          </a:p>
        </p:txBody>
      </p:sp>
      <p:sp>
        <p:nvSpPr>
          <p:cNvPr id="83" name="" descr="{&quot;isTemplate&quot;:true,&quot;type&quot;:&quot;text&quot;}"/>
          <p:cNvSpPr txBox="1"/>
          <p:nvPr/>
        </p:nvSpPr>
        <p:spPr>
          <a:xfrm rot="0" flipH="0" flipV="0">
            <a:off x="609600" y="5505450"/>
            <a:ext cx="3648075" cy="6667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0000"/>
              </a:lnSpc>
            </a:pPr>
            <a:r>
              <a:rPr lang="zh-CN" sz="1350">
                <a:solidFill>
                  <a:srgbClr val="E6F0FA">
                    <a:alpha val="80000"/>
                  </a:srgbClr>
                </a:solidFill>
                <a:latin typeface="Microsoft YaHei"/>
                <a:ea typeface="Microsoft YaHei"/>
              </a:rPr>
              <a:t>把所有資產兩兩的相關性與波動，壓成一張風險地圖。</a:t>
            </a:r>
            <a:endParaRPr/>
          </a:p>
        </p:txBody>
      </p:sp>
      <p:sp>
        <p:nvSpPr>
          <p:cNvPr id="84" name="" descr="{&quot;isTemplate&quot;:true,&quot;type&quot;:&quot;text&quot;}"/>
          <p:cNvSpPr txBox="1"/>
          <p:nvPr/>
        </p:nvSpPr>
        <p:spPr>
          <a:xfrm rot="0" flipH="0" flipV="0">
            <a:off x="4267200" y="5505450"/>
            <a:ext cx="3648075" cy="6667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0000"/>
              </a:lnSpc>
            </a:pPr>
            <a:r>
              <a:rPr lang="zh-CN" sz="1350">
                <a:solidFill>
                  <a:srgbClr val="E6F0FA">
                    <a:alpha val="80000"/>
                  </a:srgbClr>
                </a:solidFill>
                <a:latin typeface="Microsoft YaHei"/>
                <a:ea typeface="Microsoft YaHei"/>
              </a:rPr>
              <a:t>每類資產吃掉多少波動，一目了然；且</a:t>
            </a:r>
            <a:r>
              <a:rPr lang="en-US" sz="1350">
                <a:solidFill>
                  <a:srgbClr val="E6F0FA">
                    <a:alpha val="80000"/>
                  </a:srgbClr>
                </a:solidFill>
                <a:latin typeface="Microsoft YaHei"/>
                <a:ea typeface="Microsoft YaHei"/>
              </a:rPr>
              <a:t xml:space="preserve"> ΣRCi = σp</a:t>
            </a:r>
            <a:r>
              <a:rPr lang="zh-CN" sz="1350">
                <a:solidFill>
                  <a:srgbClr val="E6F0FA">
                    <a:alpha val="80000"/>
                  </a:srgbClr>
                </a:solidFill>
                <a:latin typeface="Microsoft YaHei"/>
                <a:ea typeface="Microsoft YaHei"/>
              </a:rPr>
              <a:t>。</a:t>
            </a:r>
            <a:endParaRPr/>
          </a:p>
        </p:txBody>
      </p:sp>
      <p:sp>
        <p:nvSpPr>
          <p:cNvPr id="85" name="" descr="{&quot;isTemplate&quot;:true,&quot;type&quot;:&quot;text&quot;}"/>
          <p:cNvSpPr txBox="1"/>
          <p:nvPr/>
        </p:nvSpPr>
        <p:spPr>
          <a:xfrm rot="0" flipH="0" flipV="0">
            <a:off x="7924800" y="5505450"/>
            <a:ext cx="3657600" cy="6667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0000"/>
              </a:lnSpc>
            </a:pPr>
            <a:r>
              <a:rPr lang="zh-CN" sz="1350">
                <a:solidFill>
                  <a:srgbClr val="E6F0FA">
                    <a:alpha val="80000"/>
                  </a:srgbClr>
                </a:solidFill>
                <a:latin typeface="Microsoft YaHei"/>
                <a:ea typeface="Microsoft YaHei"/>
              </a:rPr>
              <a:t>危機下相關性只允許上升，保證</a:t>
            </a:r>
            <a:r>
              <a:rPr lang="en-US" sz="1350">
                <a:solidFill>
                  <a:srgbClr val="E6F0FA">
                    <a:alpha val="80000"/>
                  </a:srgbClr>
                </a:solidFill>
                <a:latin typeface="Microsoft YaHei"/>
                <a:ea typeface="Microsoft YaHei"/>
              </a:rPr>
              <a:t xml:space="preserve"> σ_crisis ≥ σ_normal</a:t>
            </a:r>
            <a:r>
              <a:rPr lang="zh-CN" sz="1350">
                <a:solidFill>
                  <a:srgbClr val="E6F0FA">
                    <a:alpha val="80000"/>
                  </a:srgbClr>
                </a:solidFill>
                <a:latin typeface="Microsoft YaHei"/>
                <a:ea typeface="Microsoft YaHei"/>
              </a:rPr>
              <a:t>。</a:t>
            </a:r>
            <a:endParaRPr/>
          </a:p>
        </p:txBody>
      </p:sp>
      <p:sp>
        <p:nvSpPr>
          <p:cNvPr id="86" name="" descr="{&quot;isTemplate&quot;:true,&quot;type&quot;:&quot;text&quot;}"/>
          <p:cNvSpPr txBox="1"/>
          <p:nvPr/>
        </p:nvSpPr>
        <p:spPr>
          <a:xfrm rot="0" flipH="0" flipV="0">
            <a:off x="609600" y="6448425"/>
            <a:ext cx="10972800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425">
                <a:solidFill>
                  <a:srgbClr val="E6F0FA">
                    <a:alpha val="85000"/>
                  </a:srgbClr>
                </a:solidFill>
                <a:latin typeface="Microsoft YaHei"/>
                <a:ea typeface="Microsoft YaHei"/>
              </a:rPr>
              <a:t>把這三個數學對齊，就能回答一個問題：</a:t>
            </a:r>
            <a:r>
              <a:rPr lang="zh-CN" sz="1425" b="1">
                <a:solidFill>
                  <a:srgbClr val="0099FF">
                    <a:alpha val="85000"/>
                  </a:srgbClr>
                </a:solidFill>
                <a:latin typeface="Microsoft YaHei"/>
                <a:ea typeface="Microsoft YaHei"/>
              </a:rPr>
              <a:t>我的風險，到底押在誰身上？</a:t>
            </a:r>
            <a:endParaRPr/>
          </a:p>
        </p:txBody>
      </p:sp>
      <p:sp>
        <p:nvSpPr>
          <p:cNvPr id="87" name="" descr="{&quot;isTemplate&quot;:true,&quot;type&quot;:&quot;text&quot;}"/>
          <p:cNvSpPr txBox="1"/>
          <p:nvPr/>
        </p:nvSpPr>
        <p:spPr>
          <a:xfrm rot="0" flipH="0" flipV="0">
            <a:off x="609600" y="6524625"/>
            <a:ext cx="21717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E6F0FA">
                    <a:alpha val="45000"/>
                  </a:srgbClr>
                </a:solidFill>
                <a:latin typeface="Microsoft YaHei"/>
                <a:ea typeface="Microsoft YaHei"/>
              </a:rPr>
              <a:t>持倉透鏡</a:t>
            </a:r>
            <a:r>
              <a:rPr lang="en-US" sz="1050">
                <a:solidFill>
                  <a:srgbClr val="E6F0FA">
                    <a:alpha val="45000"/>
                  </a:srgbClr>
                </a:solidFill>
                <a:latin typeface="Microsoft YaHei"/>
                <a:ea typeface="Microsoft YaHei"/>
              </a:rPr>
              <a:t xml:space="preserve"> HoldingsLens · 1024 </a:t>
            </a:r>
            <a:r>
              <a:rPr lang="zh-CN" sz="1050">
                <a:solidFill>
                  <a:srgbClr val="E6F0FA">
                    <a:alpha val="45000"/>
                  </a:srgbClr>
                </a:solidFill>
                <a:latin typeface="Microsoft YaHei"/>
                <a:ea typeface="Microsoft YaHei"/>
              </a:rPr>
              <a:t>投稿</a:t>
            </a:r>
            <a:endParaRPr/>
          </a:p>
        </p:txBody>
      </p:sp>
      <p:sp>
        <p:nvSpPr>
          <p:cNvPr id="88" name="" descr="{&quot;isTemplate&quot;:true,&quot;type&quot;:&quot;text&quot;}"/>
          <p:cNvSpPr txBox="1"/>
          <p:nvPr/>
        </p:nvSpPr>
        <p:spPr>
          <a:xfrm rot="0" flipH="0" flipV="0">
            <a:off x="11125200" y="6524625"/>
            <a:ext cx="457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E6F0FA">
                    <a:alpha val="45000"/>
                  </a:srgbClr>
                </a:solidFill>
                <a:latin typeface="Microsoft YaHei"/>
                <a:ea typeface="Microsoft YaHei"/>
              </a:rPr>
              <a:t>04 / 09</a:t>
            </a:r>
            <a:endParaRPr/>
          </a:p>
        </p:txBody>
      </p:sp>
    </p:spTree>
  </p:cSld>
</p:sld>
</file>

<file path=ppt/slides/slide5.xml><?xml version="1.0" encoding="utf-8"?>
<p:sld xmlns:p="http://schemas.openxmlformats.org/presentationml/2006/main" xmlns:a="http://schemas.openxmlformats.org/drawingml/2006/main">
  <p:cSld>
    <p:spTree>
      <p:nvGrpSpPr>
        <p:cNvPr id="89" name="" descr="&lt;Slide style={{ width: '1280px', height: '720px', background: '#0A1628', padding: '20px 64px', position: 'relative', display: 'flex', flexDirection: 'column' }}&gt;&#10;  &lt;Box style={{ height: 76, justifyContent: 'center' }}&gt;&#10;    &lt;Text style={{ fontSize: 34, fontWeight: 'bold', color: '#E6F0FA' }}&gt;四個實用功能&lt;/Text&gt;&#10;  &lt;/Box&gt;&#10;  &lt;Box style={{ flexDirection: 'row', gap: 20, height: 394, alignItems: 'stretch' }}&gt;&#10;    &lt;Box style={{ flex: 1, background: 'rgba(0,153,255,0.08)', border: '1px solid rgba(0,226,198,0.25)', borderRadius: 14, padding: 22, flexDirection: 'column' }}&gt;&#10;      &lt;Box style={{ width: 50, height: 50, borderRadius: 25, background: 'linear-gradient(135deg,#0099FF,#00E2C6)', alignItems: 'center', justifyContent: 'center' }}&gt;&#10;        &lt;Text style={{ fontSize: 23, fontWeight: 'bold', color: '#0A1628' }}&gt;1&lt;/Text&gt;&#10;      &lt;/Box&gt;&#10;      &lt;Text style={{ fontSize: 23, fontWeight: 'bold', color: '#E6F0FA', marginTop: 12 }}&gt;雙語切換&lt;/Text&gt;&#10;      &lt;Text style={{ fontSize: 17, color: '#E6F0FA', opacity: 0.85, marginTop: 10, lineHeight: 1.6 }}&gt;簡體 / 繁體一鍵切換，報告用語符合本地習慣，不是機器翻譯。&lt;/Text&gt;&#10;      &lt;Box style={{ background: 'rgba(10,22,40,0.4)', borderRadius: 10, paddingTop: 10, paddingBottom: 10, paddingLeft: 12, paddingRight: 12, marginTop: 10, flex: 1, justifyContent: 'center' }}&gt;&#10;        &lt;Text style={{ fontSize: 12, color: '#00E2C6', opacity: 0.8 }}&gt;輸出預覽&lt;/Text&gt;&#10;        &lt;Text style={{ fontSize: 15, color: '#E6F0FA', marginTop: 6, lineHeight: 1.5 }}&gt;组合波动率 σp = 17.2%&lt;br /&gt;↕ 組合波動率 σp = 17.2%&lt;/Text&gt;&#10;      &lt;/Box&gt;&#10;      &lt;Box style={{ background: 'rgba(0,226,198,0.1)', border: '1px solid rgba(0,226,198,0.35)', borderRadius: 999, paddingTop: 6, paddingBottom: 6, alignItems: 'center', marginTop: 10 }}&gt;&#10;        &lt;Text style={{ fontSize: 14, color: '#6FE3D2' }}&gt;適合兩岸與海外用戶&lt;/Text&gt;&#10;      &lt;/Box&gt;&#10;    &lt;/Box&gt;&#10;    &lt;Box style={{ flex: 1, background: 'rgba(0,153,255,0.08)', border: '1px solid rgba(0,226,198,0.25)', borderRadius: 14, padding: 22, flexDirection: 'column' }}&gt;&#10;      &lt;Box style={{ width: 50, height: 50, borderRadius: 25, background: 'linear-gradient(135deg,#0099FF,#00E2C6)', alignItems: 'center', justifyContent: 'center' }}&gt;&#10;        &lt;Text style={{ fontSize: 23, fontWeight: 'bold', color: '#0A1628' }}&gt;2&lt;/Text&gt;&#10;      &lt;/Box&gt;&#10;      &lt;Text style={{ fontSize: 23, fontWeight: 'bold', color: '#E6F0FA', marginTop: 12 }}&gt;危機壓力測試&lt;/Text&gt;&#10;      &lt;Text style={{ fontSize: 17, color: '#E6F0FA', opacity: 0.85, marginTop: 10, lineHeight: 1.6 }}&gt;把相關性抬到極端值，預演股債齊跌時組合波動會飆多少。&lt;/Text&gt;&#10;      &lt;Box style={{ background: 'rgba(10,22,40,0.4)', borderRadius: 10, paddingTop: 10, paddingBottom: 10, paddingLeft: 12, paddingRight: 12, marginTop: 10, flex: 1, justifyContent: 'center' }}&gt;&#10;        &lt;Text style={{ fontSize: 12, color: '#00E2C6', opacity: 0.8 }}&gt;輸出預覽&lt;/Text&gt;&#10;        &lt;Text style={{ fontSize: 15, color: '#E6F0FA', marginTop: 6, lineHeight: 1.5 }}&gt;波動 17.2% → 19.5%&lt;br /&gt;分散力衰退 41.5%&lt;/Text&gt;&#10;      &lt;/Box&gt;&#10;      &lt;Box style={{ background: 'rgba(0,226,198,0.1)', border: '1px solid rgba(0,226,198,0.35)', borderRadius: 999, paddingTop: 6, paddingBottom: 6, alignItems: 'center', marginTop: 10 }}&gt;&#10;        &lt;Text style={{ fontSize: 14, color: '#6FE3D2' }}&gt;看穿「假分散」&lt;/Text&gt;&#10;      &lt;/Box&gt;&#10;    &lt;/Box&gt;&#10;    &lt;Box style={{ flex: 1, background: 'rgba(0,153,255,0.08)', border: '1px solid rgba(0,226,198,0.25)', borderRadius: 14, padding: 22, flexDirection: 'column' }}&gt;&#10;      &lt;Box style={{ width: 50, height: 50, borderRadius: 25, background: 'linear-gradient(135deg,#0099FF,#00E2C6)', alignItems: 'center', justifyContent: 'center' }}&gt;&#10;        &lt;Text style={{ fontSize: 23, fontWeight: 'bold', color: '#0A1628' }}&gt;3&lt;/Text&gt;&#10;      &lt;/Box&gt;&#10;      &lt;Text style={{ fontSize: 23, fontWeight: 'bold', color: '#E6F0FA', marginTop: 12 }}&gt;優化模擬&lt;/Text&gt;&#10;      &lt;Text style={{ fontSize: 17, color: '#E6F0FA', opacity: 0.85, marginTop: 10, lineHeight: 1.6 }}&gt;指出哪筆倉位過度集中，模擬調倉後的風險結構變化。&lt;/Text&gt;&#10;      &lt;Box style={{ background: 'rgba(10,22,40,0.4)', borderRadius: 10, paddingTop: 10, paddingBottom: 10, paddingLeft: 12, paddingRight: 12, marginTop: 10, flex: 1, justifyContent: 'center' }}&gt;&#10;        &lt;Text style={{ fontSize: 12, color: '#00E2C6', opacity: 0.8 }}&gt;輸出預覽&lt;/Text&gt;&#10;        &lt;Text style={{ fontSize: 15, color: '#E6F0FA', marginTop: 6, lineHeight: 1.5 }}&gt;資金 41.9% → 風險 60.2%&lt;br /&gt;超配 18.3 個百分點&lt;/Text&gt;&#10;      &lt;/Box&gt;&#10;      &lt;Box style={{ background: 'rgba(0,226,198,0.1)', border: '1px solid rgba(0,226,198,0.35)', borderRadius: 999, paddingTop: 6, paddingBottom: 6, alignItems: 'center', marginTop: 10 }}&gt;&#10;        &lt;Text style={{ fontSize: 14, color: '#6FE3D2' }}&gt;給出可執行建議&lt;/Text&gt;&#10;      &lt;/Box&gt;&#10;    &lt;/Box&gt;&#10;    &lt;Box style={{ flex: 1, background: 'rgba(0,153,255,0.08)', border: '1px solid rgba(0,226,198,0.25)', borderRadius: 14, padding: 22, flexDirection: 'column' }}&gt;&#10;      &lt;Box style={{ width: 50, height: 50, borderRadius: 25, background: 'linear-gradient(135deg,#0099FF,#00E2C6)', alignItems: 'center', justifyContent: 'center' }}&gt;&#10;        &lt;Text style={{ fontSize: 23, fontWeight: 'bold', color: '#0A1628' }}&gt;4&lt;/Text&gt;&#10;      &lt;/Box&gt;&#10;      &lt;Text style={{ fontSize: 23, fontWeight: 'bold', color: '#E6F0FA', marginTop: 12 }}&gt;分享卡片&lt;/Text&gt;&#10;      &lt;Text style={{ fontSize: 17, color: '#E6F0FA', opacity: 0.85, marginTop: 10, lineHeight: 1.6 }}&gt;一鍵生成風險體檢卡長圖，存圖分享給自己或朋友。&lt;/Text&gt;&#10;      &lt;Box style={{ background: 'rgba(10,22,40,0.4)', borderRadius: 10, paddingTop: 10, paddingBottom: 10, paddingLeft: 12, paddingRight: 12, marginTop: 10, flex: 1, justifyContent: 'center' }}&gt;&#10;        &lt;Text style={{ fontSize: 12, color: '#00E2C6', opacity: 0.8 }}&gt;輸出預覽&lt;/Text&gt;&#10;        &lt;Text style={{ fontSize: 15, color: '#E6F0FA', marginTop: 6, lineHeight: 1.5 }}&gt;1080 × 1440 長圖&lt;br /&gt;健康評分 62 / 100&lt;/Text&gt;&#10;      &lt;/Box&gt;&#10;      &lt;Box style={{ background: 'rgba(0,226,198,0.1)', border: '1px solid rgba(0,226,198,0.35)', borderRadius: 999, paddingTop: 6, paddingBottom: 6, alignItems: 'center', marginTop: 10 }}&gt;&#10;        &lt;Text style={{ fontSize: 14, color: '#6FE3D2' }}&gt;體檢結果可視化&lt;/Text&gt;&#10;      &lt;/Box&gt;&#10;    &lt;/Box&gt;&#10;  &lt;/Box&gt;&#10;  &lt;Box style={{ flex: 1, background: 'rgba(0,153,255,0.06)', border: '1px solid rgba(0,153,255,0.22)', borderRadius: 14, marginTop: 20, flexDirection: 'row', alignItems: 'center', paddingLeft: 28, paddingRight: 28, gap: 28 }}&gt;&#10;    &lt;Box&gt;&#10;      &lt;Text style={{ fontSize: 20, fontWeight: 'bold', color: '#E6F0FA' }}&gt;四功能共用同一份引擎與資產庫&lt;/Text&gt;&#10;      &lt;Text style={{ fontSize: 15, color: '#E6F0FA', opacity: 0.65, marginTop: 6 }}&gt;輸入一次持倉，歸因、壓力測試、優化、卡片全部基於同一組數字，不會互相矛盾。&lt;/Text&gt;&#10;    &lt;/Box&gt;&#10;    &lt;Box style={{ flex: 1 }} /&gt;&#10;    &lt;Box style={{ flexDirection: 'row', gap: 12 }}&gt;&#10;      &lt;Box style={{ background: 'rgba(0,153,255,0.16)', borderRadius: 999, paddingTop: 8, paddingBottom: 8, paddingLeft: 16, paddingRight: 16 }}&gt;&#10;        &lt;Text style={{ fontSize: 14, color: '#7FC4FF' }}&gt;協方差矩陣&lt;/Text&gt;&#10;      &lt;/Box&gt;&#10;      &lt;Box style={{ background: 'rgba(0,226,198,0.14)', borderRadius: 999, paddingTop: 8, paddingBottom: 8, paddingLeft: 16, paddingRight: 16 }}&gt;&#10;        &lt;Text style={{ fontSize: 14, color: '#6FE3D2' }}&gt;風險貢獻分解&lt;/Text&gt;&#10;      &lt;/Box&gt;&#10;      &lt;Box style={{ background: 'rgba(255,214,102,0.12)', borderRadius: 999, paddingTop: 8, paddingBottom: 8, paddingLeft: 16, paddingRight: 16 }}&gt;&#10;        &lt;Text style={{ fontSize: 14, color: '#FFD666' }}&gt;126 項測試把關&lt;/Text&gt;&#10;      &lt;/Box&gt;&#10;    &lt;/Box&gt;&#10;  &lt;/Box&gt;&#10;  &lt;Box style={{ position: 'absolute', bottom: 18, left: 64, right: 64, flexDirection: 'row', justifyContent: 'space-between' }}&gt;&#10;    &lt;Text style={{ fontSize: 14, color: '#E6F0FA', opacity: 0.45 }}&gt;持倉透鏡 HoldingsLens · 1024 投稿&lt;/Text&gt;&#10;    &lt;Text style={{ fontSize: 14, color: '#E6F0FA', opacity: 0.45 }}&gt;05 / 09&lt;/Text&gt;&#10;  &lt;/Box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0A1628"/>
          </a:solidFill>
          <a:ln/>
        </p:spPr>
        <p:txBody>
          <a:bodyPr/>
          <a:p/>
        </p:txBody>
      </p:sp>
      <p:sp>
        <p:nvSpPr>
          <p:cNvPr id="91" name="" descr="{&quot;isTemplate&quot;:true,&quot;type&quot;:&quot;text&quot;}"/>
          <p:cNvSpPr txBox="1"/>
          <p:nvPr/>
        </p:nvSpPr>
        <p:spPr>
          <a:xfrm rot="0" flipH="0" flipV="0">
            <a:off x="609600" y="361950"/>
            <a:ext cx="10972800" cy="3905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550" b="1">
                <a:solidFill>
                  <a:srgbClr val="E6F0FA"/>
                </a:solidFill>
                <a:latin typeface="Microsoft YaHei"/>
                <a:ea typeface="Microsoft YaHei"/>
              </a:rPr>
              <a:t>四個實用功能</a:t>
            </a:r>
            <a:endParaRPr/>
          </a:p>
        </p:txBody>
      </p:sp>
      <p:sp>
        <p:nvSpPr>
          <p:cNvPr id="92" name=""/>
          <p:cNvSpPr/>
          <p:nvPr/>
        </p:nvSpPr>
        <p:spPr>
          <a:xfrm rot="0" flipH="0" flipV="0">
            <a:off x="609600" y="914400"/>
            <a:ext cx="2600325" cy="3752850"/>
          </a:xfrm>
          <a:prstGeom prst="roundRect">
            <a:avLst>
              <a:gd name="adj" fmla="val 5128"/>
            </a:avLst>
          </a:prstGeom>
          <a:solidFill>
            <a:srgbClr val="0099FF">
              <a:alpha val="8000"/>
            </a:srgbClr>
          </a:solidFill>
          <a:ln w="12700">
            <a:solidFill>
              <a:srgbClr val="00E2C6">
                <a:alpha val="25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93" name=""/>
          <p:cNvSpPr/>
          <p:nvPr/>
        </p:nvSpPr>
        <p:spPr>
          <a:xfrm rot="0" flipH="0" flipV="0">
            <a:off x="819150" y="1123950"/>
            <a:ext cx="476250" cy="476250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0099FF"/>
              </a:gs>
              <a:gs pos="100000">
                <a:srgbClr val="00E2C6"/>
              </a:gs>
            </a:gsLst>
            <a:lin ang="2700000" scaled="1"/>
          </a:gradFill>
          <a:ln/>
        </p:spPr>
        <p:txBody>
          <a:bodyPr/>
          <a:p/>
        </p:txBody>
      </p:sp>
      <p:sp>
        <p:nvSpPr>
          <p:cNvPr id="94" name="" descr="{&quot;isTemplate&quot;:true,&quot;type&quot;:&quot;text&quot;}"/>
          <p:cNvSpPr txBox="1"/>
          <p:nvPr/>
        </p:nvSpPr>
        <p:spPr>
          <a:xfrm rot="0" flipH="0" flipV="0">
            <a:off x="990600" y="1228725"/>
            <a:ext cx="142875" cy="2667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725" b="1">
                <a:solidFill>
                  <a:srgbClr val="0A1628"/>
                </a:solidFill>
                <a:latin typeface="Microsoft YaHei"/>
                <a:ea typeface="Microsoft YaHei"/>
              </a:rPr>
              <a:t>1</a:t>
            </a:r>
            <a:endParaRPr/>
          </a:p>
        </p:txBody>
      </p:sp>
      <p:sp>
        <p:nvSpPr>
          <p:cNvPr id="95" name="" descr="{&quot;isTemplate&quot;:true,&quot;type&quot;:&quot;text&quot;}"/>
          <p:cNvSpPr txBox="1"/>
          <p:nvPr/>
        </p:nvSpPr>
        <p:spPr>
          <a:xfrm rot="0" flipH="0" flipV="0">
            <a:off x="819150" y="1714500"/>
            <a:ext cx="2181225" cy="2667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725" b="1">
                <a:solidFill>
                  <a:srgbClr val="E6F0FA"/>
                </a:solidFill>
                <a:latin typeface="Microsoft YaHei"/>
                <a:ea typeface="Microsoft YaHei"/>
              </a:rPr>
              <a:t>雙語切換</a:t>
            </a:r>
            <a:endParaRPr/>
          </a:p>
        </p:txBody>
      </p:sp>
      <p:sp>
        <p:nvSpPr>
          <p:cNvPr id="96" name=""/>
          <p:cNvSpPr/>
          <p:nvPr/>
        </p:nvSpPr>
        <p:spPr>
          <a:xfrm rot="0" flipH="0" flipV="0">
            <a:off x="819150" y="3105150"/>
            <a:ext cx="2181225" cy="981075"/>
          </a:xfrm>
          <a:prstGeom prst="roundRect">
            <a:avLst>
              <a:gd name="adj" fmla="val 9709"/>
            </a:avLst>
          </a:prstGeom>
          <a:solidFill>
            <a:srgbClr val="0A1628">
              <a:alpha val="40000"/>
            </a:srgbClr>
          </a:solidFill>
          <a:ln/>
        </p:spPr>
        <p:txBody>
          <a:bodyPr/>
          <a:p/>
        </p:txBody>
      </p:sp>
      <p:sp>
        <p:nvSpPr>
          <p:cNvPr id="97" name="" descr="{&quot;isTemplate&quot;:true,&quot;type&quot;:&quot;text&quot;}"/>
          <p:cNvSpPr txBox="1"/>
          <p:nvPr/>
        </p:nvSpPr>
        <p:spPr>
          <a:xfrm rot="0" flipH="0" flipV="0">
            <a:off x="933450" y="3438525"/>
            <a:ext cx="1952625" cy="514350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125">
                <a:solidFill>
                  <a:srgbClr val="E6F0FA"/>
                </a:solidFill>
                <a:latin typeface="Microsoft YaHei"/>
                <a:ea typeface="Microsoft YaHei"/>
              </a:rPr>
              <a:t>组合波动率</a:t>
            </a:r>
            <a:r>
              <a:rPr lang="en-US" sz="1125">
                <a:solidFill>
                  <a:srgbClr val="E6F0FA"/>
                </a:solidFill>
                <a:latin typeface="Microsoft YaHei"/>
                <a:ea typeface="Microsoft YaHei"/>
              </a:rPr>
              <a:t xml:space="preserve"> σp = 17.2%</a:t>
            </a:r>
            <a:endParaRPr/>
          </a:p>
          <a:p>
            <a:pPr>
              <a:lnSpc>
                <a:spcPct val="150000"/>
              </a:lnSpc>
            </a:pPr>
            <a:r>
              <a:rPr lang="en-US" sz="1125">
                <a:solidFill>
                  <a:srgbClr val="E6F0FA"/>
                </a:solidFill>
                <a:latin typeface="Microsoft YaHei"/>
                <a:ea typeface="Microsoft YaHei"/>
              </a:rPr>
              <a:t xml:space="preserve">↕ </a:t>
            </a:r>
            <a:r>
              <a:rPr lang="zh-CN" sz="1125">
                <a:solidFill>
                  <a:srgbClr val="E6F0FA"/>
                </a:solidFill>
                <a:latin typeface="Microsoft YaHei"/>
                <a:ea typeface="Microsoft YaHei"/>
              </a:rPr>
              <a:t>組合波動率</a:t>
            </a:r>
            <a:r>
              <a:rPr lang="en-US" sz="1125">
                <a:solidFill>
                  <a:srgbClr val="E6F0FA"/>
                </a:solidFill>
                <a:latin typeface="Microsoft YaHei"/>
                <a:ea typeface="Microsoft YaHei"/>
              </a:rPr>
              <a:t xml:space="preserve"> σp = 17.2%</a:t>
            </a:r>
            <a:endParaRPr/>
          </a:p>
        </p:txBody>
      </p:sp>
      <p:sp>
        <p:nvSpPr>
          <p:cNvPr id="98" name=""/>
          <p:cNvSpPr/>
          <p:nvPr/>
        </p:nvSpPr>
        <p:spPr>
          <a:xfrm rot="0" flipH="0" flipV="0">
            <a:off x="819150" y="4181475"/>
            <a:ext cx="2181225" cy="276225"/>
          </a:xfrm>
          <a:prstGeom prst="roundRect">
            <a:avLst>
              <a:gd name="adj" fmla="val 3444828"/>
            </a:avLst>
          </a:prstGeom>
          <a:solidFill>
            <a:srgbClr val="00E2C6">
              <a:alpha val="10000"/>
            </a:srgbClr>
          </a:solidFill>
          <a:ln w="12700">
            <a:solidFill>
              <a:srgbClr val="00E2C6">
                <a:alpha val="35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99" name="" descr="{&quot;isTemplate&quot;:true,&quot;type&quot;:&quot;text&quot;}"/>
          <p:cNvSpPr txBox="1"/>
          <p:nvPr/>
        </p:nvSpPr>
        <p:spPr>
          <a:xfrm rot="0" flipH="0" flipV="0">
            <a:off x="1314450" y="4238625"/>
            <a:ext cx="12001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6FE3D2"/>
                </a:solidFill>
                <a:latin typeface="Microsoft YaHei"/>
                <a:ea typeface="Microsoft YaHei"/>
              </a:rPr>
              <a:t>適合兩岸與海外用戶</a:t>
            </a:r>
            <a:endParaRPr/>
          </a:p>
        </p:txBody>
      </p:sp>
      <p:sp>
        <p:nvSpPr>
          <p:cNvPr id="100" name=""/>
          <p:cNvSpPr/>
          <p:nvPr/>
        </p:nvSpPr>
        <p:spPr>
          <a:xfrm rot="0" flipH="0" flipV="0">
            <a:off x="3400425" y="914400"/>
            <a:ext cx="2600325" cy="3752850"/>
          </a:xfrm>
          <a:prstGeom prst="roundRect">
            <a:avLst>
              <a:gd name="adj" fmla="val 5128"/>
            </a:avLst>
          </a:prstGeom>
          <a:solidFill>
            <a:srgbClr val="0099FF">
              <a:alpha val="8000"/>
            </a:srgbClr>
          </a:solidFill>
          <a:ln w="12700">
            <a:solidFill>
              <a:srgbClr val="00E2C6">
                <a:alpha val="25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01" name=""/>
          <p:cNvSpPr/>
          <p:nvPr/>
        </p:nvSpPr>
        <p:spPr>
          <a:xfrm rot="0" flipH="0" flipV="0">
            <a:off x="3609975" y="1123950"/>
            <a:ext cx="476250" cy="476250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0099FF"/>
              </a:gs>
              <a:gs pos="100000">
                <a:srgbClr val="00E2C6"/>
              </a:gs>
            </a:gsLst>
            <a:lin ang="2700000" scaled="1"/>
          </a:gradFill>
          <a:ln/>
        </p:spPr>
        <p:txBody>
          <a:bodyPr/>
          <a:p/>
        </p:txBody>
      </p:sp>
      <p:sp>
        <p:nvSpPr>
          <p:cNvPr id="102" name="" descr="{&quot;isTemplate&quot;:true,&quot;type&quot;:&quot;text&quot;}"/>
          <p:cNvSpPr txBox="1"/>
          <p:nvPr/>
        </p:nvSpPr>
        <p:spPr>
          <a:xfrm rot="0" flipH="0" flipV="0">
            <a:off x="3781425" y="1228725"/>
            <a:ext cx="142875" cy="2667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725" b="1">
                <a:solidFill>
                  <a:srgbClr val="0A1628"/>
                </a:solidFill>
                <a:latin typeface="Microsoft YaHei"/>
                <a:ea typeface="Microsoft YaHei"/>
              </a:rPr>
              <a:t>2</a:t>
            </a:r>
            <a:endParaRPr/>
          </a:p>
        </p:txBody>
      </p:sp>
      <p:sp>
        <p:nvSpPr>
          <p:cNvPr id="103" name="" descr="{&quot;isTemplate&quot;:true,&quot;type&quot;:&quot;text&quot;}"/>
          <p:cNvSpPr txBox="1"/>
          <p:nvPr/>
        </p:nvSpPr>
        <p:spPr>
          <a:xfrm rot="0" flipH="0" flipV="0">
            <a:off x="3609975" y="1714500"/>
            <a:ext cx="2181225" cy="2667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725" b="1">
                <a:solidFill>
                  <a:srgbClr val="E6F0FA"/>
                </a:solidFill>
                <a:latin typeface="Microsoft YaHei"/>
                <a:ea typeface="Microsoft YaHei"/>
              </a:rPr>
              <a:t>危機壓力測試</a:t>
            </a:r>
            <a:endParaRPr/>
          </a:p>
        </p:txBody>
      </p:sp>
      <p:sp>
        <p:nvSpPr>
          <p:cNvPr id="104" name=""/>
          <p:cNvSpPr/>
          <p:nvPr/>
        </p:nvSpPr>
        <p:spPr>
          <a:xfrm rot="0" flipH="0" flipV="0">
            <a:off x="3609975" y="2800350"/>
            <a:ext cx="2181225" cy="1285875"/>
          </a:xfrm>
          <a:prstGeom prst="roundRect">
            <a:avLst>
              <a:gd name="adj" fmla="val 7407"/>
            </a:avLst>
          </a:prstGeom>
          <a:solidFill>
            <a:srgbClr val="0A1628">
              <a:alpha val="40000"/>
            </a:srgbClr>
          </a:solidFill>
          <a:ln/>
        </p:spPr>
        <p:txBody>
          <a:bodyPr/>
          <a:p/>
        </p:txBody>
      </p:sp>
      <p:sp>
        <p:nvSpPr>
          <p:cNvPr id="105" name="" descr="{&quot;isTemplate&quot;:true,&quot;type&quot;:&quot;text&quot;}"/>
          <p:cNvSpPr txBox="1"/>
          <p:nvPr/>
        </p:nvSpPr>
        <p:spPr>
          <a:xfrm rot="0" flipH="0" flipV="0">
            <a:off x="3724275" y="3286125"/>
            <a:ext cx="1952625" cy="514350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125">
                <a:solidFill>
                  <a:srgbClr val="E6F0FA"/>
                </a:solidFill>
                <a:latin typeface="Microsoft YaHei"/>
                <a:ea typeface="Microsoft YaHei"/>
              </a:rPr>
              <a:t>波動</a:t>
            </a:r>
            <a:r>
              <a:rPr lang="en-US" sz="1125">
                <a:solidFill>
                  <a:srgbClr val="E6F0FA"/>
                </a:solidFill>
                <a:latin typeface="Microsoft YaHei"/>
                <a:ea typeface="Microsoft YaHei"/>
              </a:rPr>
              <a:t xml:space="preserve"> 17.2% → 19.5%</a:t>
            </a:r>
            <a:endParaRPr/>
          </a:p>
          <a:p>
            <a:pPr>
              <a:lnSpc>
                <a:spcPct val="150000"/>
              </a:lnSpc>
            </a:pPr>
            <a:r>
              <a:rPr lang="zh-CN" sz="1125">
                <a:solidFill>
                  <a:srgbClr val="E6F0FA"/>
                </a:solidFill>
                <a:latin typeface="Microsoft YaHei"/>
                <a:ea typeface="Microsoft YaHei"/>
              </a:rPr>
              <a:t>分散力衰退</a:t>
            </a:r>
            <a:r>
              <a:rPr lang="en-US" sz="1125">
                <a:solidFill>
                  <a:srgbClr val="E6F0FA"/>
                </a:solidFill>
                <a:latin typeface="Microsoft YaHei"/>
                <a:ea typeface="Microsoft YaHei"/>
              </a:rPr>
              <a:t xml:space="preserve"> 41.5%</a:t>
            </a:r>
            <a:endParaRPr/>
          </a:p>
        </p:txBody>
      </p:sp>
      <p:sp>
        <p:nvSpPr>
          <p:cNvPr id="106" name=""/>
          <p:cNvSpPr/>
          <p:nvPr/>
        </p:nvSpPr>
        <p:spPr>
          <a:xfrm rot="0" flipH="0" flipV="0">
            <a:off x="3609975" y="4181475"/>
            <a:ext cx="2181225" cy="276225"/>
          </a:xfrm>
          <a:prstGeom prst="roundRect">
            <a:avLst>
              <a:gd name="adj" fmla="val 3444828"/>
            </a:avLst>
          </a:prstGeom>
          <a:solidFill>
            <a:srgbClr val="00E2C6">
              <a:alpha val="10000"/>
            </a:srgbClr>
          </a:solidFill>
          <a:ln w="12700">
            <a:solidFill>
              <a:srgbClr val="00E2C6">
                <a:alpha val="35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07" name="" descr="{&quot;isTemplate&quot;:true,&quot;type&quot;:&quot;text&quot;}"/>
          <p:cNvSpPr txBox="1"/>
          <p:nvPr/>
        </p:nvSpPr>
        <p:spPr>
          <a:xfrm rot="0" flipH="0" flipV="0">
            <a:off x="4238625" y="4238625"/>
            <a:ext cx="9334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6FE3D2"/>
                </a:solidFill>
                <a:latin typeface="Microsoft YaHei"/>
                <a:ea typeface="Microsoft YaHei"/>
              </a:rPr>
              <a:t>看穿「假分散」</a:t>
            </a:r>
            <a:endParaRPr/>
          </a:p>
        </p:txBody>
      </p:sp>
      <p:sp>
        <p:nvSpPr>
          <p:cNvPr id="108" name=""/>
          <p:cNvSpPr/>
          <p:nvPr/>
        </p:nvSpPr>
        <p:spPr>
          <a:xfrm rot="0" flipH="0" flipV="0">
            <a:off x="6191250" y="914400"/>
            <a:ext cx="2600325" cy="3752850"/>
          </a:xfrm>
          <a:prstGeom prst="roundRect">
            <a:avLst>
              <a:gd name="adj" fmla="val 5128"/>
            </a:avLst>
          </a:prstGeom>
          <a:solidFill>
            <a:srgbClr val="0099FF">
              <a:alpha val="8000"/>
            </a:srgbClr>
          </a:solidFill>
          <a:ln w="12700">
            <a:solidFill>
              <a:srgbClr val="00E2C6">
                <a:alpha val="25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09" name=""/>
          <p:cNvSpPr/>
          <p:nvPr/>
        </p:nvSpPr>
        <p:spPr>
          <a:xfrm rot="0" flipH="0" flipV="0">
            <a:off x="6400800" y="1123950"/>
            <a:ext cx="476250" cy="476250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0099FF"/>
              </a:gs>
              <a:gs pos="100000">
                <a:srgbClr val="00E2C6"/>
              </a:gs>
            </a:gsLst>
            <a:lin ang="2700000" scaled="1"/>
          </a:gradFill>
          <a:ln/>
        </p:spPr>
        <p:txBody>
          <a:bodyPr/>
          <a:p/>
        </p:txBody>
      </p:sp>
      <p:sp>
        <p:nvSpPr>
          <p:cNvPr id="110" name="" descr="{&quot;isTemplate&quot;:true,&quot;type&quot;:&quot;text&quot;}"/>
          <p:cNvSpPr txBox="1"/>
          <p:nvPr/>
        </p:nvSpPr>
        <p:spPr>
          <a:xfrm rot="0" flipH="0" flipV="0">
            <a:off x="6572250" y="1228725"/>
            <a:ext cx="142875" cy="2667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725" b="1">
                <a:solidFill>
                  <a:srgbClr val="0A1628"/>
                </a:solidFill>
                <a:latin typeface="Microsoft YaHei"/>
                <a:ea typeface="Microsoft YaHei"/>
              </a:rPr>
              <a:t>3</a:t>
            </a:r>
            <a:endParaRPr/>
          </a:p>
        </p:txBody>
      </p:sp>
      <p:sp>
        <p:nvSpPr>
          <p:cNvPr id="111" name="" descr="{&quot;isTemplate&quot;:true,&quot;type&quot;:&quot;text&quot;}"/>
          <p:cNvSpPr txBox="1"/>
          <p:nvPr/>
        </p:nvSpPr>
        <p:spPr>
          <a:xfrm rot="0" flipH="0" flipV="0">
            <a:off x="6400800" y="1714500"/>
            <a:ext cx="2181225" cy="2667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725" b="1">
                <a:solidFill>
                  <a:srgbClr val="E6F0FA"/>
                </a:solidFill>
                <a:latin typeface="Microsoft YaHei"/>
                <a:ea typeface="Microsoft YaHei"/>
              </a:rPr>
              <a:t>優化模擬</a:t>
            </a:r>
            <a:endParaRPr/>
          </a:p>
        </p:txBody>
      </p:sp>
      <p:sp>
        <p:nvSpPr>
          <p:cNvPr id="112" name=""/>
          <p:cNvSpPr/>
          <p:nvPr/>
        </p:nvSpPr>
        <p:spPr>
          <a:xfrm rot="0" flipH="0" flipV="0">
            <a:off x="6400800" y="2800350"/>
            <a:ext cx="2181225" cy="1285875"/>
          </a:xfrm>
          <a:prstGeom prst="roundRect">
            <a:avLst>
              <a:gd name="adj" fmla="val 7407"/>
            </a:avLst>
          </a:prstGeom>
          <a:solidFill>
            <a:srgbClr val="0A1628">
              <a:alpha val="40000"/>
            </a:srgbClr>
          </a:solidFill>
          <a:ln/>
        </p:spPr>
        <p:txBody>
          <a:bodyPr/>
          <a:p/>
        </p:txBody>
      </p:sp>
      <p:sp>
        <p:nvSpPr>
          <p:cNvPr id="113" name="" descr="{&quot;isTemplate&quot;:true,&quot;type&quot;:&quot;text&quot;}"/>
          <p:cNvSpPr txBox="1"/>
          <p:nvPr/>
        </p:nvSpPr>
        <p:spPr>
          <a:xfrm rot="0" flipH="0" flipV="0">
            <a:off x="6515100" y="3286125"/>
            <a:ext cx="1952625" cy="514350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125">
                <a:solidFill>
                  <a:srgbClr val="E6F0FA"/>
                </a:solidFill>
                <a:latin typeface="Microsoft YaHei"/>
                <a:ea typeface="Microsoft YaHei"/>
              </a:rPr>
              <a:t>資金</a:t>
            </a:r>
            <a:r>
              <a:rPr lang="en-US" sz="1125">
                <a:solidFill>
                  <a:srgbClr val="E6F0FA"/>
                </a:solidFill>
                <a:latin typeface="Microsoft YaHei"/>
                <a:ea typeface="Microsoft YaHei"/>
              </a:rPr>
              <a:t xml:space="preserve"> 41.9% → </a:t>
            </a:r>
            <a:r>
              <a:rPr lang="zh-CN" sz="1125">
                <a:solidFill>
                  <a:srgbClr val="E6F0FA"/>
                </a:solidFill>
                <a:latin typeface="Microsoft YaHei"/>
                <a:ea typeface="Microsoft YaHei"/>
              </a:rPr>
              <a:t>風險</a:t>
            </a:r>
            <a:r>
              <a:rPr lang="en-US" sz="1125">
                <a:solidFill>
                  <a:srgbClr val="E6F0FA"/>
                </a:solidFill>
                <a:latin typeface="Microsoft YaHei"/>
                <a:ea typeface="Microsoft YaHei"/>
              </a:rPr>
              <a:t xml:space="preserve"> 60.2%</a:t>
            </a:r>
            <a:endParaRPr/>
          </a:p>
          <a:p>
            <a:pPr>
              <a:lnSpc>
                <a:spcPct val="150000"/>
              </a:lnSpc>
            </a:pPr>
            <a:r>
              <a:rPr lang="zh-CN" sz="1125">
                <a:solidFill>
                  <a:srgbClr val="E6F0FA"/>
                </a:solidFill>
                <a:latin typeface="Microsoft YaHei"/>
                <a:ea typeface="Microsoft YaHei"/>
              </a:rPr>
              <a:t>超配</a:t>
            </a:r>
            <a:r>
              <a:rPr lang="en-US" sz="1125">
                <a:solidFill>
                  <a:srgbClr val="E6F0FA"/>
                </a:solidFill>
                <a:latin typeface="Microsoft YaHei"/>
                <a:ea typeface="Microsoft YaHei"/>
              </a:rPr>
              <a:t xml:space="preserve"> 18.3 </a:t>
            </a:r>
            <a:r>
              <a:rPr lang="zh-CN" sz="1125">
                <a:solidFill>
                  <a:srgbClr val="E6F0FA"/>
                </a:solidFill>
                <a:latin typeface="Microsoft YaHei"/>
                <a:ea typeface="Microsoft YaHei"/>
              </a:rPr>
              <a:t>個百分點</a:t>
            </a:r>
            <a:endParaRPr/>
          </a:p>
        </p:txBody>
      </p:sp>
      <p:sp>
        <p:nvSpPr>
          <p:cNvPr id="114" name=""/>
          <p:cNvSpPr/>
          <p:nvPr/>
        </p:nvSpPr>
        <p:spPr>
          <a:xfrm rot="0" flipH="0" flipV="0">
            <a:off x="6400800" y="4181475"/>
            <a:ext cx="2181225" cy="276225"/>
          </a:xfrm>
          <a:prstGeom prst="roundRect">
            <a:avLst>
              <a:gd name="adj" fmla="val 3444828"/>
            </a:avLst>
          </a:prstGeom>
          <a:solidFill>
            <a:srgbClr val="00E2C6">
              <a:alpha val="10000"/>
            </a:srgbClr>
          </a:solidFill>
          <a:ln w="12700">
            <a:solidFill>
              <a:srgbClr val="00E2C6">
                <a:alpha val="35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15" name="" descr="{&quot;isTemplate&quot;:true,&quot;type&quot;:&quot;text&quot;}"/>
          <p:cNvSpPr txBox="1"/>
          <p:nvPr/>
        </p:nvSpPr>
        <p:spPr>
          <a:xfrm rot="0" flipH="0" flipV="0">
            <a:off x="7029450" y="4238625"/>
            <a:ext cx="9334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6FE3D2"/>
                </a:solidFill>
                <a:latin typeface="Microsoft YaHei"/>
                <a:ea typeface="Microsoft YaHei"/>
              </a:rPr>
              <a:t>給出可執行建議</a:t>
            </a:r>
            <a:endParaRPr/>
          </a:p>
        </p:txBody>
      </p:sp>
      <p:sp>
        <p:nvSpPr>
          <p:cNvPr id="116" name=""/>
          <p:cNvSpPr/>
          <p:nvPr/>
        </p:nvSpPr>
        <p:spPr>
          <a:xfrm rot="0" flipH="0" flipV="0">
            <a:off x="8982075" y="914400"/>
            <a:ext cx="2600325" cy="3752850"/>
          </a:xfrm>
          <a:prstGeom prst="roundRect">
            <a:avLst>
              <a:gd name="adj" fmla="val 5128"/>
            </a:avLst>
          </a:prstGeom>
          <a:solidFill>
            <a:srgbClr val="0099FF">
              <a:alpha val="8000"/>
            </a:srgbClr>
          </a:solidFill>
          <a:ln w="12700">
            <a:solidFill>
              <a:srgbClr val="00E2C6">
                <a:alpha val="25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17" name=""/>
          <p:cNvSpPr/>
          <p:nvPr/>
        </p:nvSpPr>
        <p:spPr>
          <a:xfrm rot="0" flipH="0" flipV="0">
            <a:off x="9191625" y="1123950"/>
            <a:ext cx="476250" cy="476250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0099FF"/>
              </a:gs>
              <a:gs pos="100000">
                <a:srgbClr val="00E2C6"/>
              </a:gs>
            </a:gsLst>
            <a:lin ang="2700000" scaled="1"/>
          </a:gradFill>
          <a:ln/>
        </p:spPr>
        <p:txBody>
          <a:bodyPr/>
          <a:p/>
        </p:txBody>
      </p:sp>
      <p:sp>
        <p:nvSpPr>
          <p:cNvPr id="118" name="" descr="{&quot;isTemplate&quot;:true,&quot;type&quot;:&quot;text&quot;}"/>
          <p:cNvSpPr txBox="1"/>
          <p:nvPr/>
        </p:nvSpPr>
        <p:spPr>
          <a:xfrm rot="0" flipH="0" flipV="0">
            <a:off x="9363075" y="1228725"/>
            <a:ext cx="142875" cy="2667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725" b="1">
                <a:solidFill>
                  <a:srgbClr val="0A1628"/>
                </a:solidFill>
                <a:latin typeface="Microsoft YaHei"/>
                <a:ea typeface="Microsoft YaHei"/>
              </a:rPr>
              <a:t>4</a:t>
            </a:r>
            <a:endParaRPr/>
          </a:p>
        </p:txBody>
      </p:sp>
      <p:sp>
        <p:nvSpPr>
          <p:cNvPr id="119" name="" descr="{&quot;isTemplate&quot;:true,&quot;type&quot;:&quot;text&quot;}"/>
          <p:cNvSpPr txBox="1"/>
          <p:nvPr/>
        </p:nvSpPr>
        <p:spPr>
          <a:xfrm rot="0" flipH="0" flipV="0">
            <a:off x="9191625" y="1714500"/>
            <a:ext cx="2181225" cy="2667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725" b="1">
                <a:solidFill>
                  <a:srgbClr val="E6F0FA"/>
                </a:solidFill>
                <a:latin typeface="Microsoft YaHei"/>
                <a:ea typeface="Microsoft YaHei"/>
              </a:rPr>
              <a:t>分享卡片</a:t>
            </a:r>
            <a:endParaRPr/>
          </a:p>
        </p:txBody>
      </p:sp>
      <p:sp>
        <p:nvSpPr>
          <p:cNvPr id="120" name=""/>
          <p:cNvSpPr/>
          <p:nvPr/>
        </p:nvSpPr>
        <p:spPr>
          <a:xfrm rot="0" flipH="0" flipV="0">
            <a:off x="9191625" y="2800350"/>
            <a:ext cx="2181225" cy="1285875"/>
          </a:xfrm>
          <a:prstGeom prst="roundRect">
            <a:avLst>
              <a:gd name="adj" fmla="val 7407"/>
            </a:avLst>
          </a:prstGeom>
          <a:solidFill>
            <a:srgbClr val="0A1628">
              <a:alpha val="40000"/>
            </a:srgbClr>
          </a:solidFill>
          <a:ln/>
        </p:spPr>
        <p:txBody>
          <a:bodyPr/>
          <a:p/>
        </p:txBody>
      </p:sp>
      <p:sp>
        <p:nvSpPr>
          <p:cNvPr id="121" name="" descr="{&quot;isTemplate&quot;:true,&quot;type&quot;:&quot;text&quot;}"/>
          <p:cNvSpPr txBox="1"/>
          <p:nvPr/>
        </p:nvSpPr>
        <p:spPr>
          <a:xfrm rot="0" flipH="0" flipV="0">
            <a:off x="9305925" y="3286125"/>
            <a:ext cx="1952625" cy="514350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en-US" sz="1125">
                <a:solidFill>
                  <a:srgbClr val="E6F0FA"/>
                </a:solidFill>
                <a:latin typeface="Microsoft YaHei"/>
                <a:ea typeface="Microsoft YaHei"/>
              </a:rPr>
              <a:t xml:space="preserve">1080 × 1440 </a:t>
            </a:r>
            <a:r>
              <a:rPr lang="zh-CN" sz="1125">
                <a:solidFill>
                  <a:srgbClr val="E6F0FA"/>
                </a:solidFill>
                <a:latin typeface="Microsoft YaHei"/>
                <a:ea typeface="Microsoft YaHei"/>
              </a:rPr>
              <a:t>長圖</a:t>
            </a:r>
            <a:endParaRPr/>
          </a:p>
          <a:p>
            <a:pPr>
              <a:lnSpc>
                <a:spcPct val="150000"/>
              </a:lnSpc>
            </a:pPr>
            <a:r>
              <a:rPr lang="zh-CN" sz="1125">
                <a:solidFill>
                  <a:srgbClr val="E6F0FA"/>
                </a:solidFill>
                <a:latin typeface="Microsoft YaHei"/>
                <a:ea typeface="Microsoft YaHei"/>
              </a:rPr>
              <a:t>健康評分</a:t>
            </a:r>
            <a:r>
              <a:rPr lang="en-US" sz="1125">
                <a:solidFill>
                  <a:srgbClr val="E6F0FA"/>
                </a:solidFill>
                <a:latin typeface="Microsoft YaHei"/>
                <a:ea typeface="Microsoft YaHei"/>
              </a:rPr>
              <a:t xml:space="preserve"> 62 / 100</a:t>
            </a:r>
            <a:endParaRPr/>
          </a:p>
        </p:txBody>
      </p:sp>
      <p:sp>
        <p:nvSpPr>
          <p:cNvPr id="122" name=""/>
          <p:cNvSpPr/>
          <p:nvPr/>
        </p:nvSpPr>
        <p:spPr>
          <a:xfrm rot="0" flipH="0" flipV="0">
            <a:off x="9191625" y="4181475"/>
            <a:ext cx="2181225" cy="276225"/>
          </a:xfrm>
          <a:prstGeom prst="roundRect">
            <a:avLst>
              <a:gd name="adj" fmla="val 3444828"/>
            </a:avLst>
          </a:prstGeom>
          <a:solidFill>
            <a:srgbClr val="00E2C6">
              <a:alpha val="10000"/>
            </a:srgbClr>
          </a:solidFill>
          <a:ln w="12700">
            <a:solidFill>
              <a:srgbClr val="00E2C6">
                <a:alpha val="35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23" name="" descr="{&quot;isTemplate&quot;:true,&quot;type&quot;:&quot;text&quot;}"/>
          <p:cNvSpPr txBox="1"/>
          <p:nvPr/>
        </p:nvSpPr>
        <p:spPr>
          <a:xfrm rot="0" flipH="0" flipV="0">
            <a:off x="9820275" y="4238625"/>
            <a:ext cx="9334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6FE3D2"/>
                </a:solidFill>
                <a:latin typeface="Microsoft YaHei"/>
                <a:ea typeface="Microsoft YaHei"/>
              </a:rPr>
              <a:t>體檢結果可視化</a:t>
            </a:r>
            <a:endParaRPr/>
          </a:p>
        </p:txBody>
      </p:sp>
      <p:sp>
        <p:nvSpPr>
          <p:cNvPr id="124" name=""/>
          <p:cNvSpPr/>
          <p:nvPr/>
        </p:nvSpPr>
        <p:spPr>
          <a:xfrm rot="0" flipH="0" flipV="0">
            <a:off x="609600" y="4857750"/>
            <a:ext cx="10972800" cy="1809750"/>
          </a:xfrm>
          <a:prstGeom prst="roundRect">
            <a:avLst>
              <a:gd name="adj" fmla="val 7368"/>
            </a:avLst>
          </a:prstGeom>
          <a:solidFill>
            <a:srgbClr val="0099FF">
              <a:alpha val="6000"/>
            </a:srgbClr>
          </a:solidFill>
          <a:ln w="12700">
            <a:solidFill>
              <a:srgbClr val="0099FF">
                <a:alpha val="22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25" name="" descr="{&quot;isTemplate&quot;:true,&quot;type&quot;:&quot;text&quot;}"/>
          <p:cNvSpPr txBox="1"/>
          <p:nvPr/>
        </p:nvSpPr>
        <p:spPr>
          <a:xfrm rot="0" flipH="0" flipV="0">
            <a:off x="876300" y="5534025"/>
            <a:ext cx="5286375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b="1">
                <a:solidFill>
                  <a:srgbClr val="E6F0FA"/>
                </a:solidFill>
                <a:latin typeface="Microsoft YaHei"/>
                <a:ea typeface="Microsoft YaHei"/>
              </a:rPr>
              <a:t>四功能共用同一份引擎與資產庫</a:t>
            </a:r>
            <a:endParaRPr/>
          </a:p>
        </p:txBody>
      </p:sp>
      <p:sp>
        <p:nvSpPr>
          <p:cNvPr id="126" name=""/>
          <p:cNvSpPr/>
          <p:nvPr/>
        </p:nvSpPr>
        <p:spPr>
          <a:xfrm rot="0" flipH="0" flipV="0">
            <a:off x="7762875" y="5610225"/>
            <a:ext cx="971550" cy="314325"/>
          </a:xfrm>
          <a:prstGeom prst="roundRect">
            <a:avLst>
              <a:gd name="adj" fmla="val 3027273"/>
            </a:avLst>
          </a:prstGeom>
          <a:solidFill>
            <a:srgbClr val="0099FF">
              <a:alpha val="16000"/>
            </a:srgbClr>
          </a:solidFill>
          <a:ln/>
        </p:spPr>
        <p:txBody>
          <a:bodyPr/>
          <a:p/>
        </p:txBody>
      </p:sp>
      <p:sp>
        <p:nvSpPr>
          <p:cNvPr id="127" name="" descr="{&quot;isTemplate&quot;:true,&quot;type&quot;:&quot;text&quot;}"/>
          <p:cNvSpPr txBox="1"/>
          <p:nvPr/>
        </p:nvSpPr>
        <p:spPr>
          <a:xfrm rot="0" flipH="0" flipV="0">
            <a:off x="7915275" y="5686425"/>
            <a:ext cx="6667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7FC4FF"/>
                </a:solidFill>
                <a:latin typeface="Microsoft YaHei"/>
                <a:ea typeface="Microsoft YaHei"/>
              </a:rPr>
              <a:t>協方差矩陣</a:t>
            </a:r>
            <a:endParaRPr/>
          </a:p>
        </p:txBody>
      </p:sp>
      <p:sp>
        <p:nvSpPr>
          <p:cNvPr id="128" name=""/>
          <p:cNvSpPr/>
          <p:nvPr/>
        </p:nvSpPr>
        <p:spPr>
          <a:xfrm rot="0" flipH="0" flipV="0">
            <a:off x="8848725" y="5610225"/>
            <a:ext cx="1104900" cy="314325"/>
          </a:xfrm>
          <a:prstGeom prst="roundRect">
            <a:avLst>
              <a:gd name="adj" fmla="val 3027273"/>
            </a:avLst>
          </a:prstGeom>
          <a:solidFill>
            <a:srgbClr val="00E2C6">
              <a:alpha val="14000"/>
            </a:srgbClr>
          </a:solidFill>
          <a:ln/>
        </p:spPr>
        <p:txBody>
          <a:bodyPr/>
          <a:p/>
        </p:txBody>
      </p:sp>
      <p:sp>
        <p:nvSpPr>
          <p:cNvPr id="129" name="" descr="{&quot;isTemplate&quot;:true,&quot;type&quot;:&quot;text&quot;}"/>
          <p:cNvSpPr txBox="1"/>
          <p:nvPr/>
        </p:nvSpPr>
        <p:spPr>
          <a:xfrm rot="0" flipH="0" flipV="0">
            <a:off x="9001125" y="5686425"/>
            <a:ext cx="8001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6FE3D2"/>
                </a:solidFill>
                <a:latin typeface="Microsoft YaHei"/>
                <a:ea typeface="Microsoft YaHei"/>
              </a:rPr>
              <a:t>風險貢獻分解</a:t>
            </a:r>
            <a:endParaRPr/>
          </a:p>
        </p:txBody>
      </p:sp>
      <p:sp>
        <p:nvSpPr>
          <p:cNvPr id="130" name=""/>
          <p:cNvSpPr/>
          <p:nvPr/>
        </p:nvSpPr>
        <p:spPr>
          <a:xfrm rot="0" flipH="0" flipV="0">
            <a:off x="10067925" y="5610225"/>
            <a:ext cx="1247775" cy="314325"/>
          </a:xfrm>
          <a:prstGeom prst="roundRect">
            <a:avLst>
              <a:gd name="adj" fmla="val 3027273"/>
            </a:avLst>
          </a:prstGeom>
          <a:solidFill>
            <a:srgbClr val="FFD666">
              <a:alpha val="12000"/>
            </a:srgbClr>
          </a:solidFill>
          <a:ln/>
        </p:spPr>
        <p:txBody>
          <a:bodyPr/>
          <a:p/>
        </p:txBody>
      </p:sp>
      <p:sp>
        <p:nvSpPr>
          <p:cNvPr id="131" name="" descr="{&quot;isTemplate&quot;:true,&quot;type&quot;:&quot;text&quot;}"/>
          <p:cNvSpPr txBox="1"/>
          <p:nvPr/>
        </p:nvSpPr>
        <p:spPr>
          <a:xfrm rot="0" flipH="0" flipV="0">
            <a:off x="10220325" y="5686425"/>
            <a:ext cx="9429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FFD666"/>
                </a:solidFill>
                <a:latin typeface="Microsoft YaHei"/>
                <a:ea typeface="Microsoft YaHei"/>
              </a:rPr>
              <a:t xml:space="preserve">126 </a:t>
            </a:r>
            <a:r>
              <a:rPr lang="zh-CN" sz="1050">
                <a:solidFill>
                  <a:srgbClr val="FFD666"/>
                </a:solidFill>
                <a:latin typeface="Microsoft YaHei"/>
                <a:ea typeface="Microsoft YaHei"/>
              </a:rPr>
              <a:t>項測試把關</a:t>
            </a:r>
            <a:endParaRPr/>
          </a:p>
        </p:txBody>
      </p:sp>
      <p:sp>
        <p:nvSpPr>
          <p:cNvPr id="132" name="" descr="{&quot;isTemplate&quot;:true,&quot;type&quot;:&quot;text&quot;}"/>
          <p:cNvSpPr txBox="1"/>
          <p:nvPr/>
        </p:nvSpPr>
        <p:spPr>
          <a:xfrm rot="0" flipH="0" flipV="0">
            <a:off x="819150" y="2076450"/>
            <a:ext cx="2181225" cy="9334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0000"/>
              </a:lnSpc>
            </a:pPr>
            <a:r>
              <a:rPr lang="zh-CN" sz="1275">
                <a:solidFill>
                  <a:srgbClr val="E6F0FA">
                    <a:alpha val="85000"/>
                  </a:srgbClr>
                </a:solidFill>
                <a:latin typeface="Microsoft YaHei"/>
                <a:ea typeface="Microsoft YaHei"/>
              </a:rPr>
              <a:t>簡體</a:t>
            </a:r>
            <a:r>
              <a:rPr lang="en-US" sz="1275">
                <a:solidFill>
                  <a:srgbClr val="E6F0FA">
                    <a:alpha val="85000"/>
                  </a:srgbClr>
                </a:solidFill>
                <a:latin typeface="Microsoft YaHei"/>
                <a:ea typeface="Microsoft YaHei"/>
              </a:rPr>
              <a:t xml:space="preserve"> / </a:t>
            </a:r>
            <a:r>
              <a:rPr lang="zh-CN" sz="1275">
                <a:solidFill>
                  <a:srgbClr val="E6F0FA">
                    <a:alpha val="85000"/>
                  </a:srgbClr>
                </a:solidFill>
                <a:latin typeface="Microsoft YaHei"/>
                <a:ea typeface="Microsoft YaHei"/>
              </a:rPr>
              <a:t>繁體一鍵切換，報告用語符合本地習慣，不是機器翻譯。</a:t>
            </a:r>
            <a:endParaRPr/>
          </a:p>
        </p:txBody>
      </p:sp>
      <p:sp>
        <p:nvSpPr>
          <p:cNvPr id="133" name="" descr="{&quot;isTemplate&quot;:true,&quot;type&quot;:&quot;text&quot;}"/>
          <p:cNvSpPr txBox="1"/>
          <p:nvPr/>
        </p:nvSpPr>
        <p:spPr>
          <a:xfrm rot="0" flipH="0" flipV="0">
            <a:off x="933450" y="3238500"/>
            <a:ext cx="1952625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00">
                <a:solidFill>
                  <a:srgbClr val="00E2C6">
                    <a:alpha val="80000"/>
                  </a:srgbClr>
                </a:solidFill>
                <a:latin typeface="Microsoft YaHei"/>
                <a:ea typeface="Microsoft YaHei"/>
              </a:rPr>
              <a:t>輸出預覽</a:t>
            </a:r>
            <a:endParaRPr/>
          </a:p>
        </p:txBody>
      </p:sp>
      <p:sp>
        <p:nvSpPr>
          <p:cNvPr id="134" name="" descr="{&quot;isTemplate&quot;:true,&quot;type&quot;:&quot;text&quot;}"/>
          <p:cNvSpPr txBox="1"/>
          <p:nvPr/>
        </p:nvSpPr>
        <p:spPr>
          <a:xfrm rot="0" flipH="0" flipV="0">
            <a:off x="3609975" y="2076450"/>
            <a:ext cx="2181225" cy="6286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0000"/>
              </a:lnSpc>
            </a:pPr>
            <a:r>
              <a:rPr lang="zh-CN" sz="1275">
                <a:solidFill>
                  <a:srgbClr val="E6F0FA">
                    <a:alpha val="85000"/>
                  </a:srgbClr>
                </a:solidFill>
                <a:latin typeface="Microsoft YaHei"/>
                <a:ea typeface="Microsoft YaHei"/>
              </a:rPr>
              <a:t>把相關性抬到極端值，預演股債齊跌時組合波動會飆多少。</a:t>
            </a:r>
            <a:endParaRPr/>
          </a:p>
        </p:txBody>
      </p:sp>
      <p:sp>
        <p:nvSpPr>
          <p:cNvPr id="135" name="" descr="{&quot;isTemplate&quot;:true,&quot;type&quot;:&quot;text&quot;}"/>
          <p:cNvSpPr txBox="1"/>
          <p:nvPr/>
        </p:nvSpPr>
        <p:spPr>
          <a:xfrm rot="0" flipH="0" flipV="0">
            <a:off x="3724275" y="3086100"/>
            <a:ext cx="1952625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00">
                <a:solidFill>
                  <a:srgbClr val="00E2C6">
                    <a:alpha val="80000"/>
                  </a:srgbClr>
                </a:solidFill>
                <a:latin typeface="Microsoft YaHei"/>
                <a:ea typeface="Microsoft YaHei"/>
              </a:rPr>
              <a:t>輸出預覽</a:t>
            </a:r>
            <a:endParaRPr/>
          </a:p>
        </p:txBody>
      </p:sp>
      <p:sp>
        <p:nvSpPr>
          <p:cNvPr id="136" name="" descr="{&quot;isTemplate&quot;:true,&quot;type&quot;:&quot;text&quot;}"/>
          <p:cNvSpPr txBox="1"/>
          <p:nvPr/>
        </p:nvSpPr>
        <p:spPr>
          <a:xfrm rot="0" flipH="0" flipV="0">
            <a:off x="6400800" y="2076450"/>
            <a:ext cx="2181225" cy="6286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0000"/>
              </a:lnSpc>
            </a:pPr>
            <a:r>
              <a:rPr lang="zh-CN" sz="1275">
                <a:solidFill>
                  <a:srgbClr val="E6F0FA">
                    <a:alpha val="85000"/>
                  </a:srgbClr>
                </a:solidFill>
                <a:latin typeface="Microsoft YaHei"/>
                <a:ea typeface="Microsoft YaHei"/>
              </a:rPr>
              <a:t>指出哪筆倉位過度集中，模擬調倉後的風險結構變化。</a:t>
            </a:r>
            <a:endParaRPr/>
          </a:p>
        </p:txBody>
      </p:sp>
      <p:sp>
        <p:nvSpPr>
          <p:cNvPr id="137" name="" descr="{&quot;isTemplate&quot;:true,&quot;type&quot;:&quot;text&quot;}"/>
          <p:cNvSpPr txBox="1"/>
          <p:nvPr/>
        </p:nvSpPr>
        <p:spPr>
          <a:xfrm rot="0" flipH="0" flipV="0">
            <a:off x="6515100" y="3086100"/>
            <a:ext cx="1952625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00">
                <a:solidFill>
                  <a:srgbClr val="00E2C6">
                    <a:alpha val="80000"/>
                  </a:srgbClr>
                </a:solidFill>
                <a:latin typeface="Microsoft YaHei"/>
                <a:ea typeface="Microsoft YaHei"/>
              </a:rPr>
              <a:t>輸出預覽</a:t>
            </a:r>
            <a:endParaRPr/>
          </a:p>
        </p:txBody>
      </p:sp>
      <p:sp>
        <p:nvSpPr>
          <p:cNvPr id="138" name="" descr="{&quot;isTemplate&quot;:true,&quot;type&quot;:&quot;text&quot;}"/>
          <p:cNvSpPr txBox="1"/>
          <p:nvPr/>
        </p:nvSpPr>
        <p:spPr>
          <a:xfrm rot="0" flipH="0" flipV="0">
            <a:off x="9191625" y="2076450"/>
            <a:ext cx="2181225" cy="6286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0000"/>
              </a:lnSpc>
            </a:pPr>
            <a:r>
              <a:rPr lang="zh-CN" sz="1275">
                <a:solidFill>
                  <a:srgbClr val="E6F0FA">
                    <a:alpha val="85000"/>
                  </a:srgbClr>
                </a:solidFill>
                <a:latin typeface="Microsoft YaHei"/>
                <a:ea typeface="Microsoft YaHei"/>
              </a:rPr>
              <a:t>一鍵生成風險體檢卡長圖，存圖分享給自己或朋友。</a:t>
            </a:r>
            <a:endParaRPr/>
          </a:p>
        </p:txBody>
      </p:sp>
      <p:sp>
        <p:nvSpPr>
          <p:cNvPr id="139" name="" descr="{&quot;isTemplate&quot;:true,&quot;type&quot;:&quot;text&quot;}"/>
          <p:cNvSpPr txBox="1"/>
          <p:nvPr/>
        </p:nvSpPr>
        <p:spPr>
          <a:xfrm rot="0" flipH="0" flipV="0">
            <a:off x="9305925" y="3086100"/>
            <a:ext cx="1952625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00">
                <a:solidFill>
                  <a:srgbClr val="00E2C6">
                    <a:alpha val="80000"/>
                  </a:srgbClr>
                </a:solidFill>
                <a:latin typeface="Microsoft YaHei"/>
                <a:ea typeface="Microsoft YaHei"/>
              </a:rPr>
              <a:t>輸出預覽</a:t>
            </a:r>
            <a:endParaRPr/>
          </a:p>
        </p:txBody>
      </p:sp>
      <p:sp>
        <p:nvSpPr>
          <p:cNvPr id="140" name="" descr="{&quot;isTemplate&quot;:true,&quot;type&quot;:&quot;text&quot;}"/>
          <p:cNvSpPr txBox="1"/>
          <p:nvPr/>
        </p:nvSpPr>
        <p:spPr>
          <a:xfrm rot="0" flipH="0" flipV="0">
            <a:off x="876300" y="5819775"/>
            <a:ext cx="528637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E6F0FA">
                    <a:alpha val="65000"/>
                  </a:srgbClr>
                </a:solidFill>
                <a:latin typeface="Microsoft YaHei"/>
                <a:ea typeface="Microsoft YaHei"/>
              </a:rPr>
              <a:t>輸入一次持倉，歸因、壓力測試、優化、卡片全部基於同一組數字，不會互相矛盾。</a:t>
            </a:r>
            <a:endParaRPr/>
          </a:p>
        </p:txBody>
      </p:sp>
      <p:sp>
        <p:nvSpPr>
          <p:cNvPr id="141" name="" descr="{&quot;isTemplate&quot;:true,&quot;type&quot;:&quot;text&quot;}"/>
          <p:cNvSpPr txBox="1"/>
          <p:nvPr/>
        </p:nvSpPr>
        <p:spPr>
          <a:xfrm rot="0" flipH="0" flipV="0">
            <a:off x="609600" y="6524625"/>
            <a:ext cx="21717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E6F0FA">
                    <a:alpha val="45000"/>
                  </a:srgbClr>
                </a:solidFill>
                <a:latin typeface="Microsoft YaHei"/>
                <a:ea typeface="Microsoft YaHei"/>
              </a:rPr>
              <a:t>持倉透鏡</a:t>
            </a:r>
            <a:r>
              <a:rPr lang="en-US" sz="1050">
                <a:solidFill>
                  <a:srgbClr val="E6F0FA">
                    <a:alpha val="45000"/>
                  </a:srgbClr>
                </a:solidFill>
                <a:latin typeface="Microsoft YaHei"/>
                <a:ea typeface="Microsoft YaHei"/>
              </a:rPr>
              <a:t xml:space="preserve"> HoldingsLens · 1024 </a:t>
            </a:r>
            <a:r>
              <a:rPr lang="zh-CN" sz="1050">
                <a:solidFill>
                  <a:srgbClr val="E6F0FA">
                    <a:alpha val="45000"/>
                  </a:srgbClr>
                </a:solidFill>
                <a:latin typeface="Microsoft YaHei"/>
                <a:ea typeface="Microsoft YaHei"/>
              </a:rPr>
              <a:t>投稿</a:t>
            </a:r>
            <a:endParaRPr/>
          </a:p>
        </p:txBody>
      </p:sp>
      <p:sp>
        <p:nvSpPr>
          <p:cNvPr id="142" name="" descr="{&quot;isTemplate&quot;:true,&quot;type&quot;:&quot;text&quot;}"/>
          <p:cNvSpPr txBox="1"/>
          <p:nvPr/>
        </p:nvSpPr>
        <p:spPr>
          <a:xfrm rot="0" flipH="0" flipV="0">
            <a:off x="11125200" y="6524625"/>
            <a:ext cx="457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E6F0FA">
                    <a:alpha val="45000"/>
                  </a:srgbClr>
                </a:solidFill>
                <a:latin typeface="Microsoft YaHei"/>
                <a:ea typeface="Microsoft YaHei"/>
              </a:rPr>
              <a:t>05 / 09</a:t>
            </a:r>
            <a:endParaRPr/>
          </a:p>
        </p:txBody>
      </p:sp>
    </p:spTree>
  </p:cSld>
</p:sld>
</file>

<file path=ppt/slides/slide6.xml><?xml version="1.0" encoding="utf-8"?>
<p:sld xmlns:p="http://schemas.openxmlformats.org/presentationml/2006/main" xmlns:a="http://schemas.openxmlformats.org/drawingml/2006/main" xmlns:asvg="http://schemas.microsoft.com/office/drawing/2016/SVG/main" xmlns:r="http://schemas.openxmlformats.org/officeDocument/2006/relationships" xmlns:mc="http://schemas.openxmlformats.org/markup-compatibility/2006" mc:Ignorable="asvg">
  <p:cSld>
    <p:spTree>
      <p:nvGrpSpPr>
        <p:cNvPr id="143" name="" descr="&lt;Slide style={{ width: '1280px', height: '720px', background: '#0A1628', padding: '18px 64px', position: 'relative', display: 'flex', flexDirection: 'column' }}&gt;&#10;  &lt;Box style={{ height: 64, justifyContent: 'center' }}&gt;&#10;    &lt;Text style={{ fontSize: 34, fontWeight: 'bold', color: '#E6F0FA' }}&gt;一份引擎，三端可用&lt;/Text&gt;&#10;  &lt;/Box&gt;&#10;  &lt;Box style={{ flexDirection: 'row', gap: 32, flex: 1, alignItems: 'stretch' }}&gt;&#10;    &lt;Box style={{ flex: 56, background: 'rgba(0,153,255,0.06)', border: '1px solid rgba(0,226,198,0.2)', borderRadius: 16, paddingTop: 14, paddingBottom: 12, paddingLeft: 12, paddingRight: 12, flexDirection: 'column', alignItems: 'center' }}&gt;&#10;      &lt;svg width={532} height={460} viewBox='0 0 620 536'&gt;&#10;        &lt;rect x='235' y='240' width='150' height='90' rx='14' fill='#0099FF' /&gt;&#10;        &lt;text x='310' y='278' fill='#0A1628' fontSize='20' fontWeight='bold' textAnchor='middle'&gt;歸因引擎&lt;/text&gt;&#10;        &lt;text x='310' y='304' fill='#0A1628' fontSize='14' textAnchor='middle'&gt;UMD · 一份程式碼&lt;/text&gt;&#10;        &lt;line x1='245' y1='278' x2='100' y2='90' stroke='#00E2C6' strokeWidth='2' /&gt;&#10;        &lt;line x1='310' y1='240' x2='310' y2='88' stroke='#00E2C6' strokeWidth='2' /&gt;&#10;        &lt;line x1='375' y1='278' x2='520' y2='90' stroke='#00E2C6' strokeWidth='2' /&gt;&#10;        &lt;line x1='310' y1='330' x2='310' y2='426' stroke='#00E2C6' strokeWidth='2' /&gt;&#10;        &lt;rect x='30' y='24' width='130' height='60' rx='12' fill='rgba(0,226,198,0.15)' stroke='#00E2C6' /&gt;&#10;        &lt;text x='95' y='60' fill='#E6F0FA' fontSize='17' textAnchor='middle'&gt;H5 網頁&lt;/text&gt;&#10;        &lt;rect x='245' y='24' width='130' height='60' rx='12' fill='rgba(0,226,198,0.15)' stroke='#00E2C6' /&gt;&#10;        &lt;text x='310' y='60' fill='#E6F0FA' fontSize='17' textAnchor='middle'&gt;微信小程序&lt;/text&gt;&#10;        &lt;rect x='460' y='24' width='130' height='60' rx='12' fill='rgba(0,226,198,0.15)' stroke='#00E2C6' /&gt;&#10;        &lt;text x='525' y='60' fill='#E6F0FA' fontSize='17' textAnchor='middle'&gt;本地腳本&lt;/text&gt;&#10;        &lt;rect x='220' y='430' width='180' height='60' rx='12' fill='rgba(0,153,255,0.12)' stroke='#0099FF' /&gt;&#10;        &lt;text x='310' y='468' fill='#E6F0FA' fontSize='17' textAnchor='middle'&gt;風險體檢卡&lt;/text&gt;&#10;        &lt;text x='310' y='522' fill='#E6F0FA' fontSize='13' opacity='0.55' textAnchor='middle'&gt;同一輸入 → 同一輸出，三端結果一致&lt;/text&gt;&#10;      &lt;/svg&gt;&#10;      &lt;Text style={{ fontSize: 14, color: '#E6F0FA', opacity: 0.55, marginTop: 8, textAlign: 'center' }}&gt;三端共用同一份 assetlib.js + engine.js，改一處、全端生效&lt;/Text&gt;&#10;      &lt;Box style={{ flexDirection: 'row', gap: 10, marginTop: 12, alignSelf: 'stretch' }}&gt;&#10;        &lt;Box style={{ flex: 1, background: 'rgba(0,153,255,0.05)', border: '1px solid rgba(0,153,255,0.2)', borderRadius: 10, paddingTop: 10, paddingBottom: 10, alignItems: 'center' }}&gt;&#10;          &lt;Text style={{ fontSize: 13, color: '#7FC4FF' }}&gt;零 npm 依賴&lt;/Text&gt;&#10;        &lt;/Box&gt;&#10;        &lt;Box style={{ flex: 1, background: 'rgba(0,153,255,0.05)', border: '1px solid rgba(0,153,255,0.2)', borderRadius: 10, paddingTop: 10, paddingBottom: 10, alignItems: 'center' }}&gt;&#10;          &lt;Text style={{ fontSize: 13, color: '#7FC4FF' }}&gt;17 類資產&lt;/Text&gt;&#10;        &lt;/Box&gt;&#10;        &lt;Box style={{ flex: 1, background: 'rgba(0,153,255,0.05)', border: '1px solid rgba(0,153,255,0.2)', borderRadius: 10, paddingTop: 10, paddingBottom: 10, alignItems: 'center' }}&gt;&#10;          &lt;Text style={{ fontSize: 13, color: '#7FC4FF' }}&gt;126 項測試&lt;/Text&gt;&#10;        &lt;/Box&gt;&#10;      &lt;/Box&gt;&#10;    &lt;/Box&gt;&#10;    &lt;Box style={{ flex: 44, flexDirection: 'column', gap: 10 }}&gt;&#10;      &lt;Box style={{ flex: 1, background: 'rgba(0,153,255,0.08)', border: '1px solid rgba(0,153,255,0.28)', borderRadius: 12, paddingTop: 14, paddingBottom: 14, paddingLeft: 18, paddingRight: 18, justifyContent: 'center' }}&gt;&#10;        &lt;Text style={{ fontSize: 20, fontWeight: 'bold', color: '#E6F0FA' }}&gt;同一份引擎，不依賴雲端&lt;/Text&gt;&#10;        &lt;Text style={{ fontSize: 16, color: '#E6F0FA', opacity: 0.72, marginTop: 5, lineHeight: 1.55 }}&gt;核心計算是 UMD 模組，持倉資料不上傳任何伺服器。&lt;/Text&gt;&#10;      &lt;/Box&gt;&#10;      &lt;Box style={{ flex: 1, background: 'rgba(0,226,198,0.07)', border: '1px solid rgba(0,226,198,0.26)', borderRadius: 12, paddingTop: 14, paddingBottom: 14, paddingLeft: 18, paddingRight: 18, justifyContent: 'center' }}&gt;&#10;        &lt;Text style={{ fontSize: 20, fontWeight: 'bold', color: '#E6F0FA' }}&gt;同一套數學，三端一致&lt;/Text&gt;&#10;        &lt;Text style={{ fontSize: 16, color: '#E6F0FA', opacity: 0.72, marginTop: 5, lineHeight: 1.55 }}&gt;網頁、小程序、本地腳本分別跑，結果可交叉驗證。&lt;/Text&gt;&#10;      &lt;/Box&gt;&#10;      &lt;Box style={{ flex: 1, background: 'rgba(255,214,102,0.07)', border: '1px solid rgba(255,214,102,0.26)', borderRadius: 12, paddingTop: 14, paddingBottom: 14, paddingLeft: 18, paddingRight: 18, justifyContent: 'center' }}&gt;&#10;        &lt;Text style={{ fontSize: 20, fontWeight: 'bold', color: '#E6F0FA' }}&gt;按場景選端，不用裝軟體&lt;/Text&gt;&#10;        &lt;Text style={{ fontSize: 16, color: '#E6F0FA', opacity: 0.72, marginTop: 5, lineHeight: 1.55 }}&gt;即開即用看 H5，批量回測用腳本，小程序原始碼見 GitHub。&lt;/Text&gt;&#10;      &lt;/Box&gt;&#10;      &lt;Box style={{ flex: 1, background: 'rgba(0,153,255,0.05)', border: '1px solid rgba(0,153,255,0.2)', borderRadius: 12, paddingTop: 12, paddingBottom: 12, paddingLeft: 18, paddingRight: 18, flexDirection: 'row', flexWrap: 'wrap', gap: 10, alignItems: 'center' }}&gt;&#10;        &lt;Box style={{ background: 'rgba(0,153,255,0.16)', borderRadius: 999, paddingTop: 5, paddingBottom: 5, paddingLeft: 13, paddingRight: 13 }}&gt;&#10;          &lt;Text style={{ fontSize: 13, color: '#7FC4FF' }}&gt;簡 / 繁雙語&lt;/Text&gt;&#10;        &lt;/Box&gt;&#10;        &lt;Box style={{ background: 'rgba(0,153,255,0.16)', borderRadius: 999, paddingTop: 5, paddingBottom: 5, paddingLeft: 13, paddingRight: 13 }}&gt;&#10;          &lt;Text style={{ fontSize: 13, color: '#7FC4FF' }}&gt;危機壓力測試&lt;/Text&gt;&#10;        &lt;/Box&gt;&#10;        &lt;Box style={{ background: 'rgba(0,153,255,0.16)', borderRadius: 999, paddingTop: 5, paddingBottom: 5, paddingLeft: 13, paddingRight: 13 }}&gt;&#10;          &lt;Text style={{ fontSize: 13, color: '#7FC4FF' }}&gt;健康評分&lt;/Text&gt;&#10;        &lt;/Box&gt;&#10;      &lt;/Box&gt;&#10;    &lt;/Box&gt;&#10;  &lt;/Box&gt;&#10;  &lt;Box style={{ position: 'absolute', bottom: 18, left: 64, right: 64, flexDirection: 'row', justifyContent: 'space-between' }}&gt;&#10;    &lt;Text style={{ fontSize: 14, color: '#E6F0FA', opacity: 0.45 }}&gt;持倉透鏡 HoldingsLens · 1024 投稿&lt;/Text&gt;&#10;    &lt;Text style={{ fontSize: 14, color: '#E6F0FA', opacity: 0.45 }}&gt;06 / 09&lt;/Text&gt;&#10;  &lt;/Box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0A1628"/>
          </a:solidFill>
          <a:ln/>
        </p:spPr>
        <p:txBody>
          <a:bodyPr/>
          <a:p/>
        </p:txBody>
      </p:sp>
      <p:sp>
        <p:nvSpPr>
          <p:cNvPr id="145" name="" descr="{&quot;isTemplate&quot;:true,&quot;type&quot;:&quot;text&quot;}"/>
          <p:cNvSpPr txBox="1"/>
          <p:nvPr/>
        </p:nvSpPr>
        <p:spPr>
          <a:xfrm rot="0" flipH="0" flipV="0">
            <a:off x="609600" y="285750"/>
            <a:ext cx="10972800" cy="3905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550" b="1">
                <a:solidFill>
                  <a:srgbClr val="E6F0FA"/>
                </a:solidFill>
                <a:latin typeface="Microsoft YaHei"/>
                <a:ea typeface="Microsoft YaHei"/>
              </a:rPr>
              <a:t>一份引擎，三端可用</a:t>
            </a:r>
            <a:endParaRPr/>
          </a:p>
        </p:txBody>
      </p:sp>
      <p:sp>
        <p:nvSpPr>
          <p:cNvPr id="146" name=""/>
          <p:cNvSpPr/>
          <p:nvPr/>
        </p:nvSpPr>
        <p:spPr>
          <a:xfrm rot="0" flipH="0" flipV="0">
            <a:off x="609600" y="781050"/>
            <a:ext cx="5972175" cy="5905500"/>
          </a:xfrm>
          <a:prstGeom prst="roundRect">
            <a:avLst>
              <a:gd name="adj" fmla="val 2581"/>
            </a:avLst>
          </a:prstGeom>
          <a:solidFill>
            <a:srgbClr val="0099FF">
              <a:alpha val="6000"/>
            </a:srgbClr>
          </a:solidFill>
          <a:ln w="12700">
            <a:solidFill>
              <a:srgbClr val="00E2C6">
                <a:alpha val="20000"/>
              </a:srgbClr>
            </a:solidFill>
            <a:prstDash val="solid"/>
          </a:ln>
        </p:spPr>
        <p:txBody>
          <a:bodyPr/>
          <a:p/>
        </p:txBody>
      </p:sp>
      <p:pic>
        <p:nvPicPr>
          <p:cNvPr id="147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1"/>
              </a:ext>
            </a:extLst>
          </a:blip>
          <a:stretch>
            <a:fillRect/>
          </a:stretch>
        </p:blipFill>
        <p:spPr>
          <a:xfrm rot="0" flipH="0" flipV="0">
            <a:off x="1066800" y="914400"/>
            <a:ext cx="5067300" cy="4381500"/>
          </a:xfrm>
          <a:prstGeom prst="rect">
            <a:avLst/>
          </a:prstGeom>
          <a:ln/>
        </p:spPr>
      </p:pic>
      <p:sp>
        <p:nvSpPr>
          <p:cNvPr id="148" name=""/>
          <p:cNvSpPr/>
          <p:nvPr/>
        </p:nvSpPr>
        <p:spPr>
          <a:xfrm rot="0" flipH="0" flipV="0">
            <a:off x="723900" y="5648325"/>
            <a:ext cx="1847850" cy="342900"/>
          </a:xfrm>
          <a:prstGeom prst="roundRect">
            <a:avLst>
              <a:gd name="adj" fmla="val 27778"/>
            </a:avLst>
          </a:prstGeom>
          <a:solidFill>
            <a:srgbClr val="0099FF">
              <a:alpha val="5000"/>
            </a:srgbClr>
          </a:solidFill>
          <a:ln w="12700">
            <a:solidFill>
              <a:srgbClr val="0099FF">
                <a:alpha val="20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49" name="" descr="{&quot;isTemplate&quot;:true,&quot;type&quot;:&quot;text&quot;}"/>
          <p:cNvSpPr txBox="1"/>
          <p:nvPr/>
        </p:nvSpPr>
        <p:spPr>
          <a:xfrm rot="0" flipH="0" flipV="0">
            <a:off x="1285875" y="5743575"/>
            <a:ext cx="72390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7FC4FF"/>
                </a:solidFill>
                <a:latin typeface="Microsoft YaHei"/>
                <a:ea typeface="Microsoft YaHei"/>
              </a:rPr>
              <a:t>零</a:t>
            </a:r>
            <a:r>
              <a:rPr lang="en-US" sz="975">
                <a:solidFill>
                  <a:srgbClr val="7FC4FF"/>
                </a:solidFill>
                <a:latin typeface="Microsoft YaHei"/>
                <a:ea typeface="Microsoft YaHei"/>
              </a:rPr>
              <a:t xml:space="preserve"> npm </a:t>
            </a:r>
            <a:r>
              <a:rPr lang="zh-CN" sz="975">
                <a:solidFill>
                  <a:srgbClr val="7FC4FF"/>
                </a:solidFill>
                <a:latin typeface="Microsoft YaHei"/>
                <a:ea typeface="Microsoft YaHei"/>
              </a:rPr>
              <a:t>依賴</a:t>
            </a:r>
            <a:endParaRPr/>
          </a:p>
        </p:txBody>
      </p:sp>
      <p:sp>
        <p:nvSpPr>
          <p:cNvPr id="150" name=""/>
          <p:cNvSpPr/>
          <p:nvPr/>
        </p:nvSpPr>
        <p:spPr>
          <a:xfrm rot="0" flipH="0" flipV="0">
            <a:off x="2667000" y="5648325"/>
            <a:ext cx="1857375" cy="342900"/>
          </a:xfrm>
          <a:prstGeom prst="roundRect">
            <a:avLst>
              <a:gd name="adj" fmla="val 27778"/>
            </a:avLst>
          </a:prstGeom>
          <a:solidFill>
            <a:srgbClr val="0099FF">
              <a:alpha val="5000"/>
            </a:srgbClr>
          </a:solidFill>
          <a:ln w="12700">
            <a:solidFill>
              <a:srgbClr val="0099FF">
                <a:alpha val="20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51" name="" descr="{&quot;isTemplate&quot;:true,&quot;type&quot;:&quot;text&quot;}"/>
          <p:cNvSpPr txBox="1"/>
          <p:nvPr/>
        </p:nvSpPr>
        <p:spPr>
          <a:xfrm rot="0" flipH="0" flipV="0">
            <a:off x="3314700" y="5743575"/>
            <a:ext cx="561975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7FC4FF"/>
                </a:solidFill>
                <a:latin typeface="Microsoft YaHei"/>
                <a:ea typeface="Microsoft YaHei"/>
              </a:rPr>
              <a:t xml:space="preserve">17 </a:t>
            </a:r>
            <a:r>
              <a:rPr lang="zh-CN" sz="975">
                <a:solidFill>
                  <a:srgbClr val="7FC4FF"/>
                </a:solidFill>
                <a:latin typeface="Microsoft YaHei"/>
                <a:ea typeface="Microsoft YaHei"/>
              </a:rPr>
              <a:t>類資產</a:t>
            </a:r>
            <a:endParaRPr/>
          </a:p>
        </p:txBody>
      </p:sp>
      <p:sp>
        <p:nvSpPr>
          <p:cNvPr id="152" name=""/>
          <p:cNvSpPr/>
          <p:nvPr/>
        </p:nvSpPr>
        <p:spPr>
          <a:xfrm rot="0" flipH="0" flipV="0">
            <a:off x="4619625" y="5648325"/>
            <a:ext cx="1847850" cy="342900"/>
          </a:xfrm>
          <a:prstGeom prst="roundRect">
            <a:avLst>
              <a:gd name="adj" fmla="val 27778"/>
            </a:avLst>
          </a:prstGeom>
          <a:solidFill>
            <a:srgbClr val="0099FF">
              <a:alpha val="5000"/>
            </a:srgbClr>
          </a:solidFill>
          <a:ln w="12700">
            <a:solidFill>
              <a:srgbClr val="0099FF">
                <a:alpha val="20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53" name="" descr="{&quot;isTemplate&quot;:true,&quot;type&quot;:&quot;text&quot;}"/>
          <p:cNvSpPr txBox="1"/>
          <p:nvPr/>
        </p:nvSpPr>
        <p:spPr>
          <a:xfrm rot="0" flipH="0" flipV="0">
            <a:off x="5229225" y="5743575"/>
            <a:ext cx="62865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7FC4FF"/>
                </a:solidFill>
                <a:latin typeface="Microsoft YaHei"/>
                <a:ea typeface="Microsoft YaHei"/>
              </a:rPr>
              <a:t xml:space="preserve">126 </a:t>
            </a:r>
            <a:r>
              <a:rPr lang="zh-CN" sz="975">
                <a:solidFill>
                  <a:srgbClr val="7FC4FF"/>
                </a:solidFill>
                <a:latin typeface="Microsoft YaHei"/>
                <a:ea typeface="Microsoft YaHei"/>
              </a:rPr>
              <a:t>項測試</a:t>
            </a:r>
            <a:endParaRPr/>
          </a:p>
        </p:txBody>
      </p:sp>
      <p:sp>
        <p:nvSpPr>
          <p:cNvPr id="154" name=""/>
          <p:cNvSpPr/>
          <p:nvPr/>
        </p:nvSpPr>
        <p:spPr>
          <a:xfrm rot="0" flipH="0" flipV="0">
            <a:off x="6886575" y="781050"/>
            <a:ext cx="4695825" cy="1495425"/>
          </a:xfrm>
          <a:prstGeom prst="roundRect">
            <a:avLst>
              <a:gd name="adj" fmla="val 7643"/>
            </a:avLst>
          </a:prstGeom>
          <a:solidFill>
            <a:srgbClr val="0099FF">
              <a:alpha val="8000"/>
            </a:srgbClr>
          </a:solidFill>
          <a:ln w="12700">
            <a:solidFill>
              <a:srgbClr val="0099FF">
                <a:alpha val="28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55" name="" descr="{&quot;isTemplate&quot;:true,&quot;type&quot;:&quot;text&quot;}"/>
          <p:cNvSpPr txBox="1"/>
          <p:nvPr/>
        </p:nvSpPr>
        <p:spPr>
          <a:xfrm rot="0" flipH="0" flipV="0">
            <a:off x="7058025" y="1247775"/>
            <a:ext cx="4352925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b="1">
                <a:solidFill>
                  <a:srgbClr val="E6F0FA"/>
                </a:solidFill>
                <a:latin typeface="Microsoft YaHei"/>
                <a:ea typeface="Microsoft YaHei"/>
              </a:rPr>
              <a:t>同一份引擎，不依賴雲端</a:t>
            </a:r>
            <a:endParaRPr/>
          </a:p>
        </p:txBody>
      </p:sp>
      <p:sp>
        <p:nvSpPr>
          <p:cNvPr id="156" name=""/>
          <p:cNvSpPr/>
          <p:nvPr/>
        </p:nvSpPr>
        <p:spPr>
          <a:xfrm rot="0" flipH="0" flipV="0">
            <a:off x="6886575" y="2371725"/>
            <a:ext cx="4695825" cy="1495425"/>
          </a:xfrm>
          <a:prstGeom prst="roundRect">
            <a:avLst>
              <a:gd name="adj" fmla="val 7643"/>
            </a:avLst>
          </a:prstGeom>
          <a:solidFill>
            <a:srgbClr val="00E2C6">
              <a:alpha val="7000"/>
            </a:srgbClr>
          </a:solidFill>
          <a:ln w="12700">
            <a:solidFill>
              <a:srgbClr val="00E2C6">
                <a:alpha val="26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57" name="" descr="{&quot;isTemplate&quot;:true,&quot;type&quot;:&quot;text&quot;}"/>
          <p:cNvSpPr txBox="1"/>
          <p:nvPr/>
        </p:nvSpPr>
        <p:spPr>
          <a:xfrm rot="0" flipH="0" flipV="0">
            <a:off x="7058025" y="2838450"/>
            <a:ext cx="4352925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b="1">
                <a:solidFill>
                  <a:srgbClr val="E6F0FA"/>
                </a:solidFill>
                <a:latin typeface="Microsoft YaHei"/>
                <a:ea typeface="Microsoft YaHei"/>
              </a:rPr>
              <a:t>同一套數學，三端一致</a:t>
            </a:r>
            <a:endParaRPr/>
          </a:p>
        </p:txBody>
      </p:sp>
      <p:sp>
        <p:nvSpPr>
          <p:cNvPr id="158" name=""/>
          <p:cNvSpPr/>
          <p:nvPr/>
        </p:nvSpPr>
        <p:spPr>
          <a:xfrm rot="0" flipH="0" flipV="0">
            <a:off x="6886575" y="3962400"/>
            <a:ext cx="4695825" cy="1485900"/>
          </a:xfrm>
          <a:prstGeom prst="roundRect">
            <a:avLst>
              <a:gd name="adj" fmla="val 7692"/>
            </a:avLst>
          </a:prstGeom>
          <a:solidFill>
            <a:srgbClr val="FFD666">
              <a:alpha val="7000"/>
            </a:srgbClr>
          </a:solidFill>
          <a:ln w="12700">
            <a:solidFill>
              <a:srgbClr val="FFD666">
                <a:alpha val="26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59" name="" descr="{&quot;isTemplate&quot;:true,&quot;type&quot;:&quot;text&quot;}"/>
          <p:cNvSpPr txBox="1"/>
          <p:nvPr/>
        </p:nvSpPr>
        <p:spPr>
          <a:xfrm rot="0" flipH="0" flipV="0">
            <a:off x="7058025" y="4429125"/>
            <a:ext cx="4352925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b="1">
                <a:solidFill>
                  <a:srgbClr val="E6F0FA"/>
                </a:solidFill>
                <a:latin typeface="Microsoft YaHei"/>
                <a:ea typeface="Microsoft YaHei"/>
              </a:rPr>
              <a:t>按場景選端，不用裝軟體</a:t>
            </a:r>
            <a:endParaRPr/>
          </a:p>
        </p:txBody>
      </p:sp>
      <p:sp>
        <p:nvSpPr>
          <p:cNvPr id="160" name=""/>
          <p:cNvSpPr/>
          <p:nvPr/>
        </p:nvSpPr>
        <p:spPr>
          <a:xfrm rot="0" flipH="0" flipV="0">
            <a:off x="6886575" y="5543550"/>
            <a:ext cx="4695825" cy="1143000"/>
          </a:xfrm>
          <a:prstGeom prst="roundRect">
            <a:avLst>
              <a:gd name="adj" fmla="val 10000"/>
            </a:avLst>
          </a:prstGeom>
          <a:solidFill>
            <a:srgbClr val="0099FF">
              <a:alpha val="5000"/>
            </a:srgbClr>
          </a:solidFill>
          <a:ln w="12700">
            <a:solidFill>
              <a:srgbClr val="0099FF">
                <a:alpha val="20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61" name=""/>
          <p:cNvSpPr/>
          <p:nvPr/>
        </p:nvSpPr>
        <p:spPr>
          <a:xfrm rot="0" flipH="0" flipV="0">
            <a:off x="7058025" y="5991225"/>
            <a:ext cx="876300" cy="247650"/>
          </a:xfrm>
          <a:prstGeom prst="roundRect">
            <a:avLst>
              <a:gd name="adj" fmla="val 3842308"/>
            </a:avLst>
          </a:prstGeom>
          <a:solidFill>
            <a:srgbClr val="0099FF">
              <a:alpha val="16000"/>
            </a:srgbClr>
          </a:solidFill>
          <a:ln/>
        </p:spPr>
        <p:txBody>
          <a:bodyPr/>
          <a:p/>
        </p:txBody>
      </p:sp>
      <p:sp>
        <p:nvSpPr>
          <p:cNvPr id="162" name="" descr="{&quot;isTemplate&quot;:true,&quot;type&quot;:&quot;text&quot;}"/>
          <p:cNvSpPr txBox="1"/>
          <p:nvPr/>
        </p:nvSpPr>
        <p:spPr>
          <a:xfrm rot="0" flipH="0" flipV="0">
            <a:off x="7181850" y="6038850"/>
            <a:ext cx="62865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7FC4FF"/>
                </a:solidFill>
                <a:latin typeface="Microsoft YaHei"/>
                <a:ea typeface="Microsoft YaHei"/>
              </a:rPr>
              <a:t>簡</a:t>
            </a:r>
            <a:r>
              <a:rPr lang="en-US" sz="975">
                <a:solidFill>
                  <a:srgbClr val="7FC4FF"/>
                </a:solidFill>
                <a:latin typeface="Microsoft YaHei"/>
                <a:ea typeface="Microsoft YaHei"/>
              </a:rPr>
              <a:t xml:space="preserve"> / </a:t>
            </a:r>
            <a:r>
              <a:rPr lang="zh-CN" sz="975">
                <a:solidFill>
                  <a:srgbClr val="7FC4FF"/>
                </a:solidFill>
                <a:latin typeface="Microsoft YaHei"/>
                <a:ea typeface="Microsoft YaHei"/>
              </a:rPr>
              <a:t>繁雙語</a:t>
            </a:r>
            <a:endParaRPr/>
          </a:p>
        </p:txBody>
      </p:sp>
      <p:sp>
        <p:nvSpPr>
          <p:cNvPr id="163" name=""/>
          <p:cNvSpPr/>
          <p:nvPr/>
        </p:nvSpPr>
        <p:spPr>
          <a:xfrm rot="0" flipH="0" flipV="0">
            <a:off x="8029575" y="5991225"/>
            <a:ext cx="990600" cy="247650"/>
          </a:xfrm>
          <a:prstGeom prst="roundRect">
            <a:avLst>
              <a:gd name="adj" fmla="val 3842308"/>
            </a:avLst>
          </a:prstGeom>
          <a:solidFill>
            <a:srgbClr val="0099FF">
              <a:alpha val="16000"/>
            </a:srgbClr>
          </a:solidFill>
          <a:ln/>
        </p:spPr>
        <p:txBody>
          <a:bodyPr/>
          <a:p/>
        </p:txBody>
      </p:sp>
      <p:sp>
        <p:nvSpPr>
          <p:cNvPr id="164" name="" descr="{&quot;isTemplate&quot;:true,&quot;type&quot;:&quot;text&quot;}"/>
          <p:cNvSpPr txBox="1"/>
          <p:nvPr/>
        </p:nvSpPr>
        <p:spPr>
          <a:xfrm rot="0" flipH="0" flipV="0">
            <a:off x="8153400" y="6038850"/>
            <a:ext cx="74295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7FC4FF"/>
                </a:solidFill>
                <a:latin typeface="Microsoft YaHei"/>
                <a:ea typeface="Microsoft YaHei"/>
              </a:rPr>
              <a:t>危機壓力測試</a:t>
            </a:r>
            <a:endParaRPr/>
          </a:p>
        </p:txBody>
      </p:sp>
      <p:sp>
        <p:nvSpPr>
          <p:cNvPr id="165" name=""/>
          <p:cNvSpPr/>
          <p:nvPr/>
        </p:nvSpPr>
        <p:spPr>
          <a:xfrm rot="0" flipH="0" flipV="0">
            <a:off x="9115425" y="5991225"/>
            <a:ext cx="742950" cy="247650"/>
          </a:xfrm>
          <a:prstGeom prst="roundRect">
            <a:avLst>
              <a:gd name="adj" fmla="val 3842308"/>
            </a:avLst>
          </a:prstGeom>
          <a:solidFill>
            <a:srgbClr val="0099FF">
              <a:alpha val="16000"/>
            </a:srgbClr>
          </a:solidFill>
          <a:ln/>
        </p:spPr>
        <p:txBody>
          <a:bodyPr/>
          <a:p/>
        </p:txBody>
      </p:sp>
      <p:sp>
        <p:nvSpPr>
          <p:cNvPr id="166" name="" descr="{&quot;isTemplate&quot;:true,&quot;type&quot;:&quot;text&quot;}"/>
          <p:cNvSpPr txBox="1"/>
          <p:nvPr/>
        </p:nvSpPr>
        <p:spPr>
          <a:xfrm rot="0" flipH="0" flipV="0">
            <a:off x="9239250" y="6038850"/>
            <a:ext cx="49530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7FC4FF"/>
                </a:solidFill>
                <a:latin typeface="Microsoft YaHei"/>
                <a:ea typeface="Microsoft YaHei"/>
              </a:rPr>
              <a:t>健康評分</a:t>
            </a:r>
            <a:endParaRPr/>
          </a:p>
        </p:txBody>
      </p:sp>
      <p:sp>
        <p:nvSpPr>
          <p:cNvPr id="167" name="" descr="{&quot;isTemplate&quot;:true,&quot;type&quot;:&quot;text&quot;}"/>
          <p:cNvSpPr txBox="1"/>
          <p:nvPr/>
        </p:nvSpPr>
        <p:spPr>
          <a:xfrm rot="0" flipH="0" flipV="0">
            <a:off x="1828800" y="5372100"/>
            <a:ext cx="3533775" cy="161925"/>
          </a:xfrm>
          <a:prstGeom prst="rect"/>
        </p:spPr>
        <p:txBody>
          <a:bodyPr wrap="none" lIns="0" tIns="0" rIns="0" bIns="0"/>
          <a:p>
            <a:pPr algn="ctr">
              <a:lnSpc>
                <a:spcPct val="100000"/>
              </a:lnSpc>
            </a:pPr>
            <a:r>
              <a:rPr lang="zh-CN" sz="1050">
                <a:solidFill>
                  <a:srgbClr val="E6F0FA">
                    <a:alpha val="55000"/>
                  </a:srgbClr>
                </a:solidFill>
                <a:latin typeface="Microsoft YaHei"/>
                <a:ea typeface="Microsoft YaHei"/>
              </a:rPr>
              <a:t>三端共用同一份</a:t>
            </a:r>
            <a:r>
              <a:rPr lang="en-US" sz="1050">
                <a:solidFill>
                  <a:srgbClr val="E6F0FA">
                    <a:alpha val="55000"/>
                  </a:srgbClr>
                </a:solidFill>
                <a:latin typeface="Microsoft YaHei"/>
                <a:ea typeface="Microsoft YaHei"/>
              </a:rPr>
              <a:t xml:space="preserve"> assetlib.js + engine.js</a:t>
            </a:r>
            <a:r>
              <a:rPr lang="zh-CN" sz="1050">
                <a:solidFill>
                  <a:srgbClr val="E6F0FA">
                    <a:alpha val="55000"/>
                  </a:srgbClr>
                </a:solidFill>
                <a:latin typeface="Microsoft YaHei"/>
                <a:ea typeface="Microsoft YaHei"/>
              </a:rPr>
              <a:t>，改一處、全端生效</a:t>
            </a:r>
            <a:endParaRPr/>
          </a:p>
        </p:txBody>
      </p:sp>
      <p:sp>
        <p:nvSpPr>
          <p:cNvPr id="168" name="" descr="{&quot;isTemplate&quot;:true,&quot;type&quot;:&quot;text&quot;}"/>
          <p:cNvSpPr txBox="1"/>
          <p:nvPr/>
        </p:nvSpPr>
        <p:spPr>
          <a:xfrm rot="0" flipH="0" flipV="0">
            <a:off x="7058025" y="1524000"/>
            <a:ext cx="4352925" cy="285750"/>
          </a:xfrm>
          <a:prstGeom prst="rect"/>
        </p:spPr>
        <p:txBody>
          <a:bodyPr wrap="none" lIns="0" tIns="0" rIns="0" bIns="0"/>
          <a:p>
            <a:pPr>
              <a:lnSpc>
                <a:spcPct val="155000"/>
              </a:lnSpc>
            </a:pPr>
            <a:r>
              <a:rPr lang="zh-CN" sz="1200">
                <a:solidFill>
                  <a:srgbClr val="E6F0FA">
                    <a:alpha val="72000"/>
                  </a:srgbClr>
                </a:solidFill>
                <a:latin typeface="Microsoft YaHei"/>
                <a:ea typeface="Microsoft YaHei"/>
              </a:rPr>
              <a:t>核心計算是</a:t>
            </a:r>
            <a:r>
              <a:rPr lang="en-US" sz="1200">
                <a:solidFill>
                  <a:srgbClr val="E6F0FA">
                    <a:alpha val="72000"/>
                  </a:srgbClr>
                </a:solidFill>
                <a:latin typeface="Microsoft YaHei"/>
                <a:ea typeface="Microsoft YaHei"/>
              </a:rPr>
              <a:t xml:space="preserve"> UMD </a:t>
            </a:r>
            <a:r>
              <a:rPr lang="zh-CN" sz="1200">
                <a:solidFill>
                  <a:srgbClr val="E6F0FA">
                    <a:alpha val="72000"/>
                  </a:srgbClr>
                </a:solidFill>
                <a:latin typeface="Microsoft YaHei"/>
                <a:ea typeface="Microsoft YaHei"/>
              </a:rPr>
              <a:t>模組，持倉資料不上傳任何伺服器。</a:t>
            </a:r>
            <a:endParaRPr/>
          </a:p>
        </p:txBody>
      </p:sp>
      <p:sp>
        <p:nvSpPr>
          <p:cNvPr id="169" name="" descr="{&quot;isTemplate&quot;:true,&quot;type&quot;:&quot;text&quot;}"/>
          <p:cNvSpPr txBox="1"/>
          <p:nvPr/>
        </p:nvSpPr>
        <p:spPr>
          <a:xfrm rot="0" flipH="0" flipV="0">
            <a:off x="7058025" y="3114675"/>
            <a:ext cx="4352925" cy="285750"/>
          </a:xfrm>
          <a:prstGeom prst="rect"/>
        </p:spPr>
        <p:txBody>
          <a:bodyPr wrap="none" lIns="0" tIns="0" rIns="0" bIns="0"/>
          <a:p>
            <a:pPr>
              <a:lnSpc>
                <a:spcPct val="155000"/>
              </a:lnSpc>
            </a:pPr>
            <a:r>
              <a:rPr lang="zh-CN" sz="1200">
                <a:solidFill>
                  <a:srgbClr val="E6F0FA">
                    <a:alpha val="72000"/>
                  </a:srgbClr>
                </a:solidFill>
                <a:latin typeface="Microsoft YaHei"/>
                <a:ea typeface="Microsoft YaHei"/>
              </a:rPr>
              <a:t>網頁、小程序、本地腳本分別跑，結果可交叉驗證。</a:t>
            </a:r>
            <a:endParaRPr/>
          </a:p>
        </p:txBody>
      </p:sp>
      <p:sp>
        <p:nvSpPr>
          <p:cNvPr id="170" name="" descr="{&quot;isTemplate&quot;:true,&quot;type&quot;:&quot;text&quot;}"/>
          <p:cNvSpPr txBox="1"/>
          <p:nvPr/>
        </p:nvSpPr>
        <p:spPr>
          <a:xfrm rot="0" flipH="0" flipV="0">
            <a:off x="7058025" y="4705350"/>
            <a:ext cx="4352925" cy="285750"/>
          </a:xfrm>
          <a:prstGeom prst="rect"/>
        </p:spPr>
        <p:txBody>
          <a:bodyPr wrap="none" lIns="0" tIns="0" rIns="0" bIns="0"/>
          <a:p>
            <a:pPr>
              <a:lnSpc>
                <a:spcPct val="155000"/>
              </a:lnSpc>
            </a:pPr>
            <a:r>
              <a:rPr lang="zh-CN" sz="1200">
                <a:solidFill>
                  <a:srgbClr val="E6F0FA">
                    <a:alpha val="72000"/>
                  </a:srgbClr>
                </a:solidFill>
                <a:latin typeface="Microsoft YaHei"/>
                <a:ea typeface="Microsoft YaHei"/>
              </a:rPr>
              <a:t>即開即用看 H5，批量回測用腳本</a:t>
            </a:r>
            <a:r>
              <a:rPr lang="en-US" sz="1200">
                <a:solidFill>
                  <a:srgbClr val="E6F0FA">
                    <a:alpha val="72000"/>
                  </a:srgbClr>
                </a:solidFill>
                <a:latin typeface="Microsoft YaHei"/>
                <a:ea typeface="Microsoft YaHei"/>
              </a:rPr>
              <a:t xml:space="preserve"> H5</a:t>
            </a:r>
            <a:r>
              <a:rPr lang="zh-CN" sz="1200">
                <a:solidFill>
                  <a:srgbClr val="E6F0FA">
                    <a:alpha val="72000"/>
                  </a:srgbClr>
                </a:solidFill>
                <a:latin typeface="Microsoft YaHei"/>
                <a:ea typeface="Microsoft YaHei"/>
              </a:rPr>
              <a:t>，小程序原始碼見 GitHub。</a:t>
            </a:r>
            <a:endParaRPr/>
          </a:p>
        </p:txBody>
      </p:sp>
      <p:sp>
        <p:nvSpPr>
          <p:cNvPr id="171" name="" descr="{&quot;isTemplate&quot;:true,&quot;type&quot;:&quot;text&quot;}"/>
          <p:cNvSpPr txBox="1"/>
          <p:nvPr/>
        </p:nvSpPr>
        <p:spPr>
          <a:xfrm rot="0" flipH="0" flipV="0">
            <a:off x="609600" y="6524625"/>
            <a:ext cx="21717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E6F0FA">
                    <a:alpha val="45000"/>
                  </a:srgbClr>
                </a:solidFill>
                <a:latin typeface="Microsoft YaHei"/>
                <a:ea typeface="Microsoft YaHei"/>
              </a:rPr>
              <a:t>持倉透鏡</a:t>
            </a:r>
            <a:r>
              <a:rPr lang="en-US" sz="1050">
                <a:solidFill>
                  <a:srgbClr val="E6F0FA">
                    <a:alpha val="45000"/>
                  </a:srgbClr>
                </a:solidFill>
                <a:latin typeface="Microsoft YaHei"/>
                <a:ea typeface="Microsoft YaHei"/>
              </a:rPr>
              <a:t xml:space="preserve"> HoldingsLens · 1024 </a:t>
            </a:r>
            <a:r>
              <a:rPr lang="zh-CN" sz="1050">
                <a:solidFill>
                  <a:srgbClr val="E6F0FA">
                    <a:alpha val="45000"/>
                  </a:srgbClr>
                </a:solidFill>
                <a:latin typeface="Microsoft YaHei"/>
                <a:ea typeface="Microsoft YaHei"/>
              </a:rPr>
              <a:t>投稿</a:t>
            </a:r>
            <a:endParaRPr/>
          </a:p>
        </p:txBody>
      </p:sp>
      <p:sp>
        <p:nvSpPr>
          <p:cNvPr id="172" name="" descr="{&quot;isTemplate&quot;:true,&quot;type&quot;:&quot;text&quot;}"/>
          <p:cNvSpPr txBox="1"/>
          <p:nvPr/>
        </p:nvSpPr>
        <p:spPr>
          <a:xfrm rot="0" flipH="0" flipV="0">
            <a:off x="11125200" y="6524625"/>
            <a:ext cx="457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E6F0FA">
                    <a:alpha val="45000"/>
                  </a:srgbClr>
                </a:solidFill>
                <a:latin typeface="Microsoft YaHei"/>
                <a:ea typeface="Microsoft YaHei"/>
              </a:rPr>
              <a:t>06 / 09</a:t>
            </a:r>
            <a:endParaRPr/>
          </a:p>
        </p:txBody>
      </p:sp>
    </p:spTree>
  </p:cSld>
</p:sld>
</file>

<file path=ppt/slides/slide7.xml><?xml version="1.0" encoding="utf-8"?>
<p:sld xmlns:p="http://schemas.openxmlformats.org/presentationml/2006/main" xmlns:a="http://schemas.openxmlformats.org/drawingml/2006/main">
  <p:cSld>
    <p:spTree>
      <p:nvGrpSpPr>
        <p:cNvPr id="173" name="" descr="&lt;Slide style={{ width: '1280px', height: '720px', background: '#0A1628', padding: '20px 64px', position: 'relative', display: 'flex', flexDirection: 'column' }}&gt;&#10;  &lt;Box style={{ height: 76, justifyContent: 'center' }}&gt;&#10;    &lt;Text style={{ fontSize: 34, fontWeight: 'bold', color: '#E6F0FA' }}&gt;實測：一個 4 資產組合（真實計算）&lt;/Text&gt;&#10;  &lt;/Box&gt;&#10;  &lt;Box style={{ flexDirection: 'row', gap: 36, flex: 1, alignItems: 'stretch' }}&gt;&#10;    &lt;Box style={{ flex: 38, background: 'rgba(0,153,255,0.08)', border: '1px solid rgba(0,226,198,0.22)', borderRadius: 16, padding: 28, flexDirection: 'column', justifyContent: 'center', alignItems: 'center' }}&gt;&#10;      &lt;Text style={{ fontSize: 20, color: '#E6F0FA', opacity: 0.75 }}&gt;組合健康分&lt;/Text&gt;&#10;      &lt;Text style={{ fontSize: 110, fontWeight: 'bold', color: '#0099FF', lineHeight: 1 }}&gt;62&lt;/Text&gt;&#10;      &lt;Text style={{ fontSize: 20, color: '#00E2C6', fontWeight: 'bold', marginTop: 6 }}&gt;基本穩健·有偏科&lt;/Text&gt;&#10;      &lt;Text style={{ fontSize: 16, color: '#E6F0FA', opacity: 0.7, marginTop: 14, textAlign: 'center', lineHeight: 1.5 }}&gt;波動率 17.2% → 危機情境 19.5%&lt;br /&gt;名目持倉 4 筆 · 風險有效押注 2.3&lt;br /&gt;危機下分散效果衰退 41.5%&lt;/Text&gt;&#10;    &lt;/Box&gt;&#10;    &lt;Box style={{ flex: 62, flexDirection: 'column', justifyContent: 'center', gap: 18 }}&gt;&#10;      &lt;Text style={{ fontSize: 18, color: '#E6F0FA', opacity: 0.8, marginBottom: 2 }}&gt;每類資產的風險貢獻（% of 波動）&lt;/Text&gt;&#10;      &lt;Box style={{ flexDirection: 'row', alignItems: 'center', gap: 14 }}&gt;&#10;        &lt;Text style={{ fontSize: 17, color: '#E6F0FA', width: 120 }}&gt;成長股&lt;/Text&gt;&#10;        &lt;Box style={{ flex: 1, height: 26, background: 'rgba(230,240,250,0.08)', borderRadius: 6 }}&gt;&#10;          &lt;Box style={{ width: '100%', height: 26, background: 'linear-gradient(90deg,#0099FF,#00E2C6)', borderRadius: 6 }} /&gt;&#10;        &lt;/Box&gt;&#10;        &lt;Text style={{ fontSize: 17, color: '#0099FF', fontWeight: 'bold', width: 70, textAlign: 'right' }}&gt;60.2%&lt;/Text&gt;&#10;      &lt;/Box&gt;&#10;      &lt;Box style={{ flexDirection: 'row', alignItems: 'center', gap: 14 }}&gt;&#10;        &lt;Text style={{ fontSize: 17, color: '#E6F0FA', width: 120 }}&gt;美股科技&lt;/Text&gt;&#10;        &lt;Box style={{ flex: 1, height: 26, background: 'rgba(230,240,250,0.08)', borderRadius: 6 }}&gt;&#10;          &lt;Box style={{ width: '62%', height: 26, background: 'linear-gradient(90deg,#0099FF,#00E2C6)', borderRadius: 6 }} /&gt;&#10;        &lt;/Box&gt;&#10;        &lt;Text style={{ fontSize: 17, color: '#0099FF', fontWeight: 'bold', width: 70, textAlign: 'right' }}&gt;37.4%&lt;/Text&gt;&#10;      &lt;/Box&gt;&#10;      &lt;Box style={{ flexDirection: 'row', alignItems: 'center', gap: 14 }}&gt;&#10;        &lt;Text style={{ fontSize: 17, color: '#E6F0FA', width: 120 }}&gt;黃金&lt;/Text&gt;&#10;        &lt;Box style={{ flex: 1, height: 26, background: 'rgba(230,240,250,0.08)', borderRadius: 6 }}&gt;&#10;          &lt;Box style={{ width: '6%', height: 26, background: 'linear-gradient(90deg,#0099FF,#00E2C6)', borderRadius: 6 }} /&gt;&#10;        &lt;/Box&gt;&#10;        &lt;Text style={{ fontSize: 17, color: '#00E2C6', fontWeight: 'bold', width: 70, textAlign: 'right' }}&gt;2.5%&lt;/Text&gt;&#10;      &lt;/Box&gt;&#10;      &lt;Box style={{ flexDirection: 'row', alignItems: 'center', gap: 14 }}&gt;&#10;        &lt;Text style={{ fontSize: 17, color: '#E6F0FA', width: 120 }}&gt;債券&lt;/Text&gt;&#10;        &lt;Box style={{ flex: 1, height: 26, background: 'rgba(230,240,250,0.08)', borderRadius: 6, flexDirection: 'row', justifyContent: 'flex-end' }}&gt;&#10;          &lt;Box style={{ width: '4%', height: 26, background: '#E6F0FA', opacity: 0.5, borderRadius: 6 }} /&gt;&#10;        &lt;/Box&gt;&#10;        &lt;Text style={{ fontSize: 17, color: '#E6F0FA', opacity: 0.7, fontWeight: 'bold', width: 70, textAlign: 'right' }}&gt;-0.2%&lt;/Text&gt;&#10;      &lt;/Box&gt;&#10;      &lt;Text style={{ fontSize: 17, color: '#E6F0FA', opacity: 0.85, marginTop: 4, lineHeight: 1.5 }}&gt;成長股佔 41.9% 資金卻吃掉 &lt;span style={{ color: '#0099FF', fontWeight: 'bold' }}&gt;60.2%&lt;/span&gt; 波動；債券 -0.2% 表示它在&lt;span style={{ color: '#00E2C6' }}&gt;吸收波動&lt;/span&gt;（對沖）。&lt;/Text&gt;&#10;    &lt;/Box&gt;&#10;  &lt;/Box&gt;&#10;  &lt;Box style={{ position: 'absolute', bottom: 18, left: 64, right: 64, flexDirection: 'row', justifyContent: 'space-between' }}&gt;&#10;    &lt;Text style={{ fontSize: 14, color: '#E6F0FA', opacity: 0.45 }}&gt;持倉透鏡 HoldingsLens · 1024 投稿&lt;/Text&gt;&#10;    &lt;Text style={{ fontSize: 14, color: '#E6F0FA', opacity: 0.45 }}&gt;07 / 09&lt;/Text&gt;&#10;  &lt;/Box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0A1628"/>
          </a:solidFill>
          <a:ln/>
        </p:spPr>
        <p:txBody>
          <a:bodyPr/>
          <a:p/>
        </p:txBody>
      </p:sp>
      <p:sp>
        <p:nvSpPr>
          <p:cNvPr id="175" name="" descr="{&quot;isTemplate&quot;:true,&quot;type&quot;:&quot;text&quot;}"/>
          <p:cNvSpPr txBox="1"/>
          <p:nvPr/>
        </p:nvSpPr>
        <p:spPr>
          <a:xfrm rot="0" flipH="0" flipV="0">
            <a:off x="609600" y="361950"/>
            <a:ext cx="10972800" cy="3905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550" b="1">
                <a:solidFill>
                  <a:srgbClr val="E6F0FA"/>
                </a:solidFill>
                <a:latin typeface="Microsoft YaHei"/>
                <a:ea typeface="Microsoft YaHei"/>
              </a:rPr>
              <a:t>實測：一個</a:t>
            </a:r>
            <a:r>
              <a:rPr lang="en-US" sz="2550" b="1">
                <a:solidFill>
                  <a:srgbClr val="E6F0FA"/>
                </a:solidFill>
                <a:latin typeface="Microsoft YaHei"/>
                <a:ea typeface="Microsoft YaHei"/>
              </a:rPr>
              <a:t xml:space="preserve"> 4 </a:t>
            </a:r>
            <a:r>
              <a:rPr lang="zh-CN" sz="2550" b="1">
                <a:solidFill>
                  <a:srgbClr val="E6F0FA"/>
                </a:solidFill>
                <a:latin typeface="Microsoft YaHei"/>
                <a:ea typeface="Microsoft YaHei"/>
              </a:rPr>
              <a:t>資產組合（真實計算）</a:t>
            </a:r>
            <a:endParaRPr/>
          </a:p>
        </p:txBody>
      </p:sp>
      <p:sp>
        <p:nvSpPr>
          <p:cNvPr id="176" name=""/>
          <p:cNvSpPr/>
          <p:nvPr/>
        </p:nvSpPr>
        <p:spPr>
          <a:xfrm rot="0" flipH="0" flipV="0">
            <a:off x="609600" y="914400"/>
            <a:ext cx="4038600" cy="5753100"/>
          </a:xfrm>
          <a:prstGeom prst="roundRect">
            <a:avLst>
              <a:gd name="adj" fmla="val 3774"/>
            </a:avLst>
          </a:prstGeom>
          <a:solidFill>
            <a:srgbClr val="0099FF">
              <a:alpha val="8000"/>
            </a:srgbClr>
          </a:solidFill>
          <a:ln w="12700">
            <a:solidFill>
              <a:srgbClr val="00E2C6">
                <a:alpha val="22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77" name="" descr="{&quot;isTemplate&quot;:true,&quot;type&quot;:&quot;text&quot;}"/>
          <p:cNvSpPr txBox="1"/>
          <p:nvPr/>
        </p:nvSpPr>
        <p:spPr>
          <a:xfrm rot="0" flipH="0" flipV="0">
            <a:off x="1981200" y="2657475"/>
            <a:ext cx="1295400" cy="12573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8250" b="1">
                <a:solidFill>
                  <a:srgbClr val="0099FF"/>
                </a:solidFill>
                <a:latin typeface="Microsoft YaHei"/>
                <a:ea typeface="Microsoft YaHei"/>
              </a:rPr>
              <a:t>62</a:t>
            </a:r>
            <a:endParaRPr/>
          </a:p>
        </p:txBody>
      </p:sp>
      <p:sp>
        <p:nvSpPr>
          <p:cNvPr id="178" name="" descr="{&quot;isTemplate&quot;:true,&quot;type&quot;:&quot;text&quot;}"/>
          <p:cNvSpPr txBox="1"/>
          <p:nvPr/>
        </p:nvSpPr>
        <p:spPr>
          <a:xfrm rot="0" flipH="0" flipV="0">
            <a:off x="1924050" y="3971925"/>
            <a:ext cx="1419225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b="1">
                <a:solidFill>
                  <a:srgbClr val="00E2C6"/>
                </a:solidFill>
                <a:latin typeface="Microsoft YaHei"/>
                <a:ea typeface="Microsoft YaHei"/>
              </a:rPr>
              <a:t>基本穩健·有偏科</a:t>
            </a:r>
            <a:endParaRPr/>
          </a:p>
        </p:txBody>
      </p:sp>
      <p:sp>
        <p:nvSpPr>
          <p:cNvPr id="179" name="" descr="{&quot;isTemplate&quot;:true,&quot;type&quot;:&quot;text&quot;}"/>
          <p:cNvSpPr txBox="1"/>
          <p:nvPr/>
        </p:nvSpPr>
        <p:spPr>
          <a:xfrm rot="0" flipH="0" flipV="0">
            <a:off x="4991100" y="3019425"/>
            <a:ext cx="114300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>
                <a:solidFill>
                  <a:srgbClr val="E6F0FA"/>
                </a:solidFill>
                <a:latin typeface="Microsoft YaHei"/>
                <a:ea typeface="Microsoft YaHei"/>
              </a:rPr>
              <a:t>成長股</a:t>
            </a:r>
            <a:endParaRPr/>
          </a:p>
        </p:txBody>
      </p:sp>
      <p:sp>
        <p:nvSpPr>
          <p:cNvPr id="180" name=""/>
          <p:cNvSpPr/>
          <p:nvPr/>
        </p:nvSpPr>
        <p:spPr>
          <a:xfrm rot="0" flipH="0" flipV="0">
            <a:off x="6267450" y="2990850"/>
            <a:ext cx="4514850" cy="247650"/>
          </a:xfrm>
          <a:prstGeom prst="roundRect">
            <a:avLst>
              <a:gd name="adj" fmla="val 23077"/>
            </a:avLst>
          </a:prstGeom>
          <a:solidFill>
            <a:srgbClr val="E6F0FA">
              <a:alpha val="8000"/>
            </a:srgbClr>
          </a:solidFill>
          <a:ln/>
        </p:spPr>
        <p:txBody>
          <a:bodyPr/>
          <a:p/>
        </p:txBody>
      </p:sp>
      <p:sp>
        <p:nvSpPr>
          <p:cNvPr id="181" name=""/>
          <p:cNvSpPr/>
          <p:nvPr/>
        </p:nvSpPr>
        <p:spPr>
          <a:xfrm rot="0" flipH="0" flipV="0">
            <a:off x="6267450" y="2990850"/>
            <a:ext cx="4514850" cy="247650"/>
          </a:xfrm>
          <a:prstGeom prst="roundRect">
            <a:avLst>
              <a:gd name="adj" fmla="val 23077"/>
            </a:avLst>
          </a:prstGeom>
          <a:gradFill>
            <a:gsLst>
              <a:gs pos="0">
                <a:srgbClr val="0099FF"/>
              </a:gs>
              <a:gs pos="100000">
                <a:srgbClr val="00E2C6"/>
              </a:gs>
            </a:gsLst>
            <a:lin ang="0" scaled="1"/>
          </a:gradFill>
          <a:ln/>
        </p:spPr>
        <p:txBody>
          <a:bodyPr/>
          <a:p/>
        </p:txBody>
      </p:sp>
      <p:sp>
        <p:nvSpPr>
          <p:cNvPr id="182" name="" descr="{&quot;isTemplate&quot;:true,&quot;type&quot;:&quot;text&quot;}"/>
          <p:cNvSpPr txBox="1"/>
          <p:nvPr/>
        </p:nvSpPr>
        <p:spPr>
          <a:xfrm rot="0" flipH="0" flipV="0">
            <a:off x="10915650" y="3019425"/>
            <a:ext cx="666750" cy="200025"/>
          </a:xfrm>
          <a:prstGeom prst="rect"/>
        </p:spPr>
        <p:txBody>
          <a:bodyPr wrap="none" lIns="0" tIns="0" rIns="0" bIns="0"/>
          <a:p>
            <a:pPr algn="r">
              <a:lnSpc>
                <a:spcPct val="100000"/>
              </a:lnSpc>
            </a:pPr>
            <a:r>
              <a:rPr lang="en-US" sz="1275" b="1">
                <a:solidFill>
                  <a:srgbClr val="0099FF"/>
                </a:solidFill>
                <a:latin typeface="Microsoft YaHei"/>
                <a:ea typeface="Microsoft YaHei"/>
              </a:rPr>
              <a:t>60.2%</a:t>
            </a:r>
            <a:endParaRPr/>
          </a:p>
        </p:txBody>
      </p:sp>
      <p:sp>
        <p:nvSpPr>
          <p:cNvPr id="183" name="" descr="{&quot;isTemplate&quot;:true,&quot;type&quot;:&quot;text&quot;}"/>
          <p:cNvSpPr txBox="1"/>
          <p:nvPr/>
        </p:nvSpPr>
        <p:spPr>
          <a:xfrm rot="0" flipH="0" flipV="0">
            <a:off x="4991100" y="3438525"/>
            <a:ext cx="114300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>
                <a:solidFill>
                  <a:srgbClr val="E6F0FA"/>
                </a:solidFill>
                <a:latin typeface="Microsoft YaHei"/>
                <a:ea typeface="Microsoft YaHei"/>
              </a:rPr>
              <a:t>美股科技</a:t>
            </a:r>
            <a:endParaRPr/>
          </a:p>
        </p:txBody>
      </p:sp>
      <p:sp>
        <p:nvSpPr>
          <p:cNvPr id="184" name=""/>
          <p:cNvSpPr/>
          <p:nvPr/>
        </p:nvSpPr>
        <p:spPr>
          <a:xfrm rot="0" flipH="0" flipV="0">
            <a:off x="6267450" y="3409950"/>
            <a:ext cx="4514850" cy="247650"/>
          </a:xfrm>
          <a:prstGeom prst="roundRect">
            <a:avLst>
              <a:gd name="adj" fmla="val 23077"/>
            </a:avLst>
          </a:prstGeom>
          <a:solidFill>
            <a:srgbClr val="E6F0FA">
              <a:alpha val="8000"/>
            </a:srgbClr>
          </a:solidFill>
          <a:ln/>
        </p:spPr>
        <p:txBody>
          <a:bodyPr/>
          <a:p/>
        </p:txBody>
      </p:sp>
      <p:sp>
        <p:nvSpPr>
          <p:cNvPr id="185" name=""/>
          <p:cNvSpPr/>
          <p:nvPr/>
        </p:nvSpPr>
        <p:spPr>
          <a:xfrm rot="0" flipH="0" flipV="0">
            <a:off x="6267450" y="3409950"/>
            <a:ext cx="2800350" cy="247650"/>
          </a:xfrm>
          <a:prstGeom prst="roundRect">
            <a:avLst>
              <a:gd name="adj" fmla="val 23077"/>
            </a:avLst>
          </a:prstGeom>
          <a:gradFill>
            <a:gsLst>
              <a:gs pos="0">
                <a:srgbClr val="0099FF"/>
              </a:gs>
              <a:gs pos="100000">
                <a:srgbClr val="00E2C6"/>
              </a:gs>
            </a:gsLst>
            <a:lin ang="0" scaled="1"/>
          </a:gradFill>
          <a:ln/>
        </p:spPr>
        <p:txBody>
          <a:bodyPr/>
          <a:p/>
        </p:txBody>
      </p:sp>
      <p:sp>
        <p:nvSpPr>
          <p:cNvPr id="186" name="" descr="{&quot;isTemplate&quot;:true,&quot;type&quot;:&quot;text&quot;}"/>
          <p:cNvSpPr txBox="1"/>
          <p:nvPr/>
        </p:nvSpPr>
        <p:spPr>
          <a:xfrm rot="0" flipH="0" flipV="0">
            <a:off x="10915650" y="3438525"/>
            <a:ext cx="666750" cy="200025"/>
          </a:xfrm>
          <a:prstGeom prst="rect"/>
        </p:spPr>
        <p:txBody>
          <a:bodyPr wrap="none" lIns="0" tIns="0" rIns="0" bIns="0"/>
          <a:p>
            <a:pPr algn="r">
              <a:lnSpc>
                <a:spcPct val="100000"/>
              </a:lnSpc>
            </a:pPr>
            <a:r>
              <a:rPr lang="en-US" sz="1275" b="1">
                <a:solidFill>
                  <a:srgbClr val="0099FF"/>
                </a:solidFill>
                <a:latin typeface="Microsoft YaHei"/>
                <a:ea typeface="Microsoft YaHei"/>
              </a:rPr>
              <a:t>37.4%</a:t>
            </a:r>
            <a:endParaRPr/>
          </a:p>
        </p:txBody>
      </p:sp>
      <p:sp>
        <p:nvSpPr>
          <p:cNvPr id="187" name="" descr="{&quot;isTemplate&quot;:true,&quot;type&quot;:&quot;text&quot;}"/>
          <p:cNvSpPr txBox="1"/>
          <p:nvPr/>
        </p:nvSpPr>
        <p:spPr>
          <a:xfrm rot="0" flipH="0" flipV="0">
            <a:off x="4991100" y="3857625"/>
            <a:ext cx="114300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>
                <a:solidFill>
                  <a:srgbClr val="E6F0FA"/>
                </a:solidFill>
                <a:latin typeface="Microsoft YaHei"/>
                <a:ea typeface="Microsoft YaHei"/>
              </a:rPr>
              <a:t>黃金</a:t>
            </a:r>
            <a:endParaRPr/>
          </a:p>
        </p:txBody>
      </p:sp>
      <p:sp>
        <p:nvSpPr>
          <p:cNvPr id="188" name=""/>
          <p:cNvSpPr/>
          <p:nvPr/>
        </p:nvSpPr>
        <p:spPr>
          <a:xfrm rot="0" flipH="0" flipV="0">
            <a:off x="6267450" y="3829050"/>
            <a:ext cx="4514850" cy="247650"/>
          </a:xfrm>
          <a:prstGeom prst="roundRect">
            <a:avLst>
              <a:gd name="adj" fmla="val 23077"/>
            </a:avLst>
          </a:prstGeom>
          <a:solidFill>
            <a:srgbClr val="E6F0FA">
              <a:alpha val="8000"/>
            </a:srgbClr>
          </a:solidFill>
          <a:ln/>
        </p:spPr>
        <p:txBody>
          <a:bodyPr/>
          <a:p/>
        </p:txBody>
      </p:sp>
      <p:sp>
        <p:nvSpPr>
          <p:cNvPr id="189" name=""/>
          <p:cNvSpPr/>
          <p:nvPr/>
        </p:nvSpPr>
        <p:spPr>
          <a:xfrm rot="0" flipH="0" flipV="0">
            <a:off x="6267450" y="3829050"/>
            <a:ext cx="266700" cy="247650"/>
          </a:xfrm>
          <a:prstGeom prst="roundRect">
            <a:avLst>
              <a:gd name="adj" fmla="val 23077"/>
            </a:avLst>
          </a:prstGeom>
          <a:gradFill>
            <a:gsLst>
              <a:gs pos="0">
                <a:srgbClr val="0099FF"/>
              </a:gs>
              <a:gs pos="100000">
                <a:srgbClr val="00E2C6"/>
              </a:gs>
            </a:gsLst>
            <a:lin ang="0" scaled="1"/>
          </a:gradFill>
          <a:ln/>
        </p:spPr>
        <p:txBody>
          <a:bodyPr/>
          <a:p/>
        </p:txBody>
      </p:sp>
      <p:sp>
        <p:nvSpPr>
          <p:cNvPr id="190" name="" descr="{&quot;isTemplate&quot;:true,&quot;type&quot;:&quot;text&quot;}"/>
          <p:cNvSpPr txBox="1"/>
          <p:nvPr/>
        </p:nvSpPr>
        <p:spPr>
          <a:xfrm rot="0" flipH="0" flipV="0">
            <a:off x="10915650" y="3857625"/>
            <a:ext cx="666750" cy="200025"/>
          </a:xfrm>
          <a:prstGeom prst="rect"/>
        </p:spPr>
        <p:txBody>
          <a:bodyPr wrap="none" lIns="0" tIns="0" rIns="0" bIns="0"/>
          <a:p>
            <a:pPr algn="r">
              <a:lnSpc>
                <a:spcPct val="100000"/>
              </a:lnSpc>
            </a:pPr>
            <a:r>
              <a:rPr lang="en-US" sz="1275" b="1">
                <a:solidFill>
                  <a:srgbClr val="00E2C6"/>
                </a:solidFill>
                <a:latin typeface="Microsoft YaHei"/>
                <a:ea typeface="Microsoft YaHei"/>
              </a:rPr>
              <a:t>2.5%</a:t>
            </a:r>
            <a:endParaRPr/>
          </a:p>
        </p:txBody>
      </p:sp>
      <p:sp>
        <p:nvSpPr>
          <p:cNvPr id="191" name="" descr="{&quot;isTemplate&quot;:true,&quot;type&quot;:&quot;text&quot;}"/>
          <p:cNvSpPr txBox="1"/>
          <p:nvPr/>
        </p:nvSpPr>
        <p:spPr>
          <a:xfrm rot="0" flipH="0" flipV="0">
            <a:off x="4991100" y="4276725"/>
            <a:ext cx="114300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>
                <a:solidFill>
                  <a:srgbClr val="E6F0FA"/>
                </a:solidFill>
                <a:latin typeface="Microsoft YaHei"/>
                <a:ea typeface="Microsoft YaHei"/>
              </a:rPr>
              <a:t>債券</a:t>
            </a:r>
            <a:endParaRPr/>
          </a:p>
        </p:txBody>
      </p:sp>
      <p:sp>
        <p:nvSpPr>
          <p:cNvPr id="192" name=""/>
          <p:cNvSpPr/>
          <p:nvPr/>
        </p:nvSpPr>
        <p:spPr>
          <a:xfrm rot="0" flipH="0" flipV="0">
            <a:off x="6267450" y="4248150"/>
            <a:ext cx="4514850" cy="247650"/>
          </a:xfrm>
          <a:prstGeom prst="roundRect">
            <a:avLst>
              <a:gd name="adj" fmla="val 23077"/>
            </a:avLst>
          </a:prstGeom>
          <a:solidFill>
            <a:srgbClr val="E6F0FA">
              <a:alpha val="8000"/>
            </a:srgbClr>
          </a:solidFill>
          <a:ln/>
        </p:spPr>
        <p:txBody>
          <a:bodyPr/>
          <a:p/>
        </p:txBody>
      </p:sp>
      <p:sp>
        <p:nvSpPr>
          <p:cNvPr id="193" name="" descr="{&quot;isTemplate&quot;:true,&quot;type&quot;:&quot;text&quot;}"/>
          <p:cNvSpPr txBox="1"/>
          <p:nvPr/>
        </p:nvSpPr>
        <p:spPr>
          <a:xfrm rot="0" flipH="0" flipV="0">
            <a:off x="2152650" y="2428875"/>
            <a:ext cx="95250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>
                <a:solidFill>
                  <a:srgbClr val="E6F0FA">
                    <a:alpha val="75000"/>
                  </a:srgbClr>
                </a:solidFill>
                <a:latin typeface="Microsoft YaHei"/>
                <a:ea typeface="Microsoft YaHei"/>
              </a:rPr>
              <a:t>組合健康分</a:t>
            </a:r>
            <a:endParaRPr/>
          </a:p>
        </p:txBody>
      </p:sp>
      <p:sp>
        <p:nvSpPr>
          <p:cNvPr id="194" name="" descr="{&quot;isTemplate&quot;:true,&quot;type&quot;:&quot;text&quot;}"/>
          <p:cNvSpPr txBox="1"/>
          <p:nvPr/>
        </p:nvSpPr>
        <p:spPr>
          <a:xfrm rot="0" flipH="0" flipV="0">
            <a:off x="1485900" y="4333875"/>
            <a:ext cx="2286000" cy="828675"/>
          </a:xfrm>
          <a:prstGeom prst="rect"/>
        </p:spPr>
        <p:txBody>
          <a:bodyPr wrap="none" lIns="0" tIns="0" rIns="0" bIns="0"/>
          <a:p>
            <a:pPr algn="ctr">
              <a:lnSpc>
                <a:spcPct val="150000"/>
              </a:lnSpc>
            </a:pPr>
            <a:r>
              <a:rPr lang="zh-CN" sz="1200">
                <a:solidFill>
                  <a:srgbClr val="E6F0FA">
                    <a:alpha val="70000"/>
                  </a:srgbClr>
                </a:solidFill>
                <a:latin typeface="Microsoft YaHei"/>
                <a:ea typeface="Microsoft YaHei"/>
              </a:rPr>
              <a:t>波動率</a:t>
            </a:r>
            <a:r>
              <a:rPr lang="en-US" sz="1200">
                <a:solidFill>
                  <a:srgbClr val="E6F0FA">
                    <a:alpha val="70000"/>
                  </a:srgbClr>
                </a:solidFill>
                <a:latin typeface="Microsoft YaHei"/>
                <a:ea typeface="Microsoft YaHei"/>
              </a:rPr>
              <a:t xml:space="preserve"> 17.2% → </a:t>
            </a:r>
            <a:r>
              <a:rPr lang="zh-CN" sz="1200">
                <a:solidFill>
                  <a:srgbClr val="E6F0FA">
                    <a:alpha val="70000"/>
                  </a:srgbClr>
                </a:solidFill>
                <a:latin typeface="Microsoft YaHei"/>
                <a:ea typeface="Microsoft YaHei"/>
              </a:rPr>
              <a:t>危機情境</a:t>
            </a:r>
            <a:r>
              <a:rPr lang="en-US" sz="1200">
                <a:solidFill>
                  <a:srgbClr val="E6F0FA">
                    <a:alpha val="70000"/>
                  </a:srgbClr>
                </a:solidFill>
                <a:latin typeface="Microsoft YaHei"/>
                <a:ea typeface="Microsoft YaHei"/>
              </a:rPr>
              <a:t xml:space="preserve"> 19.5%</a:t>
            </a:r>
            <a:endParaRPr/>
          </a:p>
          <a:p>
            <a:pPr algn="ctr">
              <a:lnSpc>
                <a:spcPct val="150000"/>
              </a:lnSpc>
            </a:pPr>
            <a:r>
              <a:rPr lang="zh-CN" sz="1200">
                <a:solidFill>
                  <a:srgbClr val="E6F0FA">
                    <a:alpha val="70000"/>
                  </a:srgbClr>
                </a:solidFill>
                <a:latin typeface="Microsoft YaHei"/>
                <a:ea typeface="Microsoft YaHei"/>
              </a:rPr>
              <a:t>名目持倉</a:t>
            </a:r>
            <a:r>
              <a:rPr lang="en-US" sz="1200">
                <a:solidFill>
                  <a:srgbClr val="E6F0FA">
                    <a:alpha val="70000"/>
                  </a:srgbClr>
                </a:solidFill>
                <a:latin typeface="Microsoft YaHei"/>
                <a:ea typeface="Microsoft YaHei"/>
              </a:rPr>
              <a:t xml:space="preserve"> 4 </a:t>
            </a:r>
            <a:r>
              <a:rPr lang="zh-CN" sz="1200">
                <a:solidFill>
                  <a:srgbClr val="E6F0FA">
                    <a:alpha val="70000"/>
                  </a:srgbClr>
                </a:solidFill>
                <a:latin typeface="Microsoft YaHei"/>
                <a:ea typeface="Microsoft YaHei"/>
              </a:rPr>
              <a:t>筆</a:t>
            </a:r>
            <a:r>
              <a:rPr lang="en-US" sz="1200">
                <a:solidFill>
                  <a:srgbClr val="E6F0FA">
                    <a:alpha val="70000"/>
                  </a:srgbClr>
                </a:solidFill>
                <a:latin typeface="Microsoft YaHei"/>
                <a:ea typeface="Microsoft YaHei"/>
              </a:rPr>
              <a:t xml:space="preserve"> · </a:t>
            </a:r>
            <a:r>
              <a:rPr lang="zh-CN" sz="1200">
                <a:solidFill>
                  <a:srgbClr val="E6F0FA">
                    <a:alpha val="70000"/>
                  </a:srgbClr>
                </a:solidFill>
                <a:latin typeface="Microsoft YaHei"/>
                <a:ea typeface="Microsoft YaHei"/>
              </a:rPr>
              <a:t>風險有效押注</a:t>
            </a:r>
            <a:r>
              <a:rPr lang="en-US" sz="1200">
                <a:solidFill>
                  <a:srgbClr val="E6F0FA">
                    <a:alpha val="70000"/>
                  </a:srgbClr>
                </a:solidFill>
                <a:latin typeface="Microsoft YaHei"/>
                <a:ea typeface="Microsoft YaHei"/>
              </a:rPr>
              <a:t xml:space="preserve"> 2.3</a:t>
            </a:r>
            <a:endParaRPr/>
          </a:p>
          <a:p>
            <a:pPr algn="ctr">
              <a:lnSpc>
                <a:spcPct val="150000"/>
              </a:lnSpc>
            </a:pPr>
            <a:r>
              <a:rPr lang="zh-CN" sz="1200">
                <a:solidFill>
                  <a:srgbClr val="E6F0FA">
                    <a:alpha val="70000"/>
                  </a:srgbClr>
                </a:solidFill>
                <a:latin typeface="Microsoft YaHei"/>
                <a:ea typeface="Microsoft YaHei"/>
              </a:rPr>
              <a:t>危機下分散效果衰退</a:t>
            </a:r>
            <a:r>
              <a:rPr lang="en-US" sz="1200">
                <a:solidFill>
                  <a:srgbClr val="E6F0FA">
                    <a:alpha val="70000"/>
                  </a:srgbClr>
                </a:solidFill>
                <a:latin typeface="Microsoft YaHei"/>
                <a:ea typeface="Microsoft YaHei"/>
              </a:rPr>
              <a:t xml:space="preserve"> 41.5%</a:t>
            </a:r>
            <a:endParaRPr/>
          </a:p>
        </p:txBody>
      </p:sp>
      <p:sp>
        <p:nvSpPr>
          <p:cNvPr id="195" name="" descr="{&quot;isTemplate&quot;:true,&quot;type&quot;:&quot;text&quot;}"/>
          <p:cNvSpPr txBox="1"/>
          <p:nvPr/>
        </p:nvSpPr>
        <p:spPr>
          <a:xfrm rot="0" flipH="0" flipV="0">
            <a:off x="4991100" y="2590800"/>
            <a:ext cx="659130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>
                <a:solidFill>
                  <a:srgbClr val="E6F0FA">
                    <a:alpha val="80000"/>
                  </a:srgbClr>
                </a:solidFill>
                <a:latin typeface="Microsoft YaHei"/>
                <a:ea typeface="Microsoft YaHei"/>
              </a:rPr>
              <a:t>每類資產的風險貢獻（</a:t>
            </a:r>
            <a:r>
              <a:rPr lang="en-US" sz="1350">
                <a:solidFill>
                  <a:srgbClr val="E6F0FA">
                    <a:alpha val="80000"/>
                  </a:srgbClr>
                </a:solidFill>
                <a:latin typeface="Microsoft YaHei"/>
                <a:ea typeface="Microsoft YaHei"/>
              </a:rPr>
              <a:t xml:space="preserve">% of </a:t>
            </a:r>
            <a:r>
              <a:rPr lang="zh-CN" sz="1350">
                <a:solidFill>
                  <a:srgbClr val="E6F0FA">
                    <a:alpha val="80000"/>
                  </a:srgbClr>
                </a:solidFill>
                <a:latin typeface="Microsoft YaHei"/>
                <a:ea typeface="Microsoft YaHei"/>
              </a:rPr>
              <a:t>波動）</a:t>
            </a:r>
            <a:endParaRPr/>
          </a:p>
        </p:txBody>
      </p:sp>
      <p:sp>
        <p:nvSpPr>
          <p:cNvPr id="196" name=""/>
          <p:cNvSpPr/>
          <p:nvPr/>
        </p:nvSpPr>
        <p:spPr>
          <a:xfrm rot="0" flipH="0" flipV="0">
            <a:off x="10601325" y="4248150"/>
            <a:ext cx="180975" cy="247650"/>
          </a:xfrm>
          <a:prstGeom prst="roundRect">
            <a:avLst>
              <a:gd name="adj" fmla="val 31579"/>
            </a:avLst>
          </a:prstGeom>
          <a:solidFill>
            <a:srgbClr val="E6F0FA">
              <a:alpha val="50000"/>
            </a:srgbClr>
          </a:solidFill>
          <a:ln/>
        </p:spPr>
        <p:txBody>
          <a:bodyPr/>
          <a:p/>
        </p:txBody>
      </p:sp>
      <p:sp>
        <p:nvSpPr>
          <p:cNvPr id="197" name="" descr="{&quot;isTemplate&quot;:true,&quot;type&quot;:&quot;text&quot;}"/>
          <p:cNvSpPr txBox="1"/>
          <p:nvPr/>
        </p:nvSpPr>
        <p:spPr>
          <a:xfrm rot="0" flipH="0" flipV="0">
            <a:off x="10915650" y="4276725"/>
            <a:ext cx="666750" cy="200025"/>
          </a:xfrm>
          <a:prstGeom prst="rect"/>
        </p:spPr>
        <p:txBody>
          <a:bodyPr wrap="none" lIns="0" tIns="0" rIns="0" bIns="0"/>
          <a:p>
            <a:pPr algn="r">
              <a:lnSpc>
                <a:spcPct val="100000"/>
              </a:lnSpc>
            </a:pPr>
            <a:r>
              <a:rPr lang="en-US" sz="1275" b="1">
                <a:solidFill>
                  <a:srgbClr val="E6F0FA">
                    <a:alpha val="70000"/>
                  </a:srgbClr>
                </a:solidFill>
                <a:latin typeface="Microsoft YaHei"/>
                <a:ea typeface="Microsoft YaHei"/>
              </a:rPr>
              <a:t>-0.2%</a:t>
            </a:r>
            <a:endParaRPr/>
          </a:p>
        </p:txBody>
      </p:sp>
      <p:sp>
        <p:nvSpPr>
          <p:cNvPr id="198" name="" descr="{&quot;isTemplate&quot;:true,&quot;type&quot;:&quot;text&quot;}"/>
          <p:cNvSpPr txBox="1"/>
          <p:nvPr/>
        </p:nvSpPr>
        <p:spPr>
          <a:xfrm rot="0" flipH="0" flipV="0">
            <a:off x="4991100" y="4705350"/>
            <a:ext cx="6591300" cy="29527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275">
                <a:solidFill>
                  <a:srgbClr val="E6F0FA">
                    <a:alpha val="85000"/>
                  </a:srgbClr>
                </a:solidFill>
                <a:latin typeface="Microsoft YaHei"/>
                <a:ea typeface="Microsoft YaHei"/>
              </a:rPr>
              <a:t>成長股佔</a:t>
            </a:r>
            <a:r>
              <a:rPr lang="en-US" sz="1275">
                <a:solidFill>
                  <a:srgbClr val="E6F0FA">
                    <a:alpha val="85000"/>
                  </a:srgbClr>
                </a:solidFill>
                <a:latin typeface="Microsoft YaHei"/>
                <a:ea typeface="Microsoft YaHei"/>
              </a:rPr>
              <a:t xml:space="preserve"> 41.9% </a:t>
            </a:r>
            <a:r>
              <a:rPr lang="zh-CN" sz="1275">
                <a:solidFill>
                  <a:srgbClr val="E6F0FA">
                    <a:alpha val="85000"/>
                  </a:srgbClr>
                </a:solidFill>
                <a:latin typeface="Microsoft YaHei"/>
                <a:ea typeface="Microsoft YaHei"/>
              </a:rPr>
              <a:t>資金卻吃掉</a:t>
            </a:r>
            <a:r>
              <a:rPr lang="en-US" sz="1275">
                <a:solidFill>
                  <a:srgbClr val="E6F0FA">
                    <a:alpha val="85000"/>
                  </a:srgbClr>
                </a:solidFill>
                <a:latin typeface="Microsoft YaHei"/>
                <a:ea typeface="Microsoft YaHei"/>
              </a:rPr>
              <a:t xml:space="preserve"> </a:t>
            </a:r>
            <a:r>
              <a:rPr lang="en-US" sz="1275" b="1">
                <a:solidFill>
                  <a:srgbClr val="0099FF">
                    <a:alpha val="85000"/>
                  </a:srgbClr>
                </a:solidFill>
                <a:latin typeface="Microsoft YaHei"/>
                <a:ea typeface="Microsoft YaHei"/>
              </a:rPr>
              <a:t>60.2%</a:t>
            </a:r>
            <a:r>
              <a:rPr lang="en-US" sz="1275">
                <a:solidFill>
                  <a:srgbClr val="E6F0FA">
                    <a:alpha val="85000"/>
                  </a:srgbClr>
                </a:solidFill>
                <a:latin typeface="Microsoft YaHei"/>
                <a:ea typeface="Microsoft YaHei"/>
              </a:rPr>
              <a:t xml:space="preserve"> </a:t>
            </a:r>
            <a:r>
              <a:rPr lang="zh-CN" sz="1275">
                <a:solidFill>
                  <a:srgbClr val="E6F0FA">
                    <a:alpha val="85000"/>
                  </a:srgbClr>
                </a:solidFill>
                <a:latin typeface="Microsoft YaHei"/>
                <a:ea typeface="Microsoft YaHei"/>
              </a:rPr>
              <a:t>波動；債券</a:t>
            </a:r>
            <a:r>
              <a:rPr lang="en-US" sz="1275">
                <a:solidFill>
                  <a:srgbClr val="E6F0FA">
                    <a:alpha val="85000"/>
                  </a:srgbClr>
                </a:solidFill>
                <a:latin typeface="Microsoft YaHei"/>
                <a:ea typeface="Microsoft YaHei"/>
              </a:rPr>
              <a:t xml:space="preserve"> -0.2% </a:t>
            </a:r>
            <a:r>
              <a:rPr lang="zh-CN" sz="1275">
                <a:solidFill>
                  <a:srgbClr val="E6F0FA">
                    <a:alpha val="85000"/>
                  </a:srgbClr>
                </a:solidFill>
                <a:latin typeface="Microsoft YaHei"/>
                <a:ea typeface="Microsoft YaHei"/>
              </a:rPr>
              <a:t>表示它在</a:t>
            </a:r>
            <a:r>
              <a:rPr lang="zh-CN" sz="1275">
                <a:solidFill>
                  <a:srgbClr val="00E2C6">
                    <a:alpha val="85000"/>
                  </a:srgbClr>
                </a:solidFill>
                <a:latin typeface="Microsoft YaHei"/>
                <a:ea typeface="Microsoft YaHei"/>
              </a:rPr>
              <a:t>吸收波動</a:t>
            </a:r>
            <a:r>
              <a:rPr lang="zh-CN" sz="1275">
                <a:solidFill>
                  <a:srgbClr val="E6F0FA">
                    <a:alpha val="85000"/>
                  </a:srgbClr>
                </a:solidFill>
                <a:latin typeface="Microsoft YaHei"/>
                <a:ea typeface="Microsoft YaHei"/>
              </a:rPr>
              <a:t>（對沖）。</a:t>
            </a:r>
            <a:endParaRPr/>
          </a:p>
        </p:txBody>
      </p:sp>
      <p:sp>
        <p:nvSpPr>
          <p:cNvPr id="199" name="" descr="{&quot;isTemplate&quot;:true,&quot;type&quot;:&quot;text&quot;}"/>
          <p:cNvSpPr txBox="1"/>
          <p:nvPr/>
        </p:nvSpPr>
        <p:spPr>
          <a:xfrm rot="0" flipH="0" flipV="0">
            <a:off x="609600" y="6524625"/>
            <a:ext cx="21717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E6F0FA">
                    <a:alpha val="45000"/>
                  </a:srgbClr>
                </a:solidFill>
                <a:latin typeface="Microsoft YaHei"/>
                <a:ea typeface="Microsoft YaHei"/>
              </a:rPr>
              <a:t>持倉透鏡</a:t>
            </a:r>
            <a:r>
              <a:rPr lang="en-US" sz="1050">
                <a:solidFill>
                  <a:srgbClr val="E6F0FA">
                    <a:alpha val="45000"/>
                  </a:srgbClr>
                </a:solidFill>
                <a:latin typeface="Microsoft YaHei"/>
                <a:ea typeface="Microsoft YaHei"/>
              </a:rPr>
              <a:t xml:space="preserve"> HoldingsLens · 1024 </a:t>
            </a:r>
            <a:r>
              <a:rPr lang="zh-CN" sz="1050">
                <a:solidFill>
                  <a:srgbClr val="E6F0FA">
                    <a:alpha val="45000"/>
                  </a:srgbClr>
                </a:solidFill>
                <a:latin typeface="Microsoft YaHei"/>
                <a:ea typeface="Microsoft YaHei"/>
              </a:rPr>
              <a:t>投稿</a:t>
            </a:r>
            <a:endParaRPr/>
          </a:p>
        </p:txBody>
      </p:sp>
      <p:sp>
        <p:nvSpPr>
          <p:cNvPr id="200" name="" descr="{&quot;isTemplate&quot;:true,&quot;type&quot;:&quot;text&quot;}"/>
          <p:cNvSpPr txBox="1"/>
          <p:nvPr/>
        </p:nvSpPr>
        <p:spPr>
          <a:xfrm rot="0" flipH="0" flipV="0">
            <a:off x="11125200" y="6524625"/>
            <a:ext cx="457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E6F0FA">
                    <a:alpha val="45000"/>
                  </a:srgbClr>
                </a:solidFill>
                <a:latin typeface="Microsoft YaHei"/>
                <a:ea typeface="Microsoft YaHei"/>
              </a:rPr>
              <a:t>07 / 09</a:t>
            </a:r>
            <a:endParaRPr/>
          </a:p>
        </p:txBody>
      </p:sp>
    </p:spTree>
  </p:cSld>
</p:sld>
</file>

<file path=ppt/slides/slide8.xml><?xml version="1.0" encoding="utf-8"?>
<p:sld xmlns:p="http://schemas.openxmlformats.org/presentationml/2006/main" xmlns:a="http://schemas.openxmlformats.org/drawingml/2006/main">
  <p:cSld>
    <p:spTree>
      <p:nvGrpSpPr>
        <p:cNvPr id="201" name="" descr="&lt;Slide style={{ width: '1280px', height: '720px', background: '#0A1628', padding: '20px 64px', position: 'relative', display: 'flex', flexDirection: 'column' }}&gt;&#10;  &lt;Box style={{ flexDirection: 'row', gap: 36, flex: 1, alignItems: 'stretch' }}&gt;&#10;    &lt;Box style={{ flex: 40, background: 'linear-gradient(135deg,#0099FF 0%,#00E2C6 100%)', borderRadius: 16, padding: 36, flexDirection: 'column', justifyContent: 'space-between' }}&gt;&#10;      &lt;Box&gt;&#10;        &lt;Text style={{ fontSize: 42, fontWeight: 'bold', color: '#0A1628', lineHeight: 1.25 }}&gt;為什麼&lt;br /&gt;不爛大街&lt;/Text&gt;&#10;        &lt;Text style={{ fontSize: 18, color: '#0A1628', opacity: 0.82, marginTop: 20, lineHeight: 1.6 }}&gt;投資工具都在比誰會「算漲跌」，&lt;br /&gt;沒人在算「風險從哪來」。&lt;/Text&gt;&#10;      &lt;/Box&gt;&#10;      &lt;Box style={{ background: 'rgba(10,22,40,0.16)', borderRadius: 12, paddingTop: 14, paddingBottom: 14, paddingLeft: 16, paddingRight: 16 }}&gt;&#10;        &lt;Text style={{ fontSize: 16, color: '#0A1628', fontWeight: 'bold', lineHeight: 1.5 }}&gt;一句話：把「你以為分散了」&lt;br /&gt;變成「你看得懂的風險帳單」。&lt;/Text&gt;&#10;      &lt;/Box&gt;&#10;    &lt;/Box&gt;&#10;    &lt;Box style={{ flex: 60, flexDirection: 'column', justifyContent: 'space-between', borderRight: '1px solid rgba(0,226,198,0.18)', paddingRight: 20 }}&gt;&#10;      &lt;Box style={{ flexDirection: 'row', gap: 14, alignItems: 'flex-start', background: 'rgba(0,153,255,0.05)', borderRadius: 12, paddingTop: 13, paddingBottom: 13, paddingLeft: 14, paddingRight: 14 }}&gt;&#10;        &lt;Text style={{ fontSize: 22, fontWeight: 'bold', color: '#0099FF', width: 28 }}&gt;①&lt;/Text&gt;&#10;        &lt;Box style={{ flex: 1 }}&gt;&#10;          &lt;Text style={{ fontSize: 19, fontWeight: 'bold', color: '#E6F0FA', lineHeight: 1.45 }}&gt;風險歸因，不預測&lt;/Text&gt;&#10;          &lt;Text style={{ fontSize: 16, color: '#E6F0FA', opacity: 0.7, marginTop: 4, lineHeight: 1.45 }}&gt;回答「風險押在哪」，而非「明天漲跌」——不跟風做預言家。&lt;/Text&gt;&#10;        &lt;/Box&gt;&#10;      &lt;/Box&gt;&#10;      &lt;Box style={{ flexDirection: 'row', gap: 14, alignItems: 'flex-start', background: 'rgba(0,153,255,0.05)', borderRadius: 12, paddingTop: 13, paddingBottom: 13, paddingLeft: 14, paddingRight: 14 }}&gt;&#10;        &lt;Text style={{ fontSize: 22, fontWeight: 'bold', color: '#0099FF', width: 28 }}&gt;②&lt;/Text&gt;&#10;        &lt;Box style={{ flex: 1 }}&gt;&#10;          &lt;Text style={{ fontSize: 19, fontWeight: 'bold', color: '#E6F0FA', lineHeight: 1.45 }}&gt;每個數字可解釋&lt;/Text&gt;&#10;          &lt;Text style={{ fontSize: 16, color: '#E6F0FA', opacity: 0.7, marginTop: 4, lineHeight: 1.45 }}&gt;協方差矩陣、邊際風險貢獻一條條列出來，不開黑箱。&lt;/Text&gt;&#10;        &lt;/Box&gt;&#10;      &lt;/Box&gt;&#10;      &lt;Box style={{ flexDirection: 'row', gap: 14, alignItems: 'flex-start', background: 'rgba(0,153,255,0.05)', borderRadius: 12, paddingTop: 13, paddingBottom: 13, paddingLeft: 14, paddingRight: 14 }}&gt;&#10;        &lt;Text style={{ fontSize: 22, fontWeight: 'bold', color: '#0099FF', width: 28 }}&gt;③&lt;/Text&gt;&#10;        &lt;Box style={{ flex: 1 }}&gt;&#10;          &lt;Text style={{ fontSize: 19, fontWeight: 'bold', color: '#E6F0FA', lineHeight: 1.45 }}&gt;內建危機壓力測試&lt;/Text&gt;&#10;          &lt;Text style={{ fontSize: 16, color: '#E6F0FA', opacity: 0.7, marginTop: 4, lineHeight: 1.45 }}&gt;相關性只升不降，直接揭穿「假分散」的真面目。&lt;/Text&gt;&#10;        &lt;/Box&gt;&#10;      &lt;/Box&gt;&#10;      &lt;Box style={{ flexDirection: 'row', gap: 14, alignItems: 'flex-start', background: 'rgba(0,153,255,0.05)', borderRadius: 12, paddingTop: 13, paddingBottom: 13, paddingLeft: 14, paddingRight: 14 }}&gt;&#10;        &lt;Text style={{ fontSize: 22, fontWeight: 'bold', color: '#0099FF', width: 28 }}&gt;④&lt;/Text&gt;&#10;        &lt;Box style={{ flex: 1 }}&gt;&#10;          &lt;Text style={{ fontSize: 19, fontWeight: 'bold', color: '#E6F0FA', lineHeight: 1.45 }}&gt;簡 / 繁雙語輸出&lt;/Text&gt;&#10;          &lt;Text style={{ fontSize: 16, color: '#E6F0FA', opacity: 0.7, marginTop: 4, lineHeight: 1.45 }}&gt;兩岸與海外用戶都看得懂，術語在地化而非機器翻譯。&lt;/Text&gt;&#10;        &lt;/Box&gt;&#10;      &lt;/Box&gt;&#10;      &lt;Box style={{ flexDirection: 'row', gap: 14, alignItems: 'flex-start', background: 'rgba(0,153,255,0.05)', borderRadius: 12, paddingTop: 13, paddingBottom: 13, paddingLeft: 14, paddingRight: 14 }}&gt;&#10;        &lt;Text style={{ fontSize: 22, fontWeight: 'bold', color: '#0099FF', width: 28 }}&gt;⑤&lt;/Text&gt;&#10;        &lt;Box style={{ flex: 1 }}&gt;&#10;          &lt;Text style={{ fontSize: 19, fontWeight: 'bold', color: '#E6F0FA', lineHeight: 1.45 }}&gt;全本地計算&lt;/Text&gt;&#10;          &lt;Text style={{ fontSize: 16, color: '#E6F0FA', opacity: 0.7, marginTop: 4, lineHeight: 1.45 }}&gt;持倉不上傳任何伺服器，隱私自己掌控。&lt;/Text&gt;&#10;        &lt;/Box&gt;&#10;      &lt;/Box&gt;&#10;    &lt;/Box&gt;&#10;  &lt;/Box&gt;&#10;  &lt;Box style={{ position: 'absolute', bottom: 18, left: 64, right: 64, flexDirection: 'row', justifyContent: 'space-between' }}&gt;&#10;    &lt;Text style={{ fontSize: 14, color: '#E6F0FA', opacity: 0.45 }}&gt;持倉透鏡 HoldingsLens · 1024 投稿&lt;/Text&gt;&#10;    &lt;Text style={{ fontSize: 14, color: '#E6F0FA', opacity: 0.45 }}&gt;08 / 09&lt;/Text&gt;&#10;  &lt;/Box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0A1628"/>
          </a:solidFill>
          <a:ln/>
        </p:spPr>
        <p:txBody>
          <a:bodyPr/>
          <a:p/>
        </p:txBody>
      </p:sp>
      <p:sp>
        <p:nvSpPr>
          <p:cNvPr id="203" name=""/>
          <p:cNvSpPr/>
          <p:nvPr/>
        </p:nvSpPr>
        <p:spPr>
          <a:xfrm rot="0" flipH="0" flipV="0">
            <a:off x="609600" y="190500"/>
            <a:ext cx="4248150" cy="6477000"/>
          </a:xfrm>
          <a:prstGeom prst="roundRect">
            <a:avLst>
              <a:gd name="adj" fmla="val 3587"/>
            </a:avLst>
          </a:prstGeom>
          <a:gradFill>
            <a:gsLst>
              <a:gs pos="0">
                <a:srgbClr val="0099FF"/>
              </a:gs>
              <a:gs pos="100000">
                <a:srgbClr val="00E2C6"/>
              </a:gs>
            </a:gsLst>
            <a:lin ang="2700000" scaled="1"/>
          </a:gradFill>
          <a:ln/>
        </p:spPr>
        <p:txBody>
          <a:bodyPr/>
          <a:p/>
        </p:txBody>
      </p:sp>
      <p:sp>
        <p:nvSpPr>
          <p:cNvPr id="204" name="" descr="{&quot;isTemplate&quot;:true,&quot;type&quot;:&quot;text&quot;}"/>
          <p:cNvSpPr txBox="1"/>
          <p:nvPr/>
        </p:nvSpPr>
        <p:spPr>
          <a:xfrm rot="0" flipH="0" flipV="0">
            <a:off x="952500" y="533400"/>
            <a:ext cx="3562350" cy="1200150"/>
          </a:xfrm>
          <a:prstGeom prst="rect"/>
        </p:spPr>
        <p:txBody>
          <a:bodyPr wrap="none" lIns="0" tIns="0" rIns="0" bIns="0"/>
          <a:p>
            <a:pPr>
              <a:lnSpc>
                <a:spcPct val="125000"/>
              </a:lnSpc>
            </a:pPr>
            <a:r>
              <a:rPr lang="zh-CN" sz="3150" b="1">
                <a:solidFill>
                  <a:srgbClr val="0A1628"/>
                </a:solidFill>
                <a:latin typeface="Microsoft YaHei"/>
                <a:ea typeface="Microsoft YaHei"/>
              </a:rPr>
              <a:t>為什麼</a:t>
            </a:r>
            <a:endParaRPr/>
          </a:p>
          <a:p>
            <a:pPr>
              <a:lnSpc>
                <a:spcPct val="125000"/>
              </a:lnSpc>
            </a:pPr>
            <a:r>
              <a:rPr lang="zh-CN" sz="3150" b="1">
                <a:solidFill>
                  <a:srgbClr val="0A1628"/>
                </a:solidFill>
                <a:latin typeface="Microsoft YaHei"/>
                <a:ea typeface="Microsoft YaHei"/>
              </a:rPr>
              <a:t>不爛大街</a:t>
            </a:r>
            <a:endParaRPr/>
          </a:p>
        </p:txBody>
      </p:sp>
      <p:sp>
        <p:nvSpPr>
          <p:cNvPr id="205" name=""/>
          <p:cNvSpPr/>
          <p:nvPr/>
        </p:nvSpPr>
        <p:spPr>
          <a:xfrm rot="0" flipH="0" flipV="0">
            <a:off x="952500" y="5505450"/>
            <a:ext cx="3562350" cy="819150"/>
          </a:xfrm>
          <a:prstGeom prst="roundRect">
            <a:avLst>
              <a:gd name="adj" fmla="val 13953"/>
            </a:avLst>
          </a:prstGeom>
          <a:solidFill>
            <a:srgbClr val="0A1628">
              <a:alpha val="16000"/>
            </a:srgbClr>
          </a:solidFill>
          <a:ln/>
        </p:spPr>
        <p:txBody>
          <a:bodyPr/>
          <a:p/>
        </p:txBody>
      </p:sp>
      <p:sp>
        <p:nvSpPr>
          <p:cNvPr id="206" name="" descr="{&quot;isTemplate&quot;:true,&quot;type&quot;:&quot;text&quot;}"/>
          <p:cNvSpPr txBox="1"/>
          <p:nvPr/>
        </p:nvSpPr>
        <p:spPr>
          <a:xfrm rot="0" flipH="0" flipV="0">
            <a:off x="1104900" y="5638800"/>
            <a:ext cx="3257550" cy="552450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200" b="1">
                <a:solidFill>
                  <a:srgbClr val="0A1628"/>
                </a:solidFill>
                <a:latin typeface="Microsoft YaHei"/>
                <a:ea typeface="Microsoft YaHei"/>
              </a:rPr>
              <a:t>一句話：把「你以為分散了」</a:t>
            </a:r>
            <a:endParaRPr/>
          </a:p>
          <a:p>
            <a:pPr>
              <a:lnSpc>
                <a:spcPct val="150000"/>
              </a:lnSpc>
            </a:pPr>
            <a:r>
              <a:rPr lang="zh-CN" sz="1200" b="1">
                <a:solidFill>
                  <a:srgbClr val="0A1628"/>
                </a:solidFill>
                <a:latin typeface="Microsoft YaHei"/>
                <a:ea typeface="Microsoft YaHei"/>
              </a:rPr>
              <a:t>變成「你看得懂的風險帳單」。</a:t>
            </a:r>
            <a:endParaRPr/>
          </a:p>
        </p:txBody>
      </p:sp>
      <p:sp>
        <p:nvSpPr>
          <p:cNvPr id="207" name=""/>
          <p:cNvSpPr/>
          <p:nvPr/>
        </p:nvSpPr>
        <p:spPr>
          <a:xfrm rot="0" flipH="0" flipV="0">
            <a:off x="5200650" y="190500"/>
            <a:ext cx="6391275" cy="6477000"/>
          </a:xfrm>
          <a:custGeom>
            <a:pathLst>
              <a:path w="671" h="680">
                <a:moveTo>
                  <a:pt x="670" y="0"/>
                </a:moveTo>
                <a:lnTo>
                  <a:pt x="671" y="0"/>
                </a:lnTo>
                <a:lnTo>
                  <a:pt x="671" y="680"/>
                </a:lnTo>
                <a:lnTo>
                  <a:pt x="670" y="680"/>
                </a:lnTo>
                <a:close/>
              </a:path>
            </a:pathLst>
          </a:custGeom>
          <a:solidFill>
            <a:srgbClr val="00E2C6">
              <a:alpha val="18000"/>
            </a:srgbClr>
          </a:solidFill>
          <a:ln/>
        </p:spPr>
        <p:txBody>
          <a:bodyPr/>
          <a:p/>
        </p:txBody>
      </p:sp>
      <p:sp>
        <p:nvSpPr>
          <p:cNvPr id="208" name=""/>
          <p:cNvSpPr/>
          <p:nvPr/>
        </p:nvSpPr>
        <p:spPr>
          <a:xfrm rot="0" flipH="0" flipV="0">
            <a:off x="5200650" y="190500"/>
            <a:ext cx="6181725" cy="876300"/>
          </a:xfrm>
          <a:prstGeom prst="roundRect">
            <a:avLst>
              <a:gd name="adj" fmla="val 13043"/>
            </a:avLst>
          </a:prstGeom>
          <a:solidFill>
            <a:srgbClr val="0099FF">
              <a:alpha val="5000"/>
            </a:srgbClr>
          </a:solidFill>
          <a:ln/>
        </p:spPr>
        <p:txBody>
          <a:bodyPr/>
          <a:p/>
        </p:txBody>
      </p:sp>
      <p:sp>
        <p:nvSpPr>
          <p:cNvPr id="209" name="" descr="{&quot;isTemplate&quot;:true,&quot;type&quot;:&quot;text&quot;}"/>
          <p:cNvSpPr txBox="1"/>
          <p:nvPr/>
        </p:nvSpPr>
        <p:spPr>
          <a:xfrm rot="0" flipH="0" flipV="0">
            <a:off x="5334000" y="314325"/>
            <a:ext cx="266700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1650" b="1">
                <a:solidFill>
                  <a:srgbClr val="0099FF"/>
                </a:solidFill>
                <a:latin typeface="Microsoft YaHei"/>
                <a:ea typeface="Microsoft YaHei"/>
              </a:rPr>
              <a:t>①</a:t>
            </a:r>
            <a:endParaRPr/>
          </a:p>
        </p:txBody>
      </p:sp>
      <p:sp>
        <p:nvSpPr>
          <p:cNvPr id="210" name="" descr="{&quot;isTemplate&quot;:true,&quot;type&quot;:&quot;text&quot;}"/>
          <p:cNvSpPr txBox="1"/>
          <p:nvPr/>
        </p:nvSpPr>
        <p:spPr>
          <a:xfrm rot="0" flipH="0" flipV="0">
            <a:off x="5734050" y="314325"/>
            <a:ext cx="5514975" cy="323850"/>
          </a:xfrm>
          <a:prstGeom prst="rect"/>
        </p:spPr>
        <p:txBody>
          <a:bodyPr wrap="none" lIns="0" tIns="0" rIns="0" bIns="0"/>
          <a:p>
            <a:pPr>
              <a:lnSpc>
                <a:spcPct val="145000"/>
              </a:lnSpc>
            </a:pPr>
            <a:r>
              <a:rPr lang="zh-CN" sz="1425" b="1">
                <a:solidFill>
                  <a:srgbClr val="E6F0FA"/>
                </a:solidFill>
                <a:latin typeface="Microsoft YaHei"/>
                <a:ea typeface="Microsoft YaHei"/>
              </a:rPr>
              <a:t>風險歸因，不預測</a:t>
            </a:r>
            <a:endParaRPr/>
          </a:p>
        </p:txBody>
      </p:sp>
      <p:sp>
        <p:nvSpPr>
          <p:cNvPr id="211" name=""/>
          <p:cNvSpPr/>
          <p:nvPr/>
        </p:nvSpPr>
        <p:spPr>
          <a:xfrm rot="0" flipH="0" flipV="0">
            <a:off x="5200650" y="1590675"/>
            <a:ext cx="6181725" cy="876300"/>
          </a:xfrm>
          <a:prstGeom prst="roundRect">
            <a:avLst>
              <a:gd name="adj" fmla="val 13043"/>
            </a:avLst>
          </a:prstGeom>
          <a:solidFill>
            <a:srgbClr val="0099FF">
              <a:alpha val="5000"/>
            </a:srgbClr>
          </a:solidFill>
          <a:ln/>
        </p:spPr>
        <p:txBody>
          <a:bodyPr/>
          <a:p/>
        </p:txBody>
      </p:sp>
      <p:sp>
        <p:nvSpPr>
          <p:cNvPr id="212" name="" descr="{&quot;isTemplate&quot;:true,&quot;type&quot;:&quot;text&quot;}"/>
          <p:cNvSpPr txBox="1"/>
          <p:nvPr/>
        </p:nvSpPr>
        <p:spPr>
          <a:xfrm rot="0" flipH="0" flipV="0">
            <a:off x="5334000" y="1714500"/>
            <a:ext cx="266700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1650" b="1">
                <a:solidFill>
                  <a:srgbClr val="0099FF"/>
                </a:solidFill>
                <a:latin typeface="Microsoft YaHei"/>
                <a:ea typeface="Microsoft YaHei"/>
              </a:rPr>
              <a:t>②</a:t>
            </a:r>
            <a:endParaRPr/>
          </a:p>
        </p:txBody>
      </p:sp>
      <p:sp>
        <p:nvSpPr>
          <p:cNvPr id="213" name="" descr="{&quot;isTemplate&quot;:true,&quot;type&quot;:&quot;text&quot;}"/>
          <p:cNvSpPr txBox="1"/>
          <p:nvPr/>
        </p:nvSpPr>
        <p:spPr>
          <a:xfrm rot="0" flipH="0" flipV="0">
            <a:off x="5734050" y="1714500"/>
            <a:ext cx="5514975" cy="323850"/>
          </a:xfrm>
          <a:prstGeom prst="rect"/>
        </p:spPr>
        <p:txBody>
          <a:bodyPr wrap="none" lIns="0" tIns="0" rIns="0" bIns="0"/>
          <a:p>
            <a:pPr>
              <a:lnSpc>
                <a:spcPct val="145000"/>
              </a:lnSpc>
            </a:pPr>
            <a:r>
              <a:rPr lang="zh-CN" sz="1425" b="1">
                <a:solidFill>
                  <a:srgbClr val="E6F0FA"/>
                </a:solidFill>
                <a:latin typeface="Microsoft YaHei"/>
                <a:ea typeface="Microsoft YaHei"/>
              </a:rPr>
              <a:t>每個數字可解釋</a:t>
            </a:r>
            <a:endParaRPr/>
          </a:p>
        </p:txBody>
      </p:sp>
      <p:sp>
        <p:nvSpPr>
          <p:cNvPr id="214" name=""/>
          <p:cNvSpPr/>
          <p:nvPr/>
        </p:nvSpPr>
        <p:spPr>
          <a:xfrm rot="0" flipH="0" flipV="0">
            <a:off x="5200650" y="2990850"/>
            <a:ext cx="6181725" cy="876300"/>
          </a:xfrm>
          <a:prstGeom prst="roundRect">
            <a:avLst>
              <a:gd name="adj" fmla="val 13043"/>
            </a:avLst>
          </a:prstGeom>
          <a:solidFill>
            <a:srgbClr val="0099FF">
              <a:alpha val="5000"/>
            </a:srgbClr>
          </a:solidFill>
          <a:ln/>
        </p:spPr>
        <p:txBody>
          <a:bodyPr/>
          <a:p/>
        </p:txBody>
      </p:sp>
      <p:sp>
        <p:nvSpPr>
          <p:cNvPr id="215" name="" descr="{&quot;isTemplate&quot;:true,&quot;type&quot;:&quot;text&quot;}"/>
          <p:cNvSpPr txBox="1"/>
          <p:nvPr/>
        </p:nvSpPr>
        <p:spPr>
          <a:xfrm rot="0" flipH="0" flipV="0">
            <a:off x="5334000" y="3114675"/>
            <a:ext cx="266700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1650" b="1">
                <a:solidFill>
                  <a:srgbClr val="0099FF"/>
                </a:solidFill>
                <a:latin typeface="Microsoft YaHei"/>
                <a:ea typeface="Microsoft YaHei"/>
              </a:rPr>
              <a:t>③</a:t>
            </a:r>
            <a:endParaRPr/>
          </a:p>
        </p:txBody>
      </p:sp>
      <p:sp>
        <p:nvSpPr>
          <p:cNvPr id="216" name="" descr="{&quot;isTemplate&quot;:true,&quot;type&quot;:&quot;text&quot;}"/>
          <p:cNvSpPr txBox="1"/>
          <p:nvPr/>
        </p:nvSpPr>
        <p:spPr>
          <a:xfrm rot="0" flipH="0" flipV="0">
            <a:off x="5734050" y="3114675"/>
            <a:ext cx="5514975" cy="323850"/>
          </a:xfrm>
          <a:prstGeom prst="rect"/>
        </p:spPr>
        <p:txBody>
          <a:bodyPr wrap="none" lIns="0" tIns="0" rIns="0" bIns="0"/>
          <a:p>
            <a:pPr>
              <a:lnSpc>
                <a:spcPct val="145000"/>
              </a:lnSpc>
            </a:pPr>
            <a:r>
              <a:rPr lang="zh-CN" sz="1425" b="1">
                <a:solidFill>
                  <a:srgbClr val="E6F0FA"/>
                </a:solidFill>
                <a:latin typeface="Microsoft YaHei"/>
                <a:ea typeface="Microsoft YaHei"/>
              </a:rPr>
              <a:t>內建危機壓力測試</a:t>
            </a:r>
            <a:endParaRPr/>
          </a:p>
        </p:txBody>
      </p:sp>
      <p:sp>
        <p:nvSpPr>
          <p:cNvPr id="217" name=""/>
          <p:cNvSpPr/>
          <p:nvPr/>
        </p:nvSpPr>
        <p:spPr>
          <a:xfrm rot="0" flipH="0" flipV="0">
            <a:off x="5200650" y="4391025"/>
            <a:ext cx="6181725" cy="876300"/>
          </a:xfrm>
          <a:prstGeom prst="roundRect">
            <a:avLst>
              <a:gd name="adj" fmla="val 13043"/>
            </a:avLst>
          </a:prstGeom>
          <a:solidFill>
            <a:srgbClr val="0099FF">
              <a:alpha val="5000"/>
            </a:srgbClr>
          </a:solidFill>
          <a:ln/>
        </p:spPr>
        <p:txBody>
          <a:bodyPr/>
          <a:p/>
        </p:txBody>
      </p:sp>
      <p:sp>
        <p:nvSpPr>
          <p:cNvPr id="218" name="" descr="{&quot;isTemplate&quot;:true,&quot;type&quot;:&quot;text&quot;}"/>
          <p:cNvSpPr txBox="1"/>
          <p:nvPr/>
        </p:nvSpPr>
        <p:spPr>
          <a:xfrm rot="0" flipH="0" flipV="0">
            <a:off x="5334000" y="4514850"/>
            <a:ext cx="266700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1650" b="1">
                <a:solidFill>
                  <a:srgbClr val="0099FF"/>
                </a:solidFill>
                <a:latin typeface="Microsoft YaHei"/>
                <a:ea typeface="Microsoft YaHei"/>
              </a:rPr>
              <a:t>④</a:t>
            </a:r>
            <a:endParaRPr/>
          </a:p>
        </p:txBody>
      </p:sp>
      <p:sp>
        <p:nvSpPr>
          <p:cNvPr id="219" name="" descr="{&quot;isTemplate&quot;:true,&quot;type&quot;:&quot;text&quot;}"/>
          <p:cNvSpPr txBox="1"/>
          <p:nvPr/>
        </p:nvSpPr>
        <p:spPr>
          <a:xfrm rot="0" flipH="0" flipV="0">
            <a:off x="5734050" y="4514850"/>
            <a:ext cx="5514975" cy="323850"/>
          </a:xfrm>
          <a:prstGeom prst="rect"/>
        </p:spPr>
        <p:txBody>
          <a:bodyPr wrap="none" lIns="0" tIns="0" rIns="0" bIns="0"/>
          <a:p>
            <a:pPr>
              <a:lnSpc>
                <a:spcPct val="145000"/>
              </a:lnSpc>
            </a:pPr>
            <a:r>
              <a:rPr lang="zh-CN" sz="1425" b="1">
                <a:solidFill>
                  <a:srgbClr val="E6F0FA"/>
                </a:solidFill>
                <a:latin typeface="Microsoft YaHei"/>
                <a:ea typeface="Microsoft YaHei"/>
              </a:rPr>
              <a:t>簡</a:t>
            </a:r>
            <a:r>
              <a:rPr lang="en-US" sz="1425" b="1">
                <a:solidFill>
                  <a:srgbClr val="E6F0FA"/>
                </a:solidFill>
                <a:latin typeface="Microsoft YaHei"/>
                <a:ea typeface="Microsoft YaHei"/>
              </a:rPr>
              <a:t xml:space="preserve"> / </a:t>
            </a:r>
            <a:r>
              <a:rPr lang="zh-CN" sz="1425" b="1">
                <a:solidFill>
                  <a:srgbClr val="E6F0FA"/>
                </a:solidFill>
                <a:latin typeface="Microsoft YaHei"/>
                <a:ea typeface="Microsoft YaHei"/>
              </a:rPr>
              <a:t>繁雙語輸出</a:t>
            </a:r>
            <a:endParaRPr/>
          </a:p>
        </p:txBody>
      </p:sp>
      <p:sp>
        <p:nvSpPr>
          <p:cNvPr id="220" name=""/>
          <p:cNvSpPr/>
          <p:nvPr/>
        </p:nvSpPr>
        <p:spPr>
          <a:xfrm rot="0" flipH="0" flipV="0">
            <a:off x="5200650" y="5791200"/>
            <a:ext cx="6181725" cy="876300"/>
          </a:xfrm>
          <a:prstGeom prst="roundRect">
            <a:avLst>
              <a:gd name="adj" fmla="val 13043"/>
            </a:avLst>
          </a:prstGeom>
          <a:solidFill>
            <a:srgbClr val="0099FF">
              <a:alpha val="5000"/>
            </a:srgbClr>
          </a:solidFill>
          <a:ln/>
        </p:spPr>
        <p:txBody>
          <a:bodyPr/>
          <a:p/>
        </p:txBody>
      </p:sp>
      <p:sp>
        <p:nvSpPr>
          <p:cNvPr id="221" name="" descr="{&quot;isTemplate&quot;:true,&quot;type&quot;:&quot;text&quot;}"/>
          <p:cNvSpPr txBox="1"/>
          <p:nvPr/>
        </p:nvSpPr>
        <p:spPr>
          <a:xfrm rot="0" flipH="0" flipV="0">
            <a:off x="5334000" y="5915025"/>
            <a:ext cx="266700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1650" b="1">
                <a:solidFill>
                  <a:srgbClr val="0099FF"/>
                </a:solidFill>
                <a:latin typeface="Microsoft YaHei"/>
                <a:ea typeface="Microsoft YaHei"/>
              </a:rPr>
              <a:t>⑤</a:t>
            </a:r>
            <a:endParaRPr/>
          </a:p>
        </p:txBody>
      </p:sp>
      <p:sp>
        <p:nvSpPr>
          <p:cNvPr id="222" name="" descr="{&quot;isTemplate&quot;:true,&quot;type&quot;:&quot;text&quot;}"/>
          <p:cNvSpPr txBox="1"/>
          <p:nvPr/>
        </p:nvSpPr>
        <p:spPr>
          <a:xfrm rot="0" flipH="0" flipV="0">
            <a:off x="5734050" y="5915025"/>
            <a:ext cx="5514975" cy="323850"/>
          </a:xfrm>
          <a:prstGeom prst="rect"/>
        </p:spPr>
        <p:txBody>
          <a:bodyPr wrap="none" lIns="0" tIns="0" rIns="0" bIns="0"/>
          <a:p>
            <a:pPr>
              <a:lnSpc>
                <a:spcPct val="145000"/>
              </a:lnSpc>
            </a:pPr>
            <a:r>
              <a:rPr lang="zh-CN" sz="1425" b="1">
                <a:solidFill>
                  <a:srgbClr val="E6F0FA"/>
                </a:solidFill>
                <a:latin typeface="Microsoft YaHei"/>
                <a:ea typeface="Microsoft YaHei"/>
              </a:rPr>
              <a:t>全本地計算</a:t>
            </a:r>
            <a:endParaRPr/>
          </a:p>
        </p:txBody>
      </p:sp>
      <p:sp>
        <p:nvSpPr>
          <p:cNvPr id="223" name="" descr="{&quot;isTemplate&quot;:true,&quot;type&quot;:&quot;text&quot;}"/>
          <p:cNvSpPr txBox="1"/>
          <p:nvPr/>
        </p:nvSpPr>
        <p:spPr>
          <a:xfrm rot="0" flipH="0" flipV="0">
            <a:off x="952500" y="1924050"/>
            <a:ext cx="3562350" cy="666750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zh-CN" sz="1350">
                <a:solidFill>
                  <a:srgbClr val="0A1628">
                    <a:alpha val="82000"/>
                  </a:srgbClr>
                </a:solidFill>
                <a:latin typeface="Microsoft YaHei"/>
                <a:ea typeface="Microsoft YaHei"/>
              </a:rPr>
              <a:t>投資工具都在比誰會「算漲跌」，</a:t>
            </a:r>
            <a:endParaRPr/>
          </a:p>
          <a:p>
            <a:pPr>
              <a:lnSpc>
                <a:spcPct val="160000"/>
              </a:lnSpc>
            </a:pPr>
            <a:r>
              <a:rPr lang="zh-CN" sz="1350">
                <a:solidFill>
                  <a:srgbClr val="0A1628">
                    <a:alpha val="82000"/>
                  </a:srgbClr>
                </a:solidFill>
                <a:latin typeface="Microsoft YaHei"/>
                <a:ea typeface="Microsoft YaHei"/>
              </a:rPr>
              <a:t>沒人在算「風險從哪來」。</a:t>
            </a:r>
            <a:endParaRPr/>
          </a:p>
        </p:txBody>
      </p:sp>
      <p:sp>
        <p:nvSpPr>
          <p:cNvPr id="224" name="" descr="{&quot;isTemplate&quot;:true,&quot;type&quot;:&quot;text&quot;}"/>
          <p:cNvSpPr txBox="1"/>
          <p:nvPr/>
        </p:nvSpPr>
        <p:spPr>
          <a:xfrm rot="0" flipH="0" flipV="0">
            <a:off x="5734050" y="676275"/>
            <a:ext cx="5514975" cy="266700"/>
          </a:xfrm>
          <a:prstGeom prst="rect"/>
        </p:spPr>
        <p:txBody>
          <a:bodyPr wrap="none" lIns="0" tIns="0" rIns="0" bIns="0"/>
          <a:p>
            <a:pPr>
              <a:lnSpc>
                <a:spcPct val="145000"/>
              </a:lnSpc>
            </a:pPr>
            <a:r>
              <a:rPr lang="zh-CN" sz="1200">
                <a:solidFill>
                  <a:srgbClr val="E6F0FA">
                    <a:alpha val="70000"/>
                  </a:srgbClr>
                </a:solidFill>
                <a:latin typeface="Microsoft YaHei"/>
                <a:ea typeface="Microsoft YaHei"/>
              </a:rPr>
              <a:t>回答「風險押在哪」，而非「明天漲跌」——不跟風做預言家。</a:t>
            </a:r>
            <a:endParaRPr/>
          </a:p>
        </p:txBody>
      </p:sp>
      <p:sp>
        <p:nvSpPr>
          <p:cNvPr id="225" name="" descr="{&quot;isTemplate&quot;:true,&quot;type&quot;:&quot;text&quot;}"/>
          <p:cNvSpPr txBox="1"/>
          <p:nvPr/>
        </p:nvSpPr>
        <p:spPr>
          <a:xfrm rot="0" flipH="0" flipV="0">
            <a:off x="5734050" y="2076450"/>
            <a:ext cx="5514975" cy="266700"/>
          </a:xfrm>
          <a:prstGeom prst="rect"/>
        </p:spPr>
        <p:txBody>
          <a:bodyPr wrap="none" lIns="0" tIns="0" rIns="0" bIns="0"/>
          <a:p>
            <a:pPr>
              <a:lnSpc>
                <a:spcPct val="145000"/>
              </a:lnSpc>
            </a:pPr>
            <a:r>
              <a:rPr lang="zh-CN" sz="1200">
                <a:solidFill>
                  <a:srgbClr val="E6F0FA">
                    <a:alpha val="70000"/>
                  </a:srgbClr>
                </a:solidFill>
                <a:latin typeface="Microsoft YaHei"/>
                <a:ea typeface="Microsoft YaHei"/>
              </a:rPr>
              <a:t>協方差矩陣、邊際風險貢獻一條條列出來，不開黑箱。</a:t>
            </a:r>
            <a:endParaRPr/>
          </a:p>
        </p:txBody>
      </p:sp>
      <p:sp>
        <p:nvSpPr>
          <p:cNvPr id="226" name="" descr="{&quot;isTemplate&quot;:true,&quot;type&quot;:&quot;text&quot;}"/>
          <p:cNvSpPr txBox="1"/>
          <p:nvPr/>
        </p:nvSpPr>
        <p:spPr>
          <a:xfrm rot="0" flipH="0" flipV="0">
            <a:off x="5734050" y="3476625"/>
            <a:ext cx="5514975" cy="266700"/>
          </a:xfrm>
          <a:prstGeom prst="rect"/>
        </p:spPr>
        <p:txBody>
          <a:bodyPr wrap="none" lIns="0" tIns="0" rIns="0" bIns="0"/>
          <a:p>
            <a:pPr>
              <a:lnSpc>
                <a:spcPct val="145000"/>
              </a:lnSpc>
            </a:pPr>
            <a:r>
              <a:rPr lang="zh-CN" sz="1200">
                <a:solidFill>
                  <a:srgbClr val="E6F0FA">
                    <a:alpha val="70000"/>
                  </a:srgbClr>
                </a:solidFill>
                <a:latin typeface="Microsoft YaHei"/>
                <a:ea typeface="Microsoft YaHei"/>
              </a:rPr>
              <a:t>相關性只升不降，直接揭穿「假分散」的真面目。</a:t>
            </a:r>
            <a:endParaRPr/>
          </a:p>
        </p:txBody>
      </p:sp>
      <p:sp>
        <p:nvSpPr>
          <p:cNvPr id="227" name="" descr="{&quot;isTemplate&quot;:true,&quot;type&quot;:&quot;text&quot;}"/>
          <p:cNvSpPr txBox="1"/>
          <p:nvPr/>
        </p:nvSpPr>
        <p:spPr>
          <a:xfrm rot="0" flipH="0" flipV="0">
            <a:off x="5734050" y="4876800"/>
            <a:ext cx="5514975" cy="266700"/>
          </a:xfrm>
          <a:prstGeom prst="rect"/>
        </p:spPr>
        <p:txBody>
          <a:bodyPr wrap="none" lIns="0" tIns="0" rIns="0" bIns="0"/>
          <a:p>
            <a:pPr>
              <a:lnSpc>
                <a:spcPct val="145000"/>
              </a:lnSpc>
            </a:pPr>
            <a:r>
              <a:rPr lang="zh-CN" sz="1200">
                <a:solidFill>
                  <a:srgbClr val="E6F0FA">
                    <a:alpha val="70000"/>
                  </a:srgbClr>
                </a:solidFill>
                <a:latin typeface="Microsoft YaHei"/>
                <a:ea typeface="Microsoft YaHei"/>
              </a:rPr>
              <a:t>兩岸與海外用戶都看得懂，術語在地化而非機器翻譯。</a:t>
            </a:r>
            <a:endParaRPr/>
          </a:p>
        </p:txBody>
      </p:sp>
      <p:sp>
        <p:nvSpPr>
          <p:cNvPr id="228" name="" descr="{&quot;isTemplate&quot;:true,&quot;type&quot;:&quot;text&quot;}"/>
          <p:cNvSpPr txBox="1"/>
          <p:nvPr/>
        </p:nvSpPr>
        <p:spPr>
          <a:xfrm rot="0" flipH="0" flipV="0">
            <a:off x="5734050" y="6276975"/>
            <a:ext cx="5514975" cy="266700"/>
          </a:xfrm>
          <a:prstGeom prst="rect"/>
        </p:spPr>
        <p:txBody>
          <a:bodyPr wrap="none" lIns="0" tIns="0" rIns="0" bIns="0"/>
          <a:p>
            <a:pPr>
              <a:lnSpc>
                <a:spcPct val="145000"/>
              </a:lnSpc>
            </a:pPr>
            <a:r>
              <a:rPr lang="zh-CN" sz="1200">
                <a:solidFill>
                  <a:srgbClr val="E6F0FA">
                    <a:alpha val="70000"/>
                  </a:srgbClr>
                </a:solidFill>
                <a:latin typeface="Microsoft YaHei"/>
                <a:ea typeface="Microsoft YaHei"/>
              </a:rPr>
              <a:t>持倉不上傳任何伺服器，隱私自己掌控。</a:t>
            </a:r>
            <a:endParaRPr/>
          </a:p>
        </p:txBody>
      </p:sp>
      <p:sp>
        <p:nvSpPr>
          <p:cNvPr id="229" name="" descr="{&quot;isTemplate&quot;:true,&quot;type&quot;:&quot;text&quot;}"/>
          <p:cNvSpPr txBox="1"/>
          <p:nvPr/>
        </p:nvSpPr>
        <p:spPr>
          <a:xfrm rot="0" flipH="0" flipV="0">
            <a:off x="609600" y="6524625"/>
            <a:ext cx="21717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E6F0FA">
                    <a:alpha val="45000"/>
                  </a:srgbClr>
                </a:solidFill>
                <a:latin typeface="Microsoft YaHei"/>
                <a:ea typeface="Microsoft YaHei"/>
              </a:rPr>
              <a:t>持倉透鏡</a:t>
            </a:r>
            <a:r>
              <a:rPr lang="en-US" sz="1050">
                <a:solidFill>
                  <a:srgbClr val="E6F0FA">
                    <a:alpha val="45000"/>
                  </a:srgbClr>
                </a:solidFill>
                <a:latin typeface="Microsoft YaHei"/>
                <a:ea typeface="Microsoft YaHei"/>
              </a:rPr>
              <a:t xml:space="preserve"> HoldingsLens · 1024 </a:t>
            </a:r>
            <a:r>
              <a:rPr lang="zh-CN" sz="1050">
                <a:solidFill>
                  <a:srgbClr val="E6F0FA">
                    <a:alpha val="45000"/>
                  </a:srgbClr>
                </a:solidFill>
                <a:latin typeface="Microsoft YaHei"/>
                <a:ea typeface="Microsoft YaHei"/>
              </a:rPr>
              <a:t>投稿</a:t>
            </a:r>
            <a:endParaRPr/>
          </a:p>
        </p:txBody>
      </p:sp>
      <p:sp>
        <p:nvSpPr>
          <p:cNvPr id="230" name="" descr="{&quot;isTemplate&quot;:true,&quot;type&quot;:&quot;text&quot;}"/>
          <p:cNvSpPr txBox="1"/>
          <p:nvPr/>
        </p:nvSpPr>
        <p:spPr>
          <a:xfrm rot="0" flipH="0" flipV="0">
            <a:off x="11125200" y="6524625"/>
            <a:ext cx="457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E6F0FA">
                    <a:alpha val="45000"/>
                  </a:srgbClr>
                </a:solidFill>
                <a:latin typeface="Microsoft YaHei"/>
                <a:ea typeface="Microsoft YaHei"/>
              </a:rPr>
              <a:t>08 / 09</a:t>
            </a:r>
            <a:endParaRPr/>
          </a:p>
        </p:txBody>
      </p:sp>
    </p:spTree>
  </p:cSld>
</p:sld>
</file>

<file path=ppt/slides/slide9.xml><?xml version="1.0" encoding="utf-8"?>
<p:sld xmlns:p="http://schemas.openxmlformats.org/presentationml/2006/main" xmlns:a="http://schemas.openxmlformats.org/drawingml/2006/main">
  <p:cSld>
    <p:spTree>
      <p:nvGrpSpPr>
        <p:cNvPr id="231" name="" descr="&lt;Slide style={{ width: '1280px', height: '720px', background: '#0A1628', position: 'relative', overflow: 'hidden', display: 'flex', flexDirection: 'column', alignItems: 'center', justifyContent: 'center' }}&gt;&#10;  &lt;Box style={{ position: 'absolute', top: -160, left: -120, width: 560, height: 560, background: 'radial-gradient(circle, rgba(0,153,255,0.18) 0%, transparent 70%)' }} /&gt;&#10;  &lt;Box style={{ position: 'absolute', top: 84, left: 0, right: 0, flexDirection: 'row', justifyContent: 'center', gap: 14 }}&gt;&#10;    &lt;Box style={{ background: 'rgba(0,153,255,0.12)', border: '1px solid rgba(0,153,255,0.4)', borderRadius: 999, paddingTop: 8, paddingBottom: 8, paddingLeft: 20, paddingRight: 20 }}&gt;&#10;      &lt;Text style={{ fontSize: 15, color: '#7FC4FF' }}&gt;H5 網頁&lt;/Text&gt;&#10;    &lt;/Box&gt;&#10;    &lt;Box style={{ background: 'rgba(0,226,198,0.1)', border: '1px solid rgba(0,226,198,0.4)', borderRadius: 999, paddingTop: 8, paddingBottom: 8, paddingLeft: 20, paddingRight: 20 }}&gt;&#10;      &lt;Text style={{ fontSize: 15, color: '#6FE3D2' }}&gt;微信小程序&lt;/Text&gt;&#10;    &lt;/Box&gt;&#10;    &lt;Box style={{ background: 'rgba(255,214,102,0.1)', border: '1px solid rgba(255,214,102,0.35)', borderRadius: 999, paddingTop: 8, paddingBottom: 8, paddingLeft: 20, paddingRight: 20 }}&gt;&#10;      &lt;Text style={{ fontSize: 15, color: '#FFD666' }}&gt;本地腳本&lt;/Text&gt;&#10;    &lt;/Box&gt;&#10;  &lt;/Box&gt;&#10;  &lt;Box style={{ width: 880, alignItems: 'center' }}&gt;&#10;    &lt;Text style={{ fontSize: 20, color: '#00E2C6', letterSpacing: 3 }}&gt;持倉透鏡 HoldingsLens · 1024 造物挑戰&lt;/Text&gt;&#10;    &lt;Text style={{ fontSize: 56, fontWeight: 'bold', color: '#E6F0FA', marginTop: 22, lineHeight: 1.25, textAlign: 'center' }}&gt;把「風險從哪來」&lt;br /&gt;講清楚，比算準漲跌更有用&lt;/Text&gt;&#10;    &lt;Box style={{ width: 60, height: 2, background: '#0099FF', marginTop: 30 }} /&gt;&#10;    &lt;Text style={{ fontSize: 21, color: '#E6F0FA', opacity: 0.78, marginTop: 26, lineHeight: 1.7, textAlign: 'center' }}&gt;體驗方式：H5 連結即開即用 · 小程序原始碼見 GitHub · 本地腳本批量分析&lt;/Text&gt;&#10;    &lt;Text style={{ fontSize: 18, color: '#E6F0FA', opacity: 0.55, marginTop: 14, textAlign: 'center' }}&gt;全本地計算 · 持倉不上傳 · 簡繁雙語&lt;/Text&gt;&#10;  &lt;/Box&gt;&#10;  &lt;Box style={{ position: 'absolute', bottom: 80, left: 0, right: 0, flexDirection: 'row', justifyContent: 'center', gap: 40 }}&gt;&#10;    &lt;Box style={{ alignItems: 'center' }}&gt;&#10;      &lt;Text style={{ fontSize: 22, fontWeight: 'bold', color: '#0099FF' }}&gt;17 類&lt;/Text&gt;&#10;      &lt;Text style={{ fontSize: 12, color: '#E6F0FA', opacity: 0.5, marginTop: 2 }}&gt;資產類別&lt;/Text&gt;&#10;    &lt;/Box&gt;&#10;    &lt;Box style={{ alignItems: 'center' }}&gt;&#10;      &lt;Text style={{ fontSize: 22, fontWeight: 'bold', color: '#00E2C6' }}&gt;136 組&lt;/Text&gt;&#10;      &lt;Text style={{ fontSize: 12, color: '#E6F0FA', opacity: 0.5, marginTop: 2 }}&gt;相關係數&lt;/Text&gt;&#10;    &lt;/Box&gt;&#10;    &lt;Box style={{ alignItems: 'center' }}&gt;&#10;      &lt;Text style={{ fontSize: 22, fontWeight: 'bold', color: '#FFD666' }}&gt;126 項&lt;/Text&gt;&#10;      &lt;Text style={{ fontSize: 12, color: '#E6F0FA', opacity: 0.5, marginTop: 2 }}&gt;不變量測試&lt;/Text&gt;&#10;    &lt;/Box&gt;&#10;    &lt;Box style={{ alignItems: 'center' }}&gt;&#10;      &lt;Text style={{ fontSize: 22, fontWeight: 'bold', color: '#7FC4FF' }}&gt;0 筆&lt;/Text&gt;&#10;      &lt;Text style={{ fontSize: 12, color: '#E6F0FA', opacity: 0.5, marginTop: 2 }}&gt;資料上傳&lt;/Text&gt;&#10;    &lt;/Box&gt;&#10;  &lt;/Box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0A1628"/>
          </a:solidFill>
          <a:ln/>
        </p:spPr>
        <p:txBody>
          <a:bodyPr/>
          <a:p/>
        </p:txBody>
      </p:sp>
      <p:sp>
        <p:nvSpPr>
          <p:cNvPr id="233" name="" descr="{&quot;isTemplate&quot;:true,&quot;type&quot;:&quot;text&quot;}"/>
          <p:cNvSpPr txBox="1"/>
          <p:nvPr/>
        </p:nvSpPr>
        <p:spPr>
          <a:xfrm rot="0" flipH="0" flipV="0">
            <a:off x="3943350" y="1762125"/>
            <a:ext cx="430530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spc="225">
                <a:solidFill>
                  <a:srgbClr val="00E2C6"/>
                </a:solidFill>
                <a:latin typeface="Microsoft YaHei"/>
                <a:ea typeface="Microsoft YaHei"/>
              </a:rPr>
              <a:t>持倉透鏡</a:t>
            </a:r>
            <a:r>
              <a:rPr lang="en-US" sz="1500" spc="225">
                <a:solidFill>
                  <a:srgbClr val="00E2C6"/>
                </a:solidFill>
                <a:latin typeface="Microsoft YaHei"/>
                <a:ea typeface="Microsoft YaHei"/>
              </a:rPr>
              <a:t xml:space="preserve"> HoldingsLens · 1024 </a:t>
            </a:r>
            <a:r>
              <a:rPr lang="zh-CN" sz="1500" spc="225">
                <a:solidFill>
                  <a:srgbClr val="00E2C6"/>
                </a:solidFill>
                <a:latin typeface="Microsoft YaHei"/>
                <a:ea typeface="Microsoft YaHei"/>
              </a:rPr>
              <a:t>造物挑戰</a:t>
            </a:r>
            <a:endParaRPr/>
          </a:p>
        </p:txBody>
      </p:sp>
      <p:sp>
        <p:nvSpPr>
          <p:cNvPr id="234" name="" descr="{&quot;isTemplate&quot;:true,&quot;type&quot;:&quot;text&quot;}"/>
          <p:cNvSpPr txBox="1"/>
          <p:nvPr/>
        </p:nvSpPr>
        <p:spPr>
          <a:xfrm rot="0" flipH="0" flipV="0">
            <a:off x="2895600" y="2200275"/>
            <a:ext cx="6400800" cy="1600200"/>
          </a:xfrm>
          <a:prstGeom prst="rect"/>
        </p:spPr>
        <p:txBody>
          <a:bodyPr wrap="none" lIns="0" tIns="0" rIns="0" bIns="0"/>
          <a:p>
            <a:pPr algn="ctr">
              <a:lnSpc>
                <a:spcPct val="125000"/>
              </a:lnSpc>
            </a:pPr>
            <a:r>
              <a:rPr lang="zh-CN" sz="4200" b="1">
                <a:solidFill>
                  <a:srgbClr val="E6F0FA"/>
                </a:solidFill>
                <a:latin typeface="Microsoft YaHei"/>
                <a:ea typeface="Microsoft YaHei"/>
              </a:rPr>
              <a:t>把「風險從哪來」</a:t>
            </a:r>
            <a:endParaRPr/>
          </a:p>
          <a:p>
            <a:pPr algn="ctr">
              <a:lnSpc>
                <a:spcPct val="125000"/>
              </a:lnSpc>
            </a:pPr>
            <a:r>
              <a:rPr lang="zh-CN" sz="4200" b="1">
                <a:solidFill>
                  <a:srgbClr val="E6F0FA"/>
                </a:solidFill>
                <a:latin typeface="Microsoft YaHei"/>
                <a:ea typeface="Microsoft YaHei"/>
              </a:rPr>
              <a:t>講清楚，比算準漲跌更有用</a:t>
            </a:r>
            <a:endParaRPr/>
          </a:p>
        </p:txBody>
      </p:sp>
      <p:sp>
        <p:nvSpPr>
          <p:cNvPr id="235" name=""/>
          <p:cNvSpPr/>
          <p:nvPr/>
        </p:nvSpPr>
        <p:spPr>
          <a:xfrm rot="0" flipH="0" flipV="0">
            <a:off x="5810250" y="4086225"/>
            <a:ext cx="571500" cy="19050"/>
          </a:xfrm>
          <a:prstGeom prst="rect">
            <a:avLst/>
          </a:prstGeom>
          <a:solidFill>
            <a:srgbClr val="0099FF"/>
          </a:solidFill>
          <a:ln/>
        </p:spPr>
        <p:txBody>
          <a:bodyPr/>
          <a:p/>
        </p:txBody>
      </p:sp>
      <p:sp>
        <p:nvSpPr>
          <p:cNvPr id="236" name=""/>
          <p:cNvSpPr/>
          <p:nvPr/>
        </p:nvSpPr>
        <p:spPr>
          <a:xfrm rot="0" flipH="0" flipV="0">
            <a:off x="-1143000" y="-1524000"/>
            <a:ext cx="5334000" cy="5334000"/>
          </a:xfrm>
          <a:custGeom>
            <a:pathLst>
              <a:path w="560" h="560">
                <a:moveTo>
                  <a:pt x="560" y="560"/>
                </a:moveTo>
                <a:lnTo>
                  <a:pt x="120" y="560"/>
                </a:lnTo>
                <a:lnTo>
                  <a:pt x="120" y="160"/>
                </a:lnTo>
                <a:lnTo>
                  <a:pt x="560" y="160"/>
                </a:lnTo>
                <a:close/>
              </a:path>
            </a:pathLst>
          </a:custGeom>
          <a:gradFill>
            <a:gsLst>
              <a:gs pos="0">
                <a:srgbClr val="0099FF">
                  <a:alpha val="18000"/>
                </a:srgbClr>
              </a:gs>
              <a:gs pos="70000">
                <a:srgbClr val="FFFFFF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/>
        </p:spPr>
        <p:txBody>
          <a:bodyPr/>
          <a:p/>
        </p:txBody>
      </p:sp>
      <p:sp>
        <p:nvSpPr>
          <p:cNvPr id="237" name=""/>
          <p:cNvSpPr/>
          <p:nvPr/>
        </p:nvSpPr>
        <p:spPr>
          <a:xfrm rot="0" flipH="0" flipV="0">
            <a:off x="4486275" y="800100"/>
            <a:ext cx="904875" cy="323850"/>
          </a:xfrm>
          <a:prstGeom prst="roundRect">
            <a:avLst>
              <a:gd name="adj" fmla="val 2938235"/>
            </a:avLst>
          </a:prstGeom>
          <a:solidFill>
            <a:srgbClr val="0099FF">
              <a:alpha val="12000"/>
            </a:srgbClr>
          </a:solidFill>
          <a:ln w="12700">
            <a:solidFill>
              <a:srgbClr val="0099FF">
                <a:alpha val="40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238" name="" descr="{&quot;isTemplate&quot;:true,&quot;type&quot;:&quot;text&quot;}"/>
          <p:cNvSpPr txBox="1"/>
          <p:nvPr/>
        </p:nvSpPr>
        <p:spPr>
          <a:xfrm rot="0" flipH="0" flipV="0">
            <a:off x="4676775" y="876300"/>
            <a:ext cx="52387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>
                <a:solidFill>
                  <a:srgbClr val="7FC4FF"/>
                </a:solidFill>
                <a:latin typeface="Microsoft YaHei"/>
                <a:ea typeface="Microsoft YaHei"/>
              </a:rPr>
              <a:t xml:space="preserve">H5 </a:t>
            </a:r>
            <a:r>
              <a:rPr lang="zh-CN" sz="1125">
                <a:solidFill>
                  <a:srgbClr val="7FC4FF"/>
                </a:solidFill>
                <a:latin typeface="Microsoft YaHei"/>
                <a:ea typeface="Microsoft YaHei"/>
              </a:rPr>
              <a:t>網頁</a:t>
            </a:r>
            <a:endParaRPr/>
          </a:p>
        </p:txBody>
      </p:sp>
      <p:sp>
        <p:nvSpPr>
          <p:cNvPr id="239" name=""/>
          <p:cNvSpPr/>
          <p:nvPr/>
        </p:nvSpPr>
        <p:spPr>
          <a:xfrm rot="0" flipH="0" flipV="0">
            <a:off x="5524500" y="800100"/>
            <a:ext cx="1095375" cy="323850"/>
          </a:xfrm>
          <a:prstGeom prst="roundRect">
            <a:avLst>
              <a:gd name="adj" fmla="val 2938235"/>
            </a:avLst>
          </a:prstGeom>
          <a:solidFill>
            <a:srgbClr val="00E2C6">
              <a:alpha val="10000"/>
            </a:srgbClr>
          </a:solidFill>
          <a:ln w="12700">
            <a:solidFill>
              <a:srgbClr val="00E2C6">
                <a:alpha val="40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240" name="" descr="{&quot;isTemplate&quot;:true,&quot;type&quot;:&quot;text&quot;}"/>
          <p:cNvSpPr txBox="1"/>
          <p:nvPr/>
        </p:nvSpPr>
        <p:spPr>
          <a:xfrm rot="0" flipH="0" flipV="0">
            <a:off x="5715000" y="876300"/>
            <a:ext cx="71437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6FE3D2"/>
                </a:solidFill>
                <a:latin typeface="Microsoft YaHei"/>
                <a:ea typeface="Microsoft YaHei"/>
              </a:rPr>
              <a:t>微信小程序</a:t>
            </a:r>
            <a:endParaRPr/>
          </a:p>
        </p:txBody>
      </p:sp>
      <p:sp>
        <p:nvSpPr>
          <p:cNvPr id="241" name=""/>
          <p:cNvSpPr/>
          <p:nvPr/>
        </p:nvSpPr>
        <p:spPr>
          <a:xfrm rot="0" flipH="0" flipV="0">
            <a:off x="6753225" y="800100"/>
            <a:ext cx="952500" cy="323850"/>
          </a:xfrm>
          <a:prstGeom prst="roundRect">
            <a:avLst>
              <a:gd name="adj" fmla="val 2938235"/>
            </a:avLst>
          </a:prstGeom>
          <a:solidFill>
            <a:srgbClr val="FFD666">
              <a:alpha val="10000"/>
            </a:srgbClr>
          </a:solidFill>
          <a:ln w="12700">
            <a:solidFill>
              <a:srgbClr val="FFD666">
                <a:alpha val="35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242" name="" descr="{&quot;isTemplate&quot;:true,&quot;type&quot;:&quot;text&quot;}"/>
          <p:cNvSpPr txBox="1"/>
          <p:nvPr/>
        </p:nvSpPr>
        <p:spPr>
          <a:xfrm rot="0" flipH="0" flipV="0">
            <a:off x="6943725" y="876300"/>
            <a:ext cx="5715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FFD666"/>
                </a:solidFill>
                <a:latin typeface="Microsoft YaHei"/>
                <a:ea typeface="Microsoft YaHei"/>
              </a:rPr>
              <a:t>本地腳本</a:t>
            </a:r>
            <a:endParaRPr/>
          </a:p>
        </p:txBody>
      </p:sp>
      <p:sp>
        <p:nvSpPr>
          <p:cNvPr id="243" name="" descr="{&quot;isTemplate&quot;:true,&quot;type&quot;:&quot;text&quot;}"/>
          <p:cNvSpPr txBox="1"/>
          <p:nvPr/>
        </p:nvSpPr>
        <p:spPr>
          <a:xfrm rot="0" flipH="0" flipV="0">
            <a:off x="3162300" y="4352925"/>
            <a:ext cx="5867400" cy="409575"/>
          </a:xfrm>
          <a:prstGeom prst="rect"/>
        </p:spPr>
        <p:txBody>
          <a:bodyPr wrap="none" lIns="0" tIns="0" rIns="0" bIns="0"/>
          <a:p>
            <a:pPr algn="ctr">
              <a:lnSpc>
                <a:spcPct val="170000"/>
              </a:lnSpc>
            </a:pPr>
            <a:r>
              <a:rPr lang="zh-CN" sz="1575">
                <a:solidFill>
                  <a:srgbClr val="E6F0FA">
                    <a:alpha val="78000"/>
                  </a:srgbClr>
                </a:solidFill>
                <a:latin typeface="Microsoft YaHei"/>
                <a:ea typeface="Microsoft YaHei"/>
              </a:rPr>
              <a:t>體驗方式：</a:t>
            </a:r>
            <a:r>
              <a:rPr lang="en-US" sz="1575">
                <a:solidFill>
                  <a:srgbClr val="E6F0FA">
                    <a:alpha val="78000"/>
                  </a:srgbClr>
                </a:solidFill>
                <a:latin typeface="Microsoft YaHei"/>
                <a:ea typeface="Microsoft YaHei"/>
              </a:rPr>
              <a:t xml:space="preserve">H5 </a:t>
            </a:r>
            <a:r>
              <a:rPr lang="zh-CN" sz="1575">
                <a:solidFill>
                  <a:srgbClr val="E6F0FA">
                    <a:alpha val="78000"/>
                  </a:srgbClr>
                </a:solidFill>
                <a:latin typeface="Microsoft YaHei"/>
                <a:ea typeface="Microsoft YaHei"/>
              </a:rPr>
              <a:t>連結即開即用</a:t>
            </a:r>
            <a:r>
              <a:rPr lang="en-US" sz="1575">
                <a:solidFill>
                  <a:srgbClr val="E6F0FA">
                    <a:alpha val="78000"/>
                  </a:srgbClr>
                </a:solidFill>
                <a:latin typeface="Microsoft YaHei"/>
                <a:ea typeface="Microsoft YaHei"/>
              </a:rPr>
              <a:t xml:space="preserve"> · </a:t>
            </a:r>
            <a:r>
              <a:rPr lang="zh-CN" sz="1575">
                <a:solidFill>
                  <a:srgbClr val="E6F0FA">
                    <a:alpha val="78000"/>
                  </a:srgbClr>
                </a:solidFill>
                <a:latin typeface="Microsoft YaHei"/>
                <a:ea typeface="Microsoft YaHei"/>
              </a:rPr>
              <a:t>小程序原始碼見 GitHub</a:t>
            </a:r>
            <a:r>
              <a:rPr lang="en-US" sz="1575">
                <a:solidFill>
                  <a:srgbClr val="E6F0FA">
                    <a:alpha val="78000"/>
                  </a:srgbClr>
                </a:solidFill>
                <a:latin typeface="Microsoft YaHei"/>
                <a:ea typeface="Microsoft YaHei"/>
              </a:rPr>
              <a:t xml:space="preserve"> · </a:t>
            </a:r>
            <a:r>
              <a:rPr lang="zh-CN" sz="1575">
                <a:solidFill>
                  <a:srgbClr val="E6F0FA">
                    <a:alpha val="78000"/>
                  </a:srgbClr>
                </a:solidFill>
                <a:latin typeface="Microsoft YaHei"/>
                <a:ea typeface="Microsoft YaHei"/>
              </a:rPr>
              <a:t>本地腳本批量分析</a:t>
            </a:r>
            <a:endParaRPr/>
          </a:p>
        </p:txBody>
      </p:sp>
      <p:sp>
        <p:nvSpPr>
          <p:cNvPr id="244" name="" descr="{&quot;isTemplate&quot;:true,&quot;type&quot;:&quot;text&quot;}"/>
          <p:cNvSpPr txBox="1"/>
          <p:nvPr/>
        </p:nvSpPr>
        <p:spPr>
          <a:xfrm rot="0" flipH="0" flipV="0">
            <a:off x="4752975" y="4895850"/>
            <a:ext cx="2686050" cy="209550"/>
          </a:xfrm>
          <a:prstGeom prst="rect"/>
        </p:spPr>
        <p:txBody>
          <a:bodyPr wrap="none" lIns="0" tIns="0" rIns="0" bIns="0"/>
          <a:p>
            <a:pPr algn="ctr">
              <a:lnSpc>
                <a:spcPct val="100000"/>
              </a:lnSpc>
            </a:pPr>
            <a:r>
              <a:rPr lang="zh-CN" sz="1350">
                <a:solidFill>
                  <a:srgbClr val="E6F0FA">
                    <a:alpha val="55000"/>
                  </a:srgbClr>
                </a:solidFill>
                <a:latin typeface="Microsoft YaHei"/>
                <a:ea typeface="Microsoft YaHei"/>
              </a:rPr>
              <a:t>全本地計算</a:t>
            </a:r>
            <a:r>
              <a:rPr lang="en-US" sz="1350">
                <a:solidFill>
                  <a:srgbClr val="E6F0FA">
                    <a:alpha val="55000"/>
                  </a:srgbClr>
                </a:solidFill>
                <a:latin typeface="Microsoft YaHei"/>
                <a:ea typeface="Microsoft YaHei"/>
              </a:rPr>
              <a:t xml:space="preserve"> · </a:t>
            </a:r>
            <a:r>
              <a:rPr lang="zh-CN" sz="1350">
                <a:solidFill>
                  <a:srgbClr val="E6F0FA">
                    <a:alpha val="55000"/>
                  </a:srgbClr>
                </a:solidFill>
                <a:latin typeface="Microsoft YaHei"/>
                <a:ea typeface="Microsoft YaHei"/>
              </a:rPr>
              <a:t>持倉不上傳</a:t>
            </a:r>
            <a:r>
              <a:rPr lang="en-US" sz="1350">
                <a:solidFill>
                  <a:srgbClr val="E6F0FA">
                    <a:alpha val="55000"/>
                  </a:srgbClr>
                </a:solidFill>
                <a:latin typeface="Microsoft YaHei"/>
                <a:ea typeface="Microsoft YaHei"/>
              </a:rPr>
              <a:t xml:space="preserve"> · </a:t>
            </a:r>
            <a:r>
              <a:rPr lang="zh-CN" sz="1350">
                <a:solidFill>
                  <a:srgbClr val="E6F0FA">
                    <a:alpha val="55000"/>
                  </a:srgbClr>
                </a:solidFill>
                <a:latin typeface="Microsoft YaHei"/>
                <a:ea typeface="Microsoft YaHei"/>
              </a:rPr>
              <a:t>簡繁雙語</a:t>
            </a:r>
            <a:endParaRPr/>
          </a:p>
        </p:txBody>
      </p:sp>
      <p:sp>
        <p:nvSpPr>
          <p:cNvPr id="245" name="" descr="{&quot;isTemplate&quot;:true,&quot;type&quot;:&quot;text&quot;}"/>
          <p:cNvSpPr txBox="1"/>
          <p:nvPr/>
        </p:nvSpPr>
        <p:spPr>
          <a:xfrm rot="0" flipH="0" flipV="0">
            <a:off x="4362450" y="5676900"/>
            <a:ext cx="533400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650" b="1">
                <a:solidFill>
                  <a:srgbClr val="0099FF"/>
                </a:solidFill>
                <a:latin typeface="Microsoft YaHei"/>
                <a:ea typeface="Microsoft YaHei"/>
              </a:rPr>
              <a:t xml:space="preserve">17 </a:t>
            </a:r>
            <a:r>
              <a:rPr lang="zh-CN" sz="1650" b="1">
                <a:solidFill>
                  <a:srgbClr val="0099FF"/>
                </a:solidFill>
                <a:latin typeface="Microsoft YaHei"/>
                <a:ea typeface="Microsoft YaHei"/>
              </a:rPr>
              <a:t>類</a:t>
            </a:r>
            <a:endParaRPr/>
          </a:p>
        </p:txBody>
      </p:sp>
      <p:sp>
        <p:nvSpPr>
          <p:cNvPr id="246" name="" descr="{&quot;isTemplate&quot;:true,&quot;type&quot;:&quot;text&quot;}"/>
          <p:cNvSpPr txBox="1"/>
          <p:nvPr/>
        </p:nvSpPr>
        <p:spPr>
          <a:xfrm rot="0" flipH="0" flipV="0">
            <a:off x="5276850" y="5676900"/>
            <a:ext cx="666750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650" b="1">
                <a:solidFill>
                  <a:srgbClr val="00E2C6"/>
                </a:solidFill>
                <a:latin typeface="Microsoft YaHei"/>
                <a:ea typeface="Microsoft YaHei"/>
              </a:rPr>
              <a:t xml:space="preserve">136 </a:t>
            </a:r>
            <a:r>
              <a:rPr lang="zh-CN" sz="1650" b="1">
                <a:solidFill>
                  <a:srgbClr val="00E2C6"/>
                </a:solidFill>
                <a:latin typeface="Microsoft YaHei"/>
                <a:ea typeface="Microsoft YaHei"/>
              </a:rPr>
              <a:t>組</a:t>
            </a:r>
            <a:endParaRPr/>
          </a:p>
        </p:txBody>
      </p:sp>
      <p:sp>
        <p:nvSpPr>
          <p:cNvPr id="247" name="" descr="{&quot;isTemplate&quot;:true,&quot;type&quot;:&quot;text&quot;}"/>
          <p:cNvSpPr txBox="1"/>
          <p:nvPr/>
        </p:nvSpPr>
        <p:spPr>
          <a:xfrm rot="0" flipH="0" flipV="0">
            <a:off x="6324600" y="5676900"/>
            <a:ext cx="666750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650" b="1">
                <a:solidFill>
                  <a:srgbClr val="FFD666"/>
                </a:solidFill>
                <a:latin typeface="Microsoft YaHei"/>
                <a:ea typeface="Microsoft YaHei"/>
              </a:rPr>
              <a:t xml:space="preserve">126 </a:t>
            </a:r>
            <a:r>
              <a:rPr lang="zh-CN" sz="1650" b="1">
                <a:solidFill>
                  <a:srgbClr val="FFD666"/>
                </a:solidFill>
                <a:latin typeface="Microsoft YaHei"/>
                <a:ea typeface="Microsoft YaHei"/>
              </a:rPr>
              <a:t>項</a:t>
            </a:r>
            <a:endParaRPr/>
          </a:p>
        </p:txBody>
      </p:sp>
      <p:sp>
        <p:nvSpPr>
          <p:cNvPr id="248" name="" descr="{&quot;isTemplate&quot;:true,&quot;type&quot;:&quot;text&quot;}"/>
          <p:cNvSpPr txBox="1"/>
          <p:nvPr/>
        </p:nvSpPr>
        <p:spPr>
          <a:xfrm rot="0" flipH="0" flipV="0">
            <a:off x="7400925" y="5676900"/>
            <a:ext cx="409575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650" b="1">
                <a:solidFill>
                  <a:srgbClr val="7FC4FF"/>
                </a:solidFill>
                <a:latin typeface="Microsoft YaHei"/>
                <a:ea typeface="Microsoft YaHei"/>
              </a:rPr>
              <a:t xml:space="preserve">0 </a:t>
            </a:r>
            <a:r>
              <a:rPr lang="zh-CN" sz="1650" b="1">
                <a:solidFill>
                  <a:srgbClr val="7FC4FF"/>
                </a:solidFill>
                <a:latin typeface="Microsoft YaHei"/>
                <a:ea typeface="Microsoft YaHei"/>
              </a:rPr>
              <a:t>筆</a:t>
            </a:r>
            <a:endParaRPr/>
          </a:p>
        </p:txBody>
      </p:sp>
      <p:sp>
        <p:nvSpPr>
          <p:cNvPr id="249" name="" descr="{&quot;isTemplate&quot;:true,&quot;type&quot;:&quot;text&quot;}"/>
          <p:cNvSpPr txBox="1"/>
          <p:nvPr/>
        </p:nvSpPr>
        <p:spPr>
          <a:xfrm rot="0" flipH="0" flipV="0">
            <a:off x="4400550" y="5953125"/>
            <a:ext cx="45720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00">
                <a:solidFill>
                  <a:srgbClr val="E6F0FA">
                    <a:alpha val="50000"/>
                  </a:srgbClr>
                </a:solidFill>
                <a:latin typeface="Microsoft YaHei"/>
                <a:ea typeface="Microsoft YaHei"/>
              </a:rPr>
              <a:t>資產類別</a:t>
            </a:r>
            <a:endParaRPr/>
          </a:p>
        </p:txBody>
      </p:sp>
      <p:sp>
        <p:nvSpPr>
          <p:cNvPr id="250" name="" descr="{&quot;isTemplate&quot;:true,&quot;type&quot;:&quot;text&quot;}"/>
          <p:cNvSpPr txBox="1"/>
          <p:nvPr/>
        </p:nvSpPr>
        <p:spPr>
          <a:xfrm rot="0" flipH="0" flipV="0">
            <a:off x="5381625" y="5953125"/>
            <a:ext cx="45720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00">
                <a:solidFill>
                  <a:srgbClr val="E6F0FA">
                    <a:alpha val="50000"/>
                  </a:srgbClr>
                </a:solidFill>
                <a:latin typeface="Microsoft YaHei"/>
                <a:ea typeface="Microsoft YaHei"/>
              </a:rPr>
              <a:t>相關係數</a:t>
            </a:r>
            <a:endParaRPr/>
          </a:p>
        </p:txBody>
      </p:sp>
      <p:sp>
        <p:nvSpPr>
          <p:cNvPr id="251" name="" descr="{&quot;isTemplate&quot;:true,&quot;type&quot;:&quot;text&quot;}"/>
          <p:cNvSpPr txBox="1"/>
          <p:nvPr/>
        </p:nvSpPr>
        <p:spPr>
          <a:xfrm rot="0" flipH="0" flipV="0">
            <a:off x="6372225" y="5953125"/>
            <a:ext cx="57150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00">
                <a:solidFill>
                  <a:srgbClr val="E6F0FA">
                    <a:alpha val="50000"/>
                  </a:srgbClr>
                </a:solidFill>
                <a:latin typeface="Microsoft YaHei"/>
                <a:ea typeface="Microsoft YaHei"/>
              </a:rPr>
              <a:t>不變量測試</a:t>
            </a:r>
            <a:endParaRPr/>
          </a:p>
        </p:txBody>
      </p:sp>
      <p:sp>
        <p:nvSpPr>
          <p:cNvPr id="252" name="" descr="{&quot;isTemplate&quot;:true,&quot;type&quot;:&quot;text&quot;}"/>
          <p:cNvSpPr txBox="1"/>
          <p:nvPr/>
        </p:nvSpPr>
        <p:spPr>
          <a:xfrm rot="0" flipH="0" flipV="0">
            <a:off x="7372350" y="5953125"/>
            <a:ext cx="45720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00">
                <a:solidFill>
                  <a:srgbClr val="E6F0FA">
                    <a:alpha val="50000"/>
                  </a:srgbClr>
                </a:solidFill>
                <a:latin typeface="Microsoft YaHei"/>
                <a:ea typeface="Microsoft YaHei"/>
              </a:rPr>
              <a:t>資料上傳</a:t>
            </a:r>
            <a:endParaRPr/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Application>Tencent office</Applicat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2026-10-24T11:31:07Z</dcterms:created>
  <dcterms:modified xsi:type="dcterms:W3CDTF">2026-10-24T11:31:07Z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IGC">
    <vt:lpwstr>{"AIGC":{"Label":"1","ContentProducer":"00119111010856365494821B355","ProduceID":"01a1681cc73d759d925fcb77103abc3c","ReservedCode1":"","ContentPropagator":"00119111010856365494821B355","PropagateID":"01a1681cc73d759d925fcb77103abc3c","ReservedCode2":""}}</vt:lpwstr>
  </property>
</Properties>
</file>